
<file path=[Content_Types].xml><?xml version="1.0" encoding="utf-8"?>
<Types xmlns="http://schemas.openxmlformats.org/package/2006/content-types"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35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81751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5E7F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>
            <a:alphaModFix amt="70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55480" y="137160"/>
            <a:ext cx="2011680" cy="1298448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>
            <a:alphaModFix amt="65000"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228600" y="4983480"/>
            <a:ext cx="1828800" cy="18288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>
            <a:alphaModFix amt="92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1480" y="320040"/>
            <a:ext cx="1097280" cy="73152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502920" y="1051560"/>
            <a:ext cx="7589520" cy="731520"/>
          </a:xfrm>
          <a:prstGeom prst="rect">
            <a:avLst/>
          </a:prstGeom>
          <a:noFill/>
          <a:ln/>
        </p:spPr>
        <p:txBody>
          <a:bodyPr wrap="square" lIns="27432" tIns="18288" rIns="27432" bIns="18288" rtlCol="0" anchor="ctr">
            <a:normAutofit/>
          </a:bodyPr>
          <a:lstStyle/>
          <a:p>
            <a:pPr marL="0" indent="0">
              <a:spcBef>
                <a:spcPts val="0"/>
              </a:spcBef>
              <a:spcAft>
                <a:spcPts val="120"/>
              </a:spcAft>
              <a:buNone/>
            </a:pPr>
            <a:r>
              <a:rPr lang="en-US" sz="4600" b="1" dirty="0">
                <a:solidFill>
                  <a:srgbClr val="F6F0D7"/>
                </a:solidFill>
                <a:latin typeface="Cooper Black" pitchFamily="34" charset="0"/>
                <a:ea typeface="Cooper Black" pitchFamily="34" charset="-122"/>
                <a:cs typeface="Cooper Black" pitchFamily="34" charset="-120"/>
              </a:rPr>
              <a:t>MONEYMATCH.AI</a:t>
            </a:r>
            <a:endParaRPr lang="en-US" sz="4600" dirty="0"/>
          </a:p>
        </p:txBody>
      </p:sp>
      <p:sp>
        <p:nvSpPr>
          <p:cNvPr id="6" name="Text 1"/>
          <p:cNvSpPr/>
          <p:nvPr/>
        </p:nvSpPr>
        <p:spPr>
          <a:xfrm>
            <a:off x="566928" y="1938528"/>
            <a:ext cx="5852160" cy="310896"/>
          </a:xfrm>
          <a:prstGeom prst="rect">
            <a:avLst/>
          </a:prstGeom>
          <a:noFill/>
          <a:ln/>
        </p:spPr>
        <p:txBody>
          <a:bodyPr wrap="square" lIns="27432" tIns="18288" rIns="27432" bIns="18288" rtlCol="0" anchor="t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120"/>
              </a:spcAft>
              <a:buNone/>
            </a:pPr>
            <a:r>
              <a:rPr lang="en-US" sz="1500" b="1" dirty="0">
                <a:solidFill>
                  <a:srgbClr val="F6F0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Trace the transaction. Find the problem. Explain the money flow.</a:t>
            </a:r>
            <a:endParaRPr lang="en-US" sz="1500" dirty="0"/>
          </a:p>
        </p:txBody>
      </p:sp>
      <p:sp>
        <p:nvSpPr>
          <p:cNvPr id="7" name="Shape 2"/>
          <p:cNvSpPr/>
          <p:nvPr/>
        </p:nvSpPr>
        <p:spPr>
          <a:xfrm>
            <a:off x="566928" y="2487168"/>
            <a:ext cx="4480560" cy="384048"/>
          </a:xfrm>
          <a:prstGeom prst="roundRect">
            <a:avLst>
              <a:gd name="adj" fmla="val 26190"/>
            </a:avLst>
          </a:prstGeom>
          <a:solidFill>
            <a:srgbClr val="F2EDD2"/>
          </a:solidFill>
          <a:ln w="12700">
            <a:solidFill>
              <a:srgbClr val="F2EDD2">
                <a:alpha val="0"/>
              </a:srgbClr>
            </a:solidFill>
            <a:prstDash val="solid"/>
          </a:ln>
        </p:spPr>
        <p:txBody>
          <a:bodyPr lIns="27432" tIns="18288" rIns="27432" bIns="18288"/>
          <a:lstStyle/>
          <a:p>
            <a:pPr>
              <a:spcBef>
                <a:spcPts val="0"/>
              </a:spcBef>
              <a:spcAft>
                <a:spcPts val="120"/>
              </a:spcAft>
            </a:pPr>
            <a:endParaRPr/>
          </a:p>
        </p:txBody>
      </p:sp>
      <p:sp>
        <p:nvSpPr>
          <p:cNvPr id="8" name="Text 3"/>
          <p:cNvSpPr/>
          <p:nvPr/>
        </p:nvSpPr>
        <p:spPr>
          <a:xfrm>
            <a:off x="566928" y="2505456"/>
            <a:ext cx="4480560" cy="347472"/>
          </a:xfrm>
          <a:prstGeom prst="rect">
            <a:avLst/>
          </a:prstGeom>
          <a:noFill/>
          <a:ln/>
        </p:spPr>
        <p:txBody>
          <a:bodyPr wrap="square" lIns="27432" tIns="18288" rIns="27432" bIns="18288" rtlCol="0" anchor="ctr">
            <a:normAutofit/>
          </a:bodyPr>
          <a:lstStyle/>
          <a:p>
            <a:pPr marL="0" indent="0" algn="ctr">
              <a:spcBef>
                <a:spcPts val="0"/>
              </a:spcBef>
              <a:spcAft>
                <a:spcPts val="120"/>
              </a:spcAft>
              <a:buNone/>
            </a:pPr>
            <a:r>
              <a:rPr lang="en-US" sz="1200" b="1" dirty="0">
                <a:solidFill>
                  <a:srgbClr val="253B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PS-8 | Settlement Q&amp;A Agent for Fintech Support</a:t>
            </a:r>
            <a:endParaRPr lang="en-US" sz="1200" dirty="0"/>
          </a:p>
        </p:txBody>
      </p:sp>
      <p:sp>
        <p:nvSpPr>
          <p:cNvPr id="9" name="Shape 4"/>
          <p:cNvSpPr/>
          <p:nvPr/>
        </p:nvSpPr>
        <p:spPr>
          <a:xfrm>
            <a:off x="566928" y="3657600"/>
            <a:ext cx="1325880" cy="1325880"/>
          </a:xfrm>
          <a:prstGeom prst="roundRect">
            <a:avLst>
              <a:gd name="adj" fmla="val 8276"/>
            </a:avLst>
          </a:prstGeom>
          <a:solidFill>
            <a:srgbClr val="3D5734"/>
          </a:solidFill>
          <a:ln w="17780">
            <a:solidFill>
              <a:srgbClr val="F2EDD2"/>
            </a:solidFill>
            <a:prstDash val="solid"/>
          </a:ln>
        </p:spPr>
        <p:txBody>
          <a:bodyPr lIns="27432" tIns="18288" rIns="27432" bIns="18288"/>
          <a:lstStyle/>
          <a:p>
            <a:pPr>
              <a:spcBef>
                <a:spcPts val="0"/>
              </a:spcBef>
              <a:spcAft>
                <a:spcPts val="120"/>
              </a:spcAft>
            </a:pPr>
            <a:endParaRPr/>
          </a:p>
        </p:txBody>
      </p:sp>
      <p:sp>
        <p:nvSpPr>
          <p:cNvPr id="10" name="Text 5"/>
          <p:cNvSpPr/>
          <p:nvPr/>
        </p:nvSpPr>
        <p:spPr>
          <a:xfrm>
            <a:off x="676656" y="3803904"/>
            <a:ext cx="1106424" cy="429768"/>
          </a:xfrm>
          <a:prstGeom prst="rect">
            <a:avLst/>
          </a:prstGeom>
          <a:noFill/>
          <a:ln/>
        </p:spPr>
        <p:txBody>
          <a:bodyPr wrap="square" lIns="27432" tIns="18288" rIns="27432" bIns="18288" rtlCol="0" anchor="ctr">
            <a:normAutofit/>
          </a:bodyPr>
          <a:lstStyle/>
          <a:p>
            <a:pPr marL="0" indent="0" algn="ctr">
              <a:spcBef>
                <a:spcPts val="0"/>
              </a:spcBef>
              <a:spcAft>
                <a:spcPts val="120"/>
              </a:spcAft>
              <a:buNone/>
            </a:pPr>
            <a:r>
              <a:rPr lang="en-US" sz="1300" b="1" dirty="0">
                <a:solidFill>
                  <a:srgbClr val="F6F0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Customer</a:t>
            </a:r>
            <a:endParaRPr lang="en-US" sz="1300" dirty="0"/>
          </a:p>
          <a:p>
            <a:pPr marL="0" indent="0" algn="ctr">
              <a:spcBef>
                <a:spcPts val="0"/>
              </a:spcBef>
              <a:spcAft>
                <a:spcPts val="120"/>
              </a:spcAft>
              <a:buNone/>
            </a:pPr>
            <a:r>
              <a:rPr lang="en-US" sz="1300" b="1" dirty="0">
                <a:solidFill>
                  <a:srgbClr val="F6F0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Payment</a:t>
            </a:r>
            <a:endParaRPr lang="en-US" sz="1300" dirty="0"/>
          </a:p>
        </p:txBody>
      </p:sp>
      <p:sp>
        <p:nvSpPr>
          <p:cNvPr id="11" name="Text 6"/>
          <p:cNvSpPr/>
          <p:nvPr/>
        </p:nvSpPr>
        <p:spPr>
          <a:xfrm>
            <a:off x="658368" y="4416552"/>
            <a:ext cx="1143000" cy="292608"/>
          </a:xfrm>
          <a:prstGeom prst="rect">
            <a:avLst/>
          </a:prstGeom>
          <a:noFill/>
          <a:ln/>
        </p:spPr>
        <p:txBody>
          <a:bodyPr wrap="square" lIns="27432" tIns="18288" rIns="27432" bIns="18288" rtlCol="0" anchor="ctr">
            <a:normAutofit/>
          </a:bodyPr>
          <a:lstStyle/>
          <a:p>
            <a:pPr marL="0" indent="0" algn="ctr">
              <a:spcBef>
                <a:spcPts val="0"/>
              </a:spcBef>
              <a:spcAft>
                <a:spcPts val="120"/>
              </a:spcAft>
              <a:buNone/>
            </a:pPr>
            <a:r>
              <a:rPr lang="en-US" sz="1700" b="1" dirty="0">
                <a:solidFill>
                  <a:srgbClr val="F6F0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₹10,000</a:t>
            </a:r>
            <a:endParaRPr lang="en-US" sz="1700" dirty="0"/>
          </a:p>
        </p:txBody>
      </p:sp>
      <p:sp>
        <p:nvSpPr>
          <p:cNvPr id="12" name="Shape 7"/>
          <p:cNvSpPr/>
          <p:nvPr/>
        </p:nvSpPr>
        <p:spPr>
          <a:xfrm>
            <a:off x="2011680" y="4315968"/>
            <a:ext cx="384048" cy="0"/>
          </a:xfrm>
          <a:prstGeom prst="line">
            <a:avLst/>
          </a:prstGeom>
          <a:noFill/>
          <a:ln w="33020">
            <a:solidFill>
              <a:srgbClr val="F2EDD2"/>
            </a:solidFill>
            <a:prstDash val="solid"/>
            <a:headEnd type="none"/>
            <a:tailEnd type="triangle"/>
          </a:ln>
        </p:spPr>
        <p:txBody>
          <a:bodyPr lIns="27432" tIns="18288" rIns="27432" bIns="18288"/>
          <a:lstStyle/>
          <a:p>
            <a:pPr>
              <a:spcBef>
                <a:spcPts val="0"/>
              </a:spcBef>
              <a:spcAft>
                <a:spcPts val="120"/>
              </a:spcAft>
            </a:pPr>
            <a:endParaRPr/>
          </a:p>
        </p:txBody>
      </p:sp>
      <p:sp>
        <p:nvSpPr>
          <p:cNvPr id="13" name="Shape 8"/>
          <p:cNvSpPr/>
          <p:nvPr/>
        </p:nvSpPr>
        <p:spPr>
          <a:xfrm>
            <a:off x="2505456" y="3657600"/>
            <a:ext cx="1325880" cy="1325880"/>
          </a:xfrm>
          <a:prstGeom prst="roundRect">
            <a:avLst>
              <a:gd name="adj" fmla="val 8276"/>
            </a:avLst>
          </a:prstGeom>
          <a:solidFill>
            <a:srgbClr val="3D5734"/>
          </a:solidFill>
          <a:ln w="17780">
            <a:solidFill>
              <a:srgbClr val="F2EDD2"/>
            </a:solidFill>
            <a:prstDash val="solid"/>
          </a:ln>
        </p:spPr>
        <p:txBody>
          <a:bodyPr lIns="27432" tIns="18288" rIns="27432" bIns="18288"/>
          <a:lstStyle/>
          <a:p>
            <a:pPr>
              <a:spcBef>
                <a:spcPts val="0"/>
              </a:spcBef>
              <a:spcAft>
                <a:spcPts val="120"/>
              </a:spcAft>
            </a:pPr>
            <a:endParaRPr/>
          </a:p>
        </p:txBody>
      </p:sp>
      <p:sp>
        <p:nvSpPr>
          <p:cNvPr id="14" name="Text 9"/>
          <p:cNvSpPr/>
          <p:nvPr/>
        </p:nvSpPr>
        <p:spPr>
          <a:xfrm>
            <a:off x="2615184" y="3803904"/>
            <a:ext cx="1106424" cy="429768"/>
          </a:xfrm>
          <a:prstGeom prst="rect">
            <a:avLst/>
          </a:prstGeom>
          <a:noFill/>
          <a:ln/>
        </p:spPr>
        <p:txBody>
          <a:bodyPr wrap="square" lIns="27432" tIns="18288" rIns="27432" bIns="18288" rtlCol="0" anchor="ctr">
            <a:normAutofit/>
          </a:bodyPr>
          <a:lstStyle/>
          <a:p>
            <a:pPr marL="0" indent="0" algn="ctr">
              <a:spcBef>
                <a:spcPts val="0"/>
              </a:spcBef>
              <a:spcAft>
                <a:spcPts val="120"/>
              </a:spcAft>
              <a:buNone/>
            </a:pPr>
            <a:r>
              <a:rPr lang="en-US" sz="1300" b="1" dirty="0">
                <a:solidFill>
                  <a:srgbClr val="F6F0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Payment</a:t>
            </a:r>
            <a:endParaRPr lang="en-US" sz="1300" dirty="0"/>
          </a:p>
          <a:p>
            <a:pPr marL="0" indent="0" algn="ctr">
              <a:spcBef>
                <a:spcPts val="0"/>
              </a:spcBef>
              <a:spcAft>
                <a:spcPts val="120"/>
              </a:spcAft>
              <a:buNone/>
            </a:pPr>
            <a:r>
              <a:rPr lang="en-US" sz="1300" b="1" dirty="0">
                <a:solidFill>
                  <a:srgbClr val="F6F0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Gateway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2596896" y="4416552"/>
            <a:ext cx="1143000" cy="292608"/>
          </a:xfrm>
          <a:prstGeom prst="rect">
            <a:avLst/>
          </a:prstGeom>
          <a:noFill/>
          <a:ln/>
        </p:spPr>
        <p:txBody>
          <a:bodyPr wrap="square" lIns="27432" tIns="18288" rIns="27432" bIns="18288" rtlCol="0" anchor="ctr">
            <a:normAutofit/>
          </a:bodyPr>
          <a:lstStyle/>
          <a:p>
            <a:pPr marL="0" indent="0" algn="ctr">
              <a:spcBef>
                <a:spcPts val="0"/>
              </a:spcBef>
              <a:spcAft>
                <a:spcPts val="120"/>
              </a:spcAft>
              <a:buNone/>
            </a:pPr>
            <a:r>
              <a:rPr lang="en-US" sz="1050" b="1" dirty="0">
                <a:solidFill>
                  <a:srgbClr val="F6F0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SUCCESS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3950208" y="4315968"/>
            <a:ext cx="384048" cy="0"/>
          </a:xfrm>
          <a:prstGeom prst="line">
            <a:avLst/>
          </a:prstGeom>
          <a:noFill/>
          <a:ln w="33020">
            <a:solidFill>
              <a:srgbClr val="F2EDD2"/>
            </a:solidFill>
            <a:prstDash val="solid"/>
            <a:headEnd type="none"/>
            <a:tailEnd type="triangle"/>
          </a:ln>
        </p:spPr>
        <p:txBody>
          <a:bodyPr lIns="27432" tIns="18288" rIns="27432" bIns="18288"/>
          <a:lstStyle/>
          <a:p>
            <a:pPr>
              <a:spcBef>
                <a:spcPts val="0"/>
              </a:spcBef>
              <a:spcAft>
                <a:spcPts val="120"/>
              </a:spcAft>
            </a:pPr>
            <a:endParaRPr/>
          </a:p>
        </p:txBody>
      </p:sp>
      <p:sp>
        <p:nvSpPr>
          <p:cNvPr id="17" name="Shape 12"/>
          <p:cNvSpPr/>
          <p:nvPr/>
        </p:nvSpPr>
        <p:spPr>
          <a:xfrm>
            <a:off x="4443984" y="3657600"/>
            <a:ext cx="1325880" cy="1325880"/>
          </a:xfrm>
          <a:prstGeom prst="roundRect">
            <a:avLst>
              <a:gd name="adj" fmla="val 8276"/>
            </a:avLst>
          </a:prstGeom>
          <a:solidFill>
            <a:srgbClr val="3D5734"/>
          </a:solidFill>
          <a:ln w="17780">
            <a:solidFill>
              <a:srgbClr val="F2EDD2"/>
            </a:solidFill>
            <a:prstDash val="solid"/>
          </a:ln>
        </p:spPr>
        <p:txBody>
          <a:bodyPr lIns="27432" tIns="18288" rIns="27432" bIns="18288"/>
          <a:lstStyle/>
          <a:p>
            <a:pPr>
              <a:spcBef>
                <a:spcPts val="0"/>
              </a:spcBef>
              <a:spcAft>
                <a:spcPts val="120"/>
              </a:spcAft>
            </a:pPr>
            <a:endParaRPr/>
          </a:p>
        </p:txBody>
      </p:sp>
      <p:sp>
        <p:nvSpPr>
          <p:cNvPr id="18" name="Text 13"/>
          <p:cNvSpPr/>
          <p:nvPr/>
        </p:nvSpPr>
        <p:spPr>
          <a:xfrm>
            <a:off x="4553712" y="3803904"/>
            <a:ext cx="1106424" cy="429768"/>
          </a:xfrm>
          <a:prstGeom prst="rect">
            <a:avLst/>
          </a:prstGeom>
          <a:noFill/>
          <a:ln/>
        </p:spPr>
        <p:txBody>
          <a:bodyPr wrap="square" lIns="27432" tIns="18288" rIns="27432" bIns="18288" rtlCol="0" anchor="ctr">
            <a:normAutofit/>
          </a:bodyPr>
          <a:lstStyle/>
          <a:p>
            <a:pPr marL="0" indent="0" algn="ctr">
              <a:spcBef>
                <a:spcPts val="0"/>
              </a:spcBef>
              <a:spcAft>
                <a:spcPts val="120"/>
              </a:spcAft>
              <a:buNone/>
            </a:pPr>
            <a:r>
              <a:rPr lang="en-US" sz="1300" b="1" dirty="0">
                <a:solidFill>
                  <a:srgbClr val="F6F0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Bank</a:t>
            </a:r>
            <a:endParaRPr lang="en-US" sz="1300" dirty="0"/>
          </a:p>
          <a:p>
            <a:pPr marL="0" indent="0" algn="ctr">
              <a:spcBef>
                <a:spcPts val="0"/>
              </a:spcBef>
              <a:spcAft>
                <a:spcPts val="120"/>
              </a:spcAft>
              <a:buNone/>
            </a:pPr>
            <a:r>
              <a:rPr lang="en-US" sz="1300" b="1" dirty="0">
                <a:solidFill>
                  <a:srgbClr val="F6F0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Settlement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4535424" y="4416552"/>
            <a:ext cx="1143000" cy="292608"/>
          </a:xfrm>
          <a:prstGeom prst="rect">
            <a:avLst/>
          </a:prstGeom>
          <a:noFill/>
          <a:ln/>
        </p:spPr>
        <p:txBody>
          <a:bodyPr wrap="square" lIns="27432" tIns="18288" rIns="27432" bIns="18288" rtlCol="0" anchor="ctr">
            <a:normAutofit/>
          </a:bodyPr>
          <a:lstStyle/>
          <a:p>
            <a:pPr marL="0" indent="0" algn="ctr">
              <a:spcBef>
                <a:spcPts val="0"/>
              </a:spcBef>
              <a:spcAft>
                <a:spcPts val="120"/>
              </a:spcAft>
              <a:buNone/>
            </a:pPr>
            <a:r>
              <a:rPr lang="en-US" sz="1050" b="1" dirty="0">
                <a:solidFill>
                  <a:srgbClr val="F6F0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DELAYED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5888736" y="4315968"/>
            <a:ext cx="384048" cy="0"/>
          </a:xfrm>
          <a:prstGeom prst="line">
            <a:avLst/>
          </a:prstGeom>
          <a:noFill/>
          <a:ln w="33020">
            <a:solidFill>
              <a:srgbClr val="F2EDD2"/>
            </a:solidFill>
            <a:prstDash val="solid"/>
            <a:headEnd type="none"/>
            <a:tailEnd type="triangle"/>
          </a:ln>
        </p:spPr>
        <p:txBody>
          <a:bodyPr lIns="27432" tIns="18288" rIns="27432" bIns="18288"/>
          <a:lstStyle/>
          <a:p>
            <a:pPr>
              <a:spcBef>
                <a:spcPts val="0"/>
              </a:spcBef>
              <a:spcAft>
                <a:spcPts val="120"/>
              </a:spcAft>
            </a:pPr>
            <a:endParaRPr/>
          </a:p>
        </p:txBody>
      </p:sp>
      <p:sp>
        <p:nvSpPr>
          <p:cNvPr id="21" name="Shape 16"/>
          <p:cNvSpPr/>
          <p:nvPr/>
        </p:nvSpPr>
        <p:spPr>
          <a:xfrm>
            <a:off x="6382512" y="3657600"/>
            <a:ext cx="1325880" cy="1325880"/>
          </a:xfrm>
          <a:prstGeom prst="roundRect">
            <a:avLst>
              <a:gd name="adj" fmla="val 8276"/>
            </a:avLst>
          </a:prstGeom>
          <a:solidFill>
            <a:srgbClr val="3D5734"/>
          </a:solidFill>
          <a:ln w="17780">
            <a:solidFill>
              <a:srgbClr val="F2EDD2"/>
            </a:solidFill>
            <a:prstDash val="solid"/>
          </a:ln>
        </p:spPr>
        <p:txBody>
          <a:bodyPr lIns="27432" tIns="18288" rIns="27432" bIns="18288"/>
          <a:lstStyle/>
          <a:p>
            <a:pPr>
              <a:spcBef>
                <a:spcPts val="0"/>
              </a:spcBef>
              <a:spcAft>
                <a:spcPts val="120"/>
              </a:spcAft>
            </a:pPr>
            <a:endParaRPr/>
          </a:p>
        </p:txBody>
      </p:sp>
      <p:sp>
        <p:nvSpPr>
          <p:cNvPr id="22" name="Text 17"/>
          <p:cNvSpPr/>
          <p:nvPr/>
        </p:nvSpPr>
        <p:spPr>
          <a:xfrm>
            <a:off x="6492240" y="3803904"/>
            <a:ext cx="1106424" cy="429768"/>
          </a:xfrm>
          <a:prstGeom prst="rect">
            <a:avLst/>
          </a:prstGeom>
          <a:noFill/>
          <a:ln/>
        </p:spPr>
        <p:txBody>
          <a:bodyPr wrap="square" lIns="27432" tIns="18288" rIns="27432" bIns="18288" rtlCol="0" anchor="ctr">
            <a:normAutofit/>
          </a:bodyPr>
          <a:lstStyle/>
          <a:p>
            <a:pPr marL="0" indent="0" algn="ctr">
              <a:spcBef>
                <a:spcPts val="0"/>
              </a:spcBef>
              <a:spcAft>
                <a:spcPts val="120"/>
              </a:spcAft>
              <a:buNone/>
            </a:pPr>
            <a:r>
              <a:rPr lang="en-US" sz="1300" b="1" dirty="0">
                <a:solidFill>
                  <a:srgbClr val="F6F0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Internal</a:t>
            </a:r>
            <a:endParaRPr lang="en-US" sz="1300" dirty="0"/>
          </a:p>
          <a:p>
            <a:pPr marL="0" indent="0" algn="ctr">
              <a:spcBef>
                <a:spcPts val="0"/>
              </a:spcBef>
              <a:spcAft>
                <a:spcPts val="120"/>
              </a:spcAft>
              <a:buNone/>
            </a:pPr>
            <a:r>
              <a:rPr lang="en-US" sz="1300" b="1" dirty="0">
                <a:solidFill>
                  <a:srgbClr val="F6F0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Ledger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6473952" y="4416552"/>
            <a:ext cx="1143000" cy="292608"/>
          </a:xfrm>
          <a:prstGeom prst="rect">
            <a:avLst/>
          </a:prstGeom>
          <a:noFill/>
          <a:ln/>
        </p:spPr>
        <p:txBody>
          <a:bodyPr wrap="square" lIns="27432" tIns="18288" rIns="27432" bIns="18288" rtlCol="0" anchor="ctr">
            <a:normAutofit/>
          </a:bodyPr>
          <a:lstStyle/>
          <a:p>
            <a:pPr marL="0" indent="0" algn="ctr">
              <a:spcBef>
                <a:spcPts val="0"/>
              </a:spcBef>
              <a:spcAft>
                <a:spcPts val="120"/>
              </a:spcAft>
              <a:buNone/>
            </a:pPr>
            <a:r>
              <a:rPr lang="en-US" sz="1050" b="1" dirty="0">
                <a:solidFill>
                  <a:srgbClr val="F6F0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PENDING</a:t>
            </a:r>
            <a:endParaRPr lang="en-US" sz="1050" dirty="0"/>
          </a:p>
        </p:txBody>
      </p:sp>
      <p:sp>
        <p:nvSpPr>
          <p:cNvPr id="24" name="Shape 19"/>
          <p:cNvSpPr/>
          <p:nvPr/>
        </p:nvSpPr>
        <p:spPr>
          <a:xfrm>
            <a:off x="8458200" y="1325880"/>
            <a:ext cx="2971800" cy="4297680"/>
          </a:xfrm>
          <a:prstGeom prst="roundRect">
            <a:avLst>
              <a:gd name="adj" fmla="val 3692"/>
            </a:avLst>
          </a:prstGeom>
          <a:solidFill>
            <a:srgbClr val="3D5734"/>
          </a:solidFill>
          <a:ln w="16510">
            <a:solidFill>
              <a:srgbClr val="F2EDD2"/>
            </a:solidFill>
            <a:prstDash val="solid"/>
          </a:ln>
        </p:spPr>
        <p:txBody>
          <a:bodyPr lIns="27432" tIns="18288" rIns="27432" bIns="18288"/>
          <a:lstStyle/>
          <a:p>
            <a:pPr>
              <a:spcBef>
                <a:spcPts val="0"/>
              </a:spcBef>
              <a:spcAft>
                <a:spcPts val="120"/>
              </a:spcAft>
            </a:pPr>
            <a:endParaRPr/>
          </a:p>
        </p:txBody>
      </p:sp>
      <p:sp>
        <p:nvSpPr>
          <p:cNvPr id="25" name="Text 20"/>
          <p:cNvSpPr/>
          <p:nvPr/>
        </p:nvSpPr>
        <p:spPr>
          <a:xfrm>
            <a:off x="8869680" y="1783080"/>
            <a:ext cx="2057400" cy="777240"/>
          </a:xfrm>
          <a:prstGeom prst="rect">
            <a:avLst/>
          </a:prstGeom>
          <a:noFill/>
          <a:ln/>
        </p:spPr>
        <p:txBody>
          <a:bodyPr wrap="square" lIns="27432" tIns="18288" rIns="27432" bIns="18288" rtlCol="0" anchor="t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120"/>
              </a:spcAft>
              <a:buNone/>
            </a:pPr>
            <a:r>
              <a:rPr lang="en-US" sz="2000" dirty="0">
                <a:solidFill>
                  <a:srgbClr val="F6F0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Payment</a:t>
            </a:r>
            <a:endParaRPr lang="en-US" sz="2000" dirty="0"/>
          </a:p>
          <a:p>
            <a:pPr marL="0" indent="0" algn="l">
              <a:spcBef>
                <a:spcPts val="0"/>
              </a:spcBef>
              <a:spcAft>
                <a:spcPts val="120"/>
              </a:spcAft>
              <a:buNone/>
            </a:pPr>
            <a:r>
              <a:rPr lang="en-US" sz="2000" dirty="0">
                <a:solidFill>
                  <a:srgbClr val="F6F0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successful...</a:t>
            </a:r>
            <a:endParaRPr lang="en-US" sz="2000" dirty="0"/>
          </a:p>
        </p:txBody>
      </p:sp>
      <p:sp>
        <p:nvSpPr>
          <p:cNvPr id="26" name="Text 21"/>
          <p:cNvSpPr/>
          <p:nvPr/>
        </p:nvSpPr>
        <p:spPr>
          <a:xfrm>
            <a:off x="8869680" y="2788920"/>
            <a:ext cx="2240280" cy="2331720"/>
          </a:xfrm>
          <a:prstGeom prst="rect">
            <a:avLst/>
          </a:prstGeom>
          <a:noFill/>
          <a:ln/>
        </p:spPr>
        <p:txBody>
          <a:bodyPr wrap="square" lIns="27432" tIns="18288" rIns="27432" bIns="18288" rtlCol="0" anchor="ctr">
            <a:normAutofit/>
          </a:bodyPr>
          <a:lstStyle/>
          <a:p>
            <a:pPr marL="0" indent="0">
              <a:spcBef>
                <a:spcPts val="0"/>
              </a:spcBef>
              <a:spcAft>
                <a:spcPts val="120"/>
              </a:spcAft>
              <a:buNone/>
            </a:pPr>
            <a:r>
              <a:rPr lang="en-US" sz="2700" b="1" dirty="0">
                <a:solidFill>
                  <a:srgbClr val="F6F0D7"/>
                </a:solidFill>
                <a:latin typeface="Cooper Black" pitchFamily="34" charset="0"/>
                <a:ea typeface="Cooper Black" pitchFamily="34" charset="-122"/>
                <a:cs typeface="Cooper Black" pitchFamily="34" charset="-120"/>
              </a:rPr>
              <a:t>so why</a:t>
            </a:r>
            <a:endParaRPr lang="en-US" sz="2700" dirty="0"/>
          </a:p>
          <a:p>
            <a:pPr marL="0" indent="0">
              <a:spcBef>
                <a:spcPts val="0"/>
              </a:spcBef>
              <a:spcAft>
                <a:spcPts val="120"/>
              </a:spcAft>
              <a:buNone/>
            </a:pPr>
            <a:r>
              <a:rPr lang="en-US" sz="2700" b="1" dirty="0">
                <a:solidFill>
                  <a:srgbClr val="F6F0D7"/>
                </a:solidFill>
                <a:latin typeface="Cooper Black" pitchFamily="34" charset="0"/>
                <a:ea typeface="Cooper Black" pitchFamily="34" charset="-122"/>
                <a:cs typeface="Cooper Black" pitchFamily="34" charset="-120"/>
              </a:rPr>
              <a:t>hasn’t the</a:t>
            </a:r>
            <a:endParaRPr lang="en-US" sz="2700" dirty="0"/>
          </a:p>
          <a:p>
            <a:pPr marL="0" indent="0">
              <a:spcBef>
                <a:spcPts val="0"/>
              </a:spcBef>
              <a:spcAft>
                <a:spcPts val="120"/>
              </a:spcAft>
              <a:buNone/>
            </a:pPr>
            <a:r>
              <a:rPr lang="en-US" sz="2700" b="1" dirty="0">
                <a:solidFill>
                  <a:srgbClr val="F6F0D7"/>
                </a:solidFill>
                <a:latin typeface="Cooper Black" pitchFamily="34" charset="0"/>
                <a:ea typeface="Cooper Black" pitchFamily="34" charset="-122"/>
                <a:cs typeface="Cooper Black" pitchFamily="34" charset="-120"/>
              </a:rPr>
              <a:t>merchant</a:t>
            </a:r>
            <a:endParaRPr lang="en-US" sz="2700" dirty="0"/>
          </a:p>
          <a:p>
            <a:pPr marL="0" indent="0">
              <a:spcBef>
                <a:spcPts val="0"/>
              </a:spcBef>
              <a:spcAft>
                <a:spcPts val="120"/>
              </a:spcAft>
              <a:buNone/>
            </a:pPr>
            <a:r>
              <a:rPr lang="en-US" sz="2700" b="1" dirty="0">
                <a:solidFill>
                  <a:srgbClr val="F6F0D7"/>
                </a:solidFill>
                <a:latin typeface="Cooper Black" pitchFamily="34" charset="0"/>
                <a:ea typeface="Cooper Black" pitchFamily="34" charset="-122"/>
                <a:cs typeface="Cooper Black" pitchFamily="34" charset="-120"/>
              </a:rPr>
              <a:t>received</a:t>
            </a:r>
            <a:endParaRPr lang="en-US" sz="2700" dirty="0"/>
          </a:p>
          <a:p>
            <a:pPr marL="0" indent="0">
              <a:spcBef>
                <a:spcPts val="0"/>
              </a:spcBef>
              <a:spcAft>
                <a:spcPts val="120"/>
              </a:spcAft>
              <a:buNone/>
            </a:pPr>
            <a:r>
              <a:rPr lang="en-US" sz="2700" b="1" dirty="0">
                <a:solidFill>
                  <a:srgbClr val="F6F0D7"/>
                </a:solidFill>
                <a:latin typeface="Cooper Black" pitchFamily="34" charset="0"/>
                <a:ea typeface="Cooper Black" pitchFamily="34" charset="-122"/>
                <a:cs typeface="Cooper Black" pitchFamily="34" charset="-120"/>
              </a:rPr>
              <a:t>the</a:t>
            </a:r>
            <a:endParaRPr lang="en-US" sz="2700" dirty="0"/>
          </a:p>
          <a:p>
            <a:pPr marL="0" indent="0">
              <a:spcBef>
                <a:spcPts val="0"/>
              </a:spcBef>
              <a:spcAft>
                <a:spcPts val="120"/>
              </a:spcAft>
              <a:buNone/>
            </a:pPr>
            <a:r>
              <a:rPr lang="en-US" sz="2700" b="1" dirty="0">
                <a:solidFill>
                  <a:srgbClr val="F6F0D7"/>
                </a:solidFill>
                <a:latin typeface="Cooper Black" pitchFamily="34" charset="0"/>
                <a:ea typeface="Cooper Black" pitchFamily="34" charset="-122"/>
                <a:cs typeface="Cooper Black" pitchFamily="34" charset="-120"/>
              </a:rPr>
              <a:t>money?</a:t>
            </a:r>
            <a:endParaRPr lang="en-US" sz="2700" dirty="0"/>
          </a:p>
        </p:txBody>
      </p:sp>
      <p:sp>
        <p:nvSpPr>
          <p:cNvPr id="27" name="Text 22"/>
          <p:cNvSpPr/>
          <p:nvPr/>
        </p:nvSpPr>
        <p:spPr>
          <a:xfrm>
            <a:off x="347472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27432" tIns="18288" rIns="27432" bIns="18288" rtlCol="0" anchor="ctr">
            <a:normAutofit/>
          </a:bodyPr>
          <a:lstStyle/>
          <a:p>
            <a:pPr marL="0" indent="0">
              <a:spcBef>
                <a:spcPts val="0"/>
              </a:spcBef>
              <a:spcAft>
                <a:spcPts val="120"/>
              </a:spcAft>
              <a:buNone/>
            </a:pPr>
            <a:r>
              <a:rPr lang="en-US" sz="700" b="1" dirty="0">
                <a:solidFill>
                  <a:srgbClr val="F6F0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MONEYMATCH.AI</a:t>
            </a:r>
            <a:endParaRPr lang="en-US" sz="700" dirty="0"/>
          </a:p>
        </p:txBody>
      </p:sp>
      <p:sp>
        <p:nvSpPr>
          <p:cNvPr id="28" name="Text 23"/>
          <p:cNvSpPr/>
          <p:nvPr/>
        </p:nvSpPr>
        <p:spPr>
          <a:xfrm>
            <a:off x="9144000" y="6473952"/>
            <a:ext cx="2560320" cy="228600"/>
          </a:xfrm>
          <a:prstGeom prst="rect">
            <a:avLst/>
          </a:prstGeom>
          <a:noFill/>
          <a:ln/>
        </p:spPr>
        <p:txBody>
          <a:bodyPr wrap="square" lIns="27432" tIns="18288" rIns="27432" bIns="18288" rtlCol="0" anchor="ctr">
            <a:normAutofit/>
          </a:bodyPr>
          <a:lstStyle/>
          <a:p>
            <a:pPr marL="0" indent="0">
              <a:spcBef>
                <a:spcPts val="0"/>
              </a:spcBef>
              <a:spcAft>
                <a:spcPts val="120"/>
              </a:spcAft>
              <a:buNone/>
            </a:pPr>
            <a:r>
              <a:rPr lang="en-US" sz="700" b="1" dirty="0">
                <a:solidFill>
                  <a:srgbClr val="F6F0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Trace. Diagnose. Explain. Resolve.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ED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>
            <a:alphaModFix amt="90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35240" y="-73152"/>
            <a:ext cx="4754880" cy="25146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>
            <a:alphaModFix amt="82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-685800" y="4983480"/>
            <a:ext cx="4297680" cy="224028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960120" y="502920"/>
            <a:ext cx="9875520" cy="822960"/>
          </a:xfrm>
          <a:prstGeom prst="rect">
            <a:avLst/>
          </a:prstGeom>
          <a:noFill/>
          <a:ln/>
        </p:spPr>
        <p:txBody>
          <a:bodyPr wrap="square" lIns="27432" tIns="18288" rIns="27432" bIns="18288" rtlCol="0" anchor="ctr">
            <a:normAutofit/>
          </a:bodyPr>
          <a:lstStyle/>
          <a:p>
            <a:pPr marL="0" indent="0">
              <a:spcBef>
                <a:spcPts val="0"/>
              </a:spcBef>
              <a:spcAft>
                <a:spcPts val="120"/>
              </a:spcAft>
              <a:buNone/>
            </a:pPr>
            <a:r>
              <a:rPr lang="en-US" sz="3200" b="1" dirty="0">
                <a:solidFill>
                  <a:srgbClr val="2F492A"/>
                </a:solidFill>
                <a:latin typeface="Cooper Black" pitchFamily="34" charset="0"/>
                <a:ea typeface="Cooper Black" pitchFamily="34" charset="-122"/>
                <a:cs typeface="Cooper Black" pitchFamily="34" charset="-120"/>
              </a:rPr>
              <a:t>A successful payment doesn’t always</a:t>
            </a:r>
            <a:endParaRPr lang="en-US" sz="3200" dirty="0"/>
          </a:p>
          <a:p>
            <a:pPr marL="0" indent="0">
              <a:spcBef>
                <a:spcPts val="0"/>
              </a:spcBef>
              <a:spcAft>
                <a:spcPts val="120"/>
              </a:spcAft>
              <a:buNone/>
            </a:pPr>
            <a:r>
              <a:rPr lang="en-US" sz="3200" b="1" dirty="0">
                <a:solidFill>
                  <a:srgbClr val="2F492A"/>
                </a:solidFill>
                <a:latin typeface="Cooper Black" pitchFamily="34" charset="0"/>
                <a:ea typeface="Cooper Black" pitchFamily="34" charset="-122"/>
                <a:cs typeface="Cooper Black" pitchFamily="34" charset="-120"/>
              </a:rPr>
              <a:t>mean a successful settlement.</a:t>
            </a:r>
            <a:endParaRPr lang="en-US" sz="3200" dirty="0"/>
          </a:p>
        </p:txBody>
      </p:sp>
      <p:sp>
        <p:nvSpPr>
          <p:cNvPr id="5" name="Shape 1"/>
          <p:cNvSpPr/>
          <p:nvPr/>
        </p:nvSpPr>
        <p:spPr>
          <a:xfrm>
            <a:off x="502920" y="1554480"/>
            <a:ext cx="11155680" cy="1828800"/>
          </a:xfrm>
          <a:prstGeom prst="roundRect">
            <a:avLst>
              <a:gd name="adj" fmla="val 6000"/>
            </a:avLst>
          </a:prstGeom>
          <a:solidFill>
            <a:srgbClr val="FBF8E8"/>
          </a:solidFill>
          <a:ln w="15240">
            <a:solidFill>
              <a:srgbClr val="CBDABF"/>
            </a:solidFill>
            <a:prstDash val="solid"/>
          </a:ln>
        </p:spPr>
        <p:txBody>
          <a:bodyPr lIns="27432" tIns="18288" rIns="27432" bIns="18288"/>
          <a:lstStyle/>
          <a:p>
            <a:pPr>
              <a:spcBef>
                <a:spcPts val="0"/>
              </a:spcBef>
              <a:spcAft>
                <a:spcPts val="120"/>
              </a:spcAft>
            </a:pPr>
            <a:endParaRPr/>
          </a:p>
        </p:txBody>
      </p:sp>
      <p:sp>
        <p:nvSpPr>
          <p:cNvPr id="6" name="Text 2"/>
          <p:cNvSpPr/>
          <p:nvPr/>
        </p:nvSpPr>
        <p:spPr>
          <a:xfrm>
            <a:off x="713232" y="2167128"/>
            <a:ext cx="1051560" cy="201168"/>
          </a:xfrm>
          <a:prstGeom prst="rect">
            <a:avLst/>
          </a:prstGeom>
          <a:noFill/>
          <a:ln/>
        </p:spPr>
        <p:txBody>
          <a:bodyPr wrap="square" lIns="27432" tIns="18288" rIns="27432" bIns="18288" rtlCol="0" anchor="t">
            <a:normAutofit/>
          </a:bodyPr>
          <a:lstStyle/>
          <a:p>
            <a:pPr marL="0" indent="0" algn="ctr">
              <a:spcBef>
                <a:spcPts val="0"/>
              </a:spcBef>
              <a:spcAft>
                <a:spcPts val="120"/>
              </a:spcAft>
              <a:buNone/>
            </a:pPr>
            <a:r>
              <a:rPr lang="en-US" sz="800" b="1" dirty="0">
                <a:solidFill>
                  <a:srgbClr val="253B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Customer pays</a:t>
            </a:r>
            <a:endParaRPr lang="en-US" sz="800" dirty="0"/>
          </a:p>
        </p:txBody>
      </p:sp>
      <p:sp>
        <p:nvSpPr>
          <p:cNvPr id="7" name="Text 3"/>
          <p:cNvSpPr/>
          <p:nvPr/>
        </p:nvSpPr>
        <p:spPr>
          <a:xfrm>
            <a:off x="658368" y="2404872"/>
            <a:ext cx="1143000" cy="320040"/>
          </a:xfrm>
          <a:prstGeom prst="rect">
            <a:avLst/>
          </a:prstGeom>
          <a:noFill/>
          <a:ln/>
        </p:spPr>
        <p:txBody>
          <a:bodyPr wrap="square" lIns="27432" tIns="18288" rIns="27432" bIns="18288" rtlCol="0" anchor="t">
            <a:normAutofit/>
          </a:bodyPr>
          <a:lstStyle/>
          <a:p>
            <a:pPr marL="0" indent="0" algn="ctr">
              <a:spcBef>
                <a:spcPts val="0"/>
              </a:spcBef>
              <a:spcAft>
                <a:spcPts val="120"/>
              </a:spcAft>
              <a:buNone/>
            </a:pPr>
            <a:r>
              <a:rPr lang="en-US" sz="1800" b="1" dirty="0">
                <a:solidFill>
                  <a:srgbClr val="2F49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₹10,000</a:t>
            </a:r>
            <a:endParaRPr lang="en-US" sz="1800" dirty="0"/>
          </a:p>
        </p:txBody>
      </p:sp>
      <p:sp>
        <p:nvSpPr>
          <p:cNvPr id="8" name="Shape 4"/>
          <p:cNvSpPr/>
          <p:nvPr/>
        </p:nvSpPr>
        <p:spPr>
          <a:xfrm>
            <a:off x="2240280" y="1856232"/>
            <a:ext cx="1417320" cy="960120"/>
          </a:xfrm>
          <a:prstGeom prst="roundRect">
            <a:avLst>
              <a:gd name="adj" fmla="val 11429"/>
            </a:avLst>
          </a:prstGeom>
          <a:solidFill>
            <a:srgbClr val="F2EDD2"/>
          </a:solidFill>
          <a:ln w="15240">
            <a:solidFill>
              <a:srgbClr val="CBDABF"/>
            </a:solidFill>
            <a:prstDash val="solid"/>
          </a:ln>
        </p:spPr>
        <p:txBody>
          <a:bodyPr lIns="27432" tIns="18288" rIns="27432" bIns="18288"/>
          <a:lstStyle/>
          <a:p>
            <a:pPr>
              <a:spcBef>
                <a:spcPts val="0"/>
              </a:spcBef>
              <a:spcAft>
                <a:spcPts val="120"/>
              </a:spcAft>
            </a:pPr>
            <a:endParaRPr/>
          </a:p>
        </p:txBody>
      </p:sp>
      <p:sp>
        <p:nvSpPr>
          <p:cNvPr id="9" name="Text 5"/>
          <p:cNvSpPr/>
          <p:nvPr/>
        </p:nvSpPr>
        <p:spPr>
          <a:xfrm>
            <a:off x="2350008" y="2011680"/>
            <a:ext cx="1197864" cy="182880"/>
          </a:xfrm>
          <a:prstGeom prst="rect">
            <a:avLst/>
          </a:prstGeom>
          <a:noFill/>
          <a:ln/>
        </p:spPr>
        <p:txBody>
          <a:bodyPr wrap="square" lIns="27432" tIns="18288" rIns="27432" bIns="18288" rtlCol="0" anchor="ctr">
            <a:normAutofit/>
          </a:bodyPr>
          <a:lstStyle/>
          <a:p>
            <a:pPr marL="0" indent="0">
              <a:spcBef>
                <a:spcPts val="0"/>
              </a:spcBef>
              <a:spcAft>
                <a:spcPts val="120"/>
              </a:spcAft>
              <a:buNone/>
            </a:pPr>
            <a:r>
              <a:rPr lang="en-US" sz="670" b="1" dirty="0">
                <a:solidFill>
                  <a:srgbClr val="253B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Payment Gateway</a:t>
            </a:r>
            <a:endParaRPr lang="en-US" sz="670" dirty="0"/>
          </a:p>
        </p:txBody>
      </p:sp>
      <p:sp>
        <p:nvSpPr>
          <p:cNvPr id="10" name="Shape 6"/>
          <p:cNvSpPr/>
          <p:nvPr/>
        </p:nvSpPr>
        <p:spPr>
          <a:xfrm>
            <a:off x="2651760" y="2331720"/>
            <a:ext cx="594360" cy="256032"/>
          </a:xfrm>
          <a:prstGeom prst="roundRect">
            <a:avLst>
              <a:gd name="adj" fmla="val 39286"/>
            </a:avLst>
          </a:prstGeom>
          <a:solidFill>
            <a:srgbClr val="5E7F4E"/>
          </a:solidFill>
          <a:ln w="12700">
            <a:solidFill>
              <a:srgbClr val="5E7F4E">
                <a:alpha val="0"/>
              </a:srgbClr>
            </a:solidFill>
            <a:prstDash val="solid"/>
          </a:ln>
        </p:spPr>
        <p:txBody>
          <a:bodyPr lIns="27432" tIns="18288" rIns="27432" bIns="18288"/>
          <a:lstStyle/>
          <a:p>
            <a:pPr>
              <a:spcBef>
                <a:spcPts val="0"/>
              </a:spcBef>
              <a:spcAft>
                <a:spcPts val="120"/>
              </a:spcAft>
            </a:pPr>
            <a:endParaRPr/>
          </a:p>
        </p:txBody>
      </p:sp>
      <p:sp>
        <p:nvSpPr>
          <p:cNvPr id="11" name="Text 7"/>
          <p:cNvSpPr/>
          <p:nvPr/>
        </p:nvSpPr>
        <p:spPr>
          <a:xfrm>
            <a:off x="2651760" y="2350008"/>
            <a:ext cx="594360" cy="219456"/>
          </a:xfrm>
          <a:prstGeom prst="rect">
            <a:avLst/>
          </a:prstGeom>
          <a:noFill/>
          <a:ln/>
        </p:spPr>
        <p:txBody>
          <a:bodyPr wrap="square" lIns="27432" tIns="18288" rIns="27432" bIns="18288" rtlCol="0" anchor="ctr">
            <a:normAutofit/>
          </a:bodyPr>
          <a:lstStyle/>
          <a:p>
            <a:pPr marL="0" indent="0" algn="ctr">
              <a:spcBef>
                <a:spcPts val="0"/>
              </a:spcBef>
              <a:spcAft>
                <a:spcPts val="120"/>
              </a:spcAft>
              <a:buNone/>
            </a:pPr>
            <a:r>
              <a:rPr lang="en-US" sz="670" b="1" dirty="0">
                <a:solidFill>
                  <a:srgbClr val="F2EDD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SUCCESS</a:t>
            </a:r>
            <a:endParaRPr lang="en-US" sz="670" dirty="0"/>
          </a:p>
        </p:txBody>
      </p:sp>
      <p:sp>
        <p:nvSpPr>
          <p:cNvPr id="12" name="Shape 8"/>
          <p:cNvSpPr/>
          <p:nvPr/>
        </p:nvSpPr>
        <p:spPr>
          <a:xfrm>
            <a:off x="3794760" y="2340864"/>
            <a:ext cx="411480" cy="0"/>
          </a:xfrm>
          <a:prstGeom prst="line">
            <a:avLst/>
          </a:prstGeom>
          <a:noFill/>
          <a:ln w="22860">
            <a:solidFill>
              <a:srgbClr val="6E8F5D"/>
            </a:solidFill>
            <a:prstDash val="solid"/>
            <a:headEnd type="none"/>
            <a:tailEnd type="triangle"/>
          </a:ln>
        </p:spPr>
        <p:txBody>
          <a:bodyPr lIns="27432" tIns="18288" rIns="27432" bIns="18288"/>
          <a:lstStyle/>
          <a:p>
            <a:pPr>
              <a:spcBef>
                <a:spcPts val="0"/>
              </a:spcBef>
              <a:spcAft>
                <a:spcPts val="120"/>
              </a:spcAft>
            </a:pPr>
            <a:endParaRPr/>
          </a:p>
        </p:txBody>
      </p:sp>
      <p:sp>
        <p:nvSpPr>
          <p:cNvPr id="13" name="Shape 9"/>
          <p:cNvSpPr/>
          <p:nvPr/>
        </p:nvSpPr>
        <p:spPr>
          <a:xfrm>
            <a:off x="4453128" y="1856232"/>
            <a:ext cx="1417320" cy="960120"/>
          </a:xfrm>
          <a:prstGeom prst="roundRect">
            <a:avLst>
              <a:gd name="adj" fmla="val 11429"/>
            </a:avLst>
          </a:prstGeom>
          <a:solidFill>
            <a:srgbClr val="F2EDD2"/>
          </a:solidFill>
          <a:ln w="15240">
            <a:solidFill>
              <a:srgbClr val="CBDABF"/>
            </a:solidFill>
            <a:prstDash val="solid"/>
          </a:ln>
        </p:spPr>
        <p:txBody>
          <a:bodyPr lIns="27432" tIns="18288" rIns="27432" bIns="18288"/>
          <a:lstStyle/>
          <a:p>
            <a:pPr>
              <a:spcBef>
                <a:spcPts val="0"/>
              </a:spcBef>
              <a:spcAft>
                <a:spcPts val="120"/>
              </a:spcAft>
            </a:pPr>
            <a:endParaRPr/>
          </a:p>
        </p:txBody>
      </p:sp>
      <p:sp>
        <p:nvSpPr>
          <p:cNvPr id="14" name="Text 10"/>
          <p:cNvSpPr/>
          <p:nvPr/>
        </p:nvSpPr>
        <p:spPr>
          <a:xfrm>
            <a:off x="4562856" y="2011680"/>
            <a:ext cx="1197864" cy="182880"/>
          </a:xfrm>
          <a:prstGeom prst="rect">
            <a:avLst/>
          </a:prstGeom>
          <a:noFill/>
          <a:ln/>
        </p:spPr>
        <p:txBody>
          <a:bodyPr wrap="square" lIns="27432" tIns="18288" rIns="27432" bIns="18288" rtlCol="0" anchor="ctr">
            <a:normAutofit/>
          </a:bodyPr>
          <a:lstStyle/>
          <a:p>
            <a:pPr marL="0" indent="0">
              <a:spcBef>
                <a:spcPts val="0"/>
              </a:spcBef>
              <a:spcAft>
                <a:spcPts val="120"/>
              </a:spcAft>
              <a:buNone/>
            </a:pPr>
            <a:r>
              <a:rPr lang="en-US" sz="670" b="1" dirty="0">
                <a:solidFill>
                  <a:srgbClr val="253B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Bank Settlement</a:t>
            </a:r>
            <a:endParaRPr lang="en-US" sz="670" dirty="0"/>
          </a:p>
        </p:txBody>
      </p:sp>
      <p:sp>
        <p:nvSpPr>
          <p:cNvPr id="15" name="Shape 11"/>
          <p:cNvSpPr/>
          <p:nvPr/>
        </p:nvSpPr>
        <p:spPr>
          <a:xfrm>
            <a:off x="4864608" y="2331720"/>
            <a:ext cx="594360" cy="256032"/>
          </a:xfrm>
          <a:prstGeom prst="roundRect">
            <a:avLst>
              <a:gd name="adj" fmla="val 39286"/>
            </a:avLst>
          </a:prstGeom>
          <a:solidFill>
            <a:srgbClr val="5DA5AA"/>
          </a:solidFill>
          <a:ln w="12700">
            <a:solidFill>
              <a:srgbClr val="5DA5AA">
                <a:alpha val="0"/>
              </a:srgbClr>
            </a:solidFill>
            <a:prstDash val="solid"/>
          </a:ln>
        </p:spPr>
        <p:txBody>
          <a:bodyPr lIns="27432" tIns="18288" rIns="27432" bIns="18288"/>
          <a:lstStyle/>
          <a:p>
            <a:pPr>
              <a:spcBef>
                <a:spcPts val="0"/>
              </a:spcBef>
              <a:spcAft>
                <a:spcPts val="120"/>
              </a:spcAft>
            </a:pPr>
            <a:endParaRPr/>
          </a:p>
        </p:txBody>
      </p:sp>
      <p:sp>
        <p:nvSpPr>
          <p:cNvPr id="16" name="Text 12"/>
          <p:cNvSpPr/>
          <p:nvPr/>
        </p:nvSpPr>
        <p:spPr>
          <a:xfrm>
            <a:off x="4864608" y="2350008"/>
            <a:ext cx="594360" cy="219456"/>
          </a:xfrm>
          <a:prstGeom prst="rect">
            <a:avLst/>
          </a:prstGeom>
          <a:noFill/>
          <a:ln/>
        </p:spPr>
        <p:txBody>
          <a:bodyPr wrap="square" lIns="27432" tIns="18288" rIns="27432" bIns="18288" rtlCol="0" anchor="ctr">
            <a:normAutofit/>
          </a:bodyPr>
          <a:lstStyle/>
          <a:p>
            <a:pPr marL="0" indent="0" algn="ctr">
              <a:spcBef>
                <a:spcPts val="0"/>
              </a:spcBef>
              <a:spcAft>
                <a:spcPts val="120"/>
              </a:spcAft>
              <a:buNone/>
            </a:pPr>
            <a:r>
              <a:rPr lang="en-US" sz="670" b="1" dirty="0">
                <a:solidFill>
                  <a:srgbClr val="F2EDD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DELAYED</a:t>
            </a:r>
            <a:endParaRPr lang="en-US" sz="670" dirty="0"/>
          </a:p>
        </p:txBody>
      </p:sp>
      <p:sp>
        <p:nvSpPr>
          <p:cNvPr id="17" name="Shape 13"/>
          <p:cNvSpPr/>
          <p:nvPr/>
        </p:nvSpPr>
        <p:spPr>
          <a:xfrm>
            <a:off x="6007608" y="2340864"/>
            <a:ext cx="411480" cy="0"/>
          </a:xfrm>
          <a:prstGeom prst="line">
            <a:avLst/>
          </a:prstGeom>
          <a:noFill/>
          <a:ln w="22860">
            <a:solidFill>
              <a:srgbClr val="6E8F5D"/>
            </a:solidFill>
            <a:prstDash val="solid"/>
            <a:headEnd type="none"/>
            <a:tailEnd type="triangle"/>
          </a:ln>
        </p:spPr>
        <p:txBody>
          <a:bodyPr lIns="27432" tIns="18288" rIns="27432" bIns="18288"/>
          <a:lstStyle/>
          <a:p>
            <a:pPr>
              <a:spcBef>
                <a:spcPts val="0"/>
              </a:spcBef>
              <a:spcAft>
                <a:spcPts val="120"/>
              </a:spcAft>
            </a:pPr>
            <a:endParaRPr/>
          </a:p>
        </p:txBody>
      </p:sp>
      <p:sp>
        <p:nvSpPr>
          <p:cNvPr id="18" name="Shape 14"/>
          <p:cNvSpPr/>
          <p:nvPr/>
        </p:nvSpPr>
        <p:spPr>
          <a:xfrm>
            <a:off x="6665976" y="1856232"/>
            <a:ext cx="1417320" cy="960120"/>
          </a:xfrm>
          <a:prstGeom prst="roundRect">
            <a:avLst>
              <a:gd name="adj" fmla="val 11429"/>
            </a:avLst>
          </a:prstGeom>
          <a:solidFill>
            <a:srgbClr val="F2EDD2"/>
          </a:solidFill>
          <a:ln w="15240">
            <a:solidFill>
              <a:srgbClr val="CBDABF"/>
            </a:solidFill>
            <a:prstDash val="solid"/>
          </a:ln>
        </p:spPr>
        <p:txBody>
          <a:bodyPr lIns="27432" tIns="18288" rIns="27432" bIns="18288"/>
          <a:lstStyle/>
          <a:p>
            <a:pPr>
              <a:spcBef>
                <a:spcPts val="0"/>
              </a:spcBef>
              <a:spcAft>
                <a:spcPts val="120"/>
              </a:spcAft>
            </a:pPr>
            <a:endParaRPr/>
          </a:p>
        </p:txBody>
      </p:sp>
      <p:sp>
        <p:nvSpPr>
          <p:cNvPr id="19" name="Text 15"/>
          <p:cNvSpPr/>
          <p:nvPr/>
        </p:nvSpPr>
        <p:spPr>
          <a:xfrm>
            <a:off x="6775704" y="2011680"/>
            <a:ext cx="1197864" cy="182880"/>
          </a:xfrm>
          <a:prstGeom prst="rect">
            <a:avLst/>
          </a:prstGeom>
          <a:noFill/>
          <a:ln/>
        </p:spPr>
        <p:txBody>
          <a:bodyPr wrap="square" lIns="27432" tIns="18288" rIns="27432" bIns="18288" rtlCol="0" anchor="ctr">
            <a:normAutofit/>
          </a:bodyPr>
          <a:lstStyle/>
          <a:p>
            <a:pPr marL="0" indent="0">
              <a:spcBef>
                <a:spcPts val="0"/>
              </a:spcBef>
              <a:spcAft>
                <a:spcPts val="120"/>
              </a:spcAft>
              <a:buNone/>
            </a:pPr>
            <a:r>
              <a:rPr lang="en-US" sz="670" b="1" dirty="0">
                <a:solidFill>
                  <a:srgbClr val="253B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Internal Ledger</a:t>
            </a:r>
            <a:endParaRPr lang="en-US" sz="670" dirty="0"/>
          </a:p>
        </p:txBody>
      </p:sp>
      <p:sp>
        <p:nvSpPr>
          <p:cNvPr id="20" name="Shape 16"/>
          <p:cNvSpPr/>
          <p:nvPr/>
        </p:nvSpPr>
        <p:spPr>
          <a:xfrm>
            <a:off x="7077456" y="2331720"/>
            <a:ext cx="594360" cy="256032"/>
          </a:xfrm>
          <a:prstGeom prst="roundRect">
            <a:avLst>
              <a:gd name="adj" fmla="val 39286"/>
            </a:avLst>
          </a:prstGeom>
          <a:solidFill>
            <a:srgbClr val="5E7F4E"/>
          </a:solidFill>
          <a:ln w="12700">
            <a:solidFill>
              <a:srgbClr val="5E7F4E">
                <a:alpha val="0"/>
              </a:srgbClr>
            </a:solidFill>
            <a:prstDash val="solid"/>
          </a:ln>
        </p:spPr>
        <p:txBody>
          <a:bodyPr lIns="27432" tIns="18288" rIns="27432" bIns="18288"/>
          <a:lstStyle/>
          <a:p>
            <a:pPr>
              <a:spcBef>
                <a:spcPts val="0"/>
              </a:spcBef>
              <a:spcAft>
                <a:spcPts val="120"/>
              </a:spcAft>
            </a:pPr>
            <a:endParaRPr/>
          </a:p>
        </p:txBody>
      </p:sp>
      <p:sp>
        <p:nvSpPr>
          <p:cNvPr id="21" name="Text 17"/>
          <p:cNvSpPr/>
          <p:nvPr/>
        </p:nvSpPr>
        <p:spPr>
          <a:xfrm>
            <a:off x="7077456" y="2350008"/>
            <a:ext cx="594360" cy="219456"/>
          </a:xfrm>
          <a:prstGeom prst="rect">
            <a:avLst/>
          </a:prstGeom>
          <a:noFill/>
          <a:ln/>
        </p:spPr>
        <p:txBody>
          <a:bodyPr wrap="square" lIns="27432" tIns="18288" rIns="27432" bIns="18288" rtlCol="0" anchor="ctr">
            <a:normAutofit/>
          </a:bodyPr>
          <a:lstStyle/>
          <a:p>
            <a:pPr marL="0" indent="0" algn="ctr">
              <a:spcBef>
                <a:spcPts val="0"/>
              </a:spcBef>
              <a:spcAft>
                <a:spcPts val="120"/>
              </a:spcAft>
              <a:buNone/>
            </a:pPr>
            <a:r>
              <a:rPr lang="en-US" sz="670" b="1" dirty="0">
                <a:solidFill>
                  <a:srgbClr val="F2EDD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PENDING</a:t>
            </a:r>
            <a:endParaRPr lang="en-US" sz="670" dirty="0"/>
          </a:p>
        </p:txBody>
      </p:sp>
      <p:sp>
        <p:nvSpPr>
          <p:cNvPr id="22" name="Shape 18"/>
          <p:cNvSpPr/>
          <p:nvPr/>
        </p:nvSpPr>
        <p:spPr>
          <a:xfrm>
            <a:off x="1801368" y="2340864"/>
            <a:ext cx="338328" cy="0"/>
          </a:xfrm>
          <a:prstGeom prst="line">
            <a:avLst/>
          </a:prstGeom>
          <a:noFill/>
          <a:ln w="22860">
            <a:solidFill>
              <a:srgbClr val="6E8F5D"/>
            </a:solidFill>
            <a:prstDash val="solid"/>
            <a:headEnd type="none"/>
            <a:tailEnd type="triangle"/>
          </a:ln>
        </p:spPr>
        <p:txBody>
          <a:bodyPr lIns="27432" tIns="18288" rIns="27432" bIns="18288"/>
          <a:lstStyle/>
          <a:p>
            <a:pPr>
              <a:spcBef>
                <a:spcPts val="0"/>
              </a:spcBef>
              <a:spcAft>
                <a:spcPts val="120"/>
              </a:spcAft>
            </a:pPr>
            <a:endParaRPr/>
          </a:p>
        </p:txBody>
      </p:sp>
      <p:sp>
        <p:nvSpPr>
          <p:cNvPr id="23" name="Text 19"/>
          <p:cNvSpPr/>
          <p:nvPr/>
        </p:nvSpPr>
        <p:spPr>
          <a:xfrm>
            <a:off x="9326880" y="2057400"/>
            <a:ext cx="1188720" cy="228600"/>
          </a:xfrm>
          <a:prstGeom prst="rect">
            <a:avLst/>
          </a:prstGeom>
          <a:noFill/>
          <a:ln/>
        </p:spPr>
        <p:txBody>
          <a:bodyPr wrap="square" lIns="27432" tIns="18288" rIns="27432" bIns="18288" rtlCol="0" anchor="t">
            <a:normAutofit/>
          </a:bodyPr>
          <a:lstStyle/>
          <a:p>
            <a:pPr marL="0" indent="0" algn="ctr">
              <a:spcBef>
                <a:spcPts val="0"/>
              </a:spcBef>
              <a:spcAft>
                <a:spcPts val="120"/>
              </a:spcAft>
              <a:buNone/>
            </a:pPr>
            <a:r>
              <a:rPr lang="en-US" sz="900" b="1" dirty="0">
                <a:solidFill>
                  <a:srgbClr val="253B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Merchant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9198864" y="2359152"/>
            <a:ext cx="1645920" cy="502920"/>
          </a:xfrm>
          <a:prstGeom prst="rect">
            <a:avLst/>
          </a:prstGeom>
          <a:noFill/>
          <a:ln/>
        </p:spPr>
        <p:txBody>
          <a:bodyPr wrap="square" lIns="27432" tIns="18288" rIns="27432" bIns="18288" rtlCol="0" anchor="t">
            <a:normAutofit/>
          </a:bodyPr>
          <a:lstStyle/>
          <a:p>
            <a:pPr marL="0" indent="0" algn="ctr">
              <a:spcBef>
                <a:spcPts val="0"/>
              </a:spcBef>
              <a:spcAft>
                <a:spcPts val="120"/>
              </a:spcAft>
              <a:buNone/>
            </a:pPr>
            <a:r>
              <a:rPr lang="en-US" sz="1600" b="1" dirty="0">
                <a:solidFill>
                  <a:srgbClr val="2F49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“Where is</a:t>
            </a:r>
            <a:endParaRPr lang="en-US" sz="1600" dirty="0"/>
          </a:p>
          <a:p>
            <a:pPr marL="0" indent="0" algn="ctr">
              <a:spcBef>
                <a:spcPts val="0"/>
              </a:spcBef>
              <a:spcAft>
                <a:spcPts val="120"/>
              </a:spcAft>
              <a:buNone/>
            </a:pPr>
            <a:r>
              <a:rPr lang="en-US" sz="1600" b="1" dirty="0">
                <a:solidFill>
                  <a:srgbClr val="2F49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my money?”</a:t>
            </a:r>
            <a:endParaRPr lang="en-US" sz="1600" dirty="0"/>
          </a:p>
        </p:txBody>
      </p:sp>
      <p:sp>
        <p:nvSpPr>
          <p:cNvPr id="25" name="Shape 21"/>
          <p:cNvSpPr/>
          <p:nvPr/>
        </p:nvSpPr>
        <p:spPr>
          <a:xfrm>
            <a:off x="8915400" y="2340864"/>
            <a:ext cx="274320" cy="0"/>
          </a:xfrm>
          <a:prstGeom prst="line">
            <a:avLst/>
          </a:prstGeom>
          <a:noFill/>
          <a:ln w="22860">
            <a:solidFill>
              <a:srgbClr val="6E8F5D"/>
            </a:solidFill>
            <a:prstDash val="solid"/>
            <a:headEnd type="none"/>
            <a:tailEnd type="triangle"/>
          </a:ln>
        </p:spPr>
        <p:txBody>
          <a:bodyPr lIns="27432" tIns="18288" rIns="27432" bIns="18288"/>
          <a:lstStyle/>
          <a:p>
            <a:pPr>
              <a:spcBef>
                <a:spcPts val="0"/>
              </a:spcBef>
              <a:spcAft>
                <a:spcPts val="120"/>
              </a:spcAft>
            </a:pPr>
            <a:endParaRPr/>
          </a:p>
        </p:txBody>
      </p:sp>
      <p:sp>
        <p:nvSpPr>
          <p:cNvPr id="26" name="Shape 22"/>
          <p:cNvSpPr/>
          <p:nvPr/>
        </p:nvSpPr>
        <p:spPr>
          <a:xfrm>
            <a:off x="502920" y="3794760"/>
            <a:ext cx="5212080" cy="1965960"/>
          </a:xfrm>
          <a:prstGeom prst="roundRect">
            <a:avLst>
              <a:gd name="adj" fmla="val 5581"/>
            </a:avLst>
          </a:prstGeom>
          <a:solidFill>
            <a:srgbClr val="FBF8E8"/>
          </a:solidFill>
          <a:ln w="15240">
            <a:solidFill>
              <a:srgbClr val="CBDABF"/>
            </a:solidFill>
            <a:prstDash val="solid"/>
          </a:ln>
        </p:spPr>
        <p:txBody>
          <a:bodyPr lIns="27432" tIns="18288" rIns="27432" bIns="18288"/>
          <a:lstStyle/>
          <a:p>
            <a:pPr>
              <a:spcBef>
                <a:spcPts val="0"/>
              </a:spcBef>
              <a:spcAft>
                <a:spcPts val="120"/>
              </a:spcAft>
            </a:pPr>
            <a:endParaRPr/>
          </a:p>
        </p:txBody>
      </p:sp>
      <p:sp>
        <p:nvSpPr>
          <p:cNvPr id="27" name="Text 23"/>
          <p:cNvSpPr/>
          <p:nvPr/>
        </p:nvSpPr>
        <p:spPr>
          <a:xfrm>
            <a:off x="731520" y="3977640"/>
            <a:ext cx="2377440" cy="219456"/>
          </a:xfrm>
          <a:prstGeom prst="rect">
            <a:avLst/>
          </a:prstGeom>
          <a:noFill/>
          <a:ln/>
        </p:spPr>
        <p:txBody>
          <a:bodyPr wrap="square" lIns="27432" tIns="18288" rIns="27432" bIns="18288" rtlCol="0" anchor="ctr">
            <a:normAutofit/>
          </a:bodyPr>
          <a:lstStyle/>
          <a:p>
            <a:pPr marL="0" indent="0">
              <a:spcBef>
                <a:spcPts val="0"/>
              </a:spcBef>
              <a:spcAft>
                <a:spcPts val="120"/>
              </a:spcAft>
              <a:buNone/>
            </a:pPr>
            <a:r>
              <a:rPr lang="en-US" sz="900" b="1" dirty="0">
                <a:solidFill>
                  <a:srgbClr val="2F49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CURRENT SUPPORT JOURNEY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731520" y="4480560"/>
            <a:ext cx="749808" cy="795528"/>
          </a:xfrm>
          <a:prstGeom prst="roundRect">
            <a:avLst>
              <a:gd name="adj" fmla="val 14634"/>
            </a:avLst>
          </a:prstGeom>
          <a:solidFill>
            <a:srgbClr val="F2EDD2"/>
          </a:solidFill>
          <a:ln w="15240">
            <a:solidFill>
              <a:srgbClr val="CBDABF"/>
            </a:solidFill>
            <a:prstDash val="solid"/>
          </a:ln>
        </p:spPr>
        <p:txBody>
          <a:bodyPr lIns="27432" tIns="18288" rIns="27432" bIns="18288"/>
          <a:lstStyle/>
          <a:p>
            <a:pPr>
              <a:spcBef>
                <a:spcPts val="0"/>
              </a:spcBef>
              <a:spcAft>
                <a:spcPts val="120"/>
              </a:spcAft>
            </a:pPr>
            <a:endParaRPr/>
          </a:p>
        </p:txBody>
      </p:sp>
      <p:sp>
        <p:nvSpPr>
          <p:cNvPr id="29" name="Text 25"/>
          <p:cNvSpPr/>
          <p:nvPr/>
        </p:nvSpPr>
        <p:spPr>
          <a:xfrm>
            <a:off x="795528" y="4681728"/>
            <a:ext cx="621792" cy="411480"/>
          </a:xfrm>
          <a:prstGeom prst="rect">
            <a:avLst/>
          </a:prstGeom>
          <a:noFill/>
          <a:ln/>
        </p:spPr>
        <p:txBody>
          <a:bodyPr wrap="square" lIns="27432" tIns="18288" rIns="27432" bIns="18288" rtlCol="0" anchor="ctr">
            <a:normAutofit/>
          </a:bodyPr>
          <a:lstStyle/>
          <a:p>
            <a:pPr marL="0" indent="0" algn="ctr">
              <a:spcBef>
                <a:spcPts val="0"/>
              </a:spcBef>
              <a:spcAft>
                <a:spcPts val="120"/>
              </a:spcAft>
              <a:buNone/>
            </a:pPr>
            <a:r>
              <a:rPr lang="en-US" sz="630" b="1" dirty="0">
                <a:solidFill>
                  <a:srgbClr val="253B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Open</a:t>
            </a:r>
            <a:endParaRPr lang="en-US" sz="630" dirty="0"/>
          </a:p>
          <a:p>
            <a:pPr marL="0" indent="0" algn="ctr">
              <a:spcBef>
                <a:spcPts val="0"/>
              </a:spcBef>
              <a:spcAft>
                <a:spcPts val="120"/>
              </a:spcAft>
              <a:buNone/>
            </a:pPr>
            <a:r>
              <a:rPr lang="en-US" sz="630" b="1" dirty="0">
                <a:solidFill>
                  <a:srgbClr val="253B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multiple</a:t>
            </a:r>
            <a:endParaRPr lang="en-US" sz="630" dirty="0"/>
          </a:p>
          <a:p>
            <a:pPr marL="0" indent="0" algn="ctr">
              <a:spcBef>
                <a:spcPts val="0"/>
              </a:spcBef>
              <a:spcAft>
                <a:spcPts val="120"/>
              </a:spcAft>
              <a:buNone/>
            </a:pPr>
            <a:r>
              <a:rPr lang="en-US" sz="630" b="1" dirty="0">
                <a:solidFill>
                  <a:srgbClr val="253B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systems</a:t>
            </a:r>
            <a:endParaRPr lang="en-US" sz="630" dirty="0"/>
          </a:p>
        </p:txBody>
      </p:sp>
      <p:sp>
        <p:nvSpPr>
          <p:cNvPr id="30" name="Shape 26"/>
          <p:cNvSpPr/>
          <p:nvPr/>
        </p:nvSpPr>
        <p:spPr>
          <a:xfrm>
            <a:off x="1499616" y="4882896"/>
            <a:ext cx="146304" cy="0"/>
          </a:xfrm>
          <a:prstGeom prst="line">
            <a:avLst/>
          </a:prstGeom>
          <a:noFill/>
          <a:ln w="15240">
            <a:solidFill>
              <a:srgbClr val="6E8F5D"/>
            </a:solidFill>
            <a:prstDash val="solid"/>
            <a:headEnd type="none"/>
            <a:tailEnd type="triangle"/>
          </a:ln>
        </p:spPr>
        <p:txBody>
          <a:bodyPr lIns="27432" tIns="18288" rIns="27432" bIns="18288"/>
          <a:lstStyle/>
          <a:p>
            <a:pPr>
              <a:spcBef>
                <a:spcPts val="0"/>
              </a:spcBef>
              <a:spcAft>
                <a:spcPts val="120"/>
              </a:spcAft>
            </a:pPr>
            <a:endParaRPr/>
          </a:p>
        </p:txBody>
      </p:sp>
      <p:sp>
        <p:nvSpPr>
          <p:cNvPr id="31" name="Shape 27"/>
          <p:cNvSpPr/>
          <p:nvPr/>
        </p:nvSpPr>
        <p:spPr>
          <a:xfrm>
            <a:off x="1691640" y="4480560"/>
            <a:ext cx="749808" cy="795528"/>
          </a:xfrm>
          <a:prstGeom prst="roundRect">
            <a:avLst>
              <a:gd name="adj" fmla="val 14634"/>
            </a:avLst>
          </a:prstGeom>
          <a:solidFill>
            <a:srgbClr val="F2EDD2"/>
          </a:solidFill>
          <a:ln w="15240">
            <a:solidFill>
              <a:srgbClr val="CBDABF"/>
            </a:solidFill>
            <a:prstDash val="solid"/>
          </a:ln>
        </p:spPr>
        <p:txBody>
          <a:bodyPr lIns="27432" tIns="18288" rIns="27432" bIns="18288"/>
          <a:lstStyle/>
          <a:p>
            <a:pPr>
              <a:spcBef>
                <a:spcPts val="0"/>
              </a:spcBef>
              <a:spcAft>
                <a:spcPts val="120"/>
              </a:spcAft>
            </a:pPr>
            <a:endParaRPr/>
          </a:p>
        </p:txBody>
      </p:sp>
      <p:sp>
        <p:nvSpPr>
          <p:cNvPr id="32" name="Text 28"/>
          <p:cNvSpPr/>
          <p:nvPr/>
        </p:nvSpPr>
        <p:spPr>
          <a:xfrm>
            <a:off x="1755648" y="4681728"/>
            <a:ext cx="621792" cy="411480"/>
          </a:xfrm>
          <a:prstGeom prst="rect">
            <a:avLst/>
          </a:prstGeom>
          <a:noFill/>
          <a:ln/>
        </p:spPr>
        <p:txBody>
          <a:bodyPr wrap="square" lIns="27432" tIns="18288" rIns="27432" bIns="18288" rtlCol="0" anchor="ctr">
            <a:normAutofit/>
          </a:bodyPr>
          <a:lstStyle/>
          <a:p>
            <a:pPr marL="0" indent="0" algn="ctr">
              <a:spcBef>
                <a:spcPts val="0"/>
              </a:spcBef>
              <a:spcAft>
                <a:spcPts val="120"/>
              </a:spcAft>
              <a:buNone/>
            </a:pPr>
            <a:r>
              <a:rPr lang="en-US" sz="630" b="1" dirty="0">
                <a:solidFill>
                  <a:srgbClr val="253B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Search</a:t>
            </a:r>
            <a:endParaRPr lang="en-US" sz="630" dirty="0"/>
          </a:p>
          <a:p>
            <a:pPr marL="0" indent="0" algn="ctr">
              <a:spcBef>
                <a:spcPts val="0"/>
              </a:spcBef>
              <a:spcAft>
                <a:spcPts val="120"/>
              </a:spcAft>
              <a:buNone/>
            </a:pPr>
            <a:r>
              <a:rPr lang="en-US" sz="630" b="1" dirty="0">
                <a:solidFill>
                  <a:srgbClr val="253B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transaction</a:t>
            </a:r>
            <a:endParaRPr lang="en-US" sz="630" dirty="0"/>
          </a:p>
        </p:txBody>
      </p:sp>
      <p:sp>
        <p:nvSpPr>
          <p:cNvPr id="33" name="Shape 29"/>
          <p:cNvSpPr/>
          <p:nvPr/>
        </p:nvSpPr>
        <p:spPr>
          <a:xfrm>
            <a:off x="2459736" y="4882896"/>
            <a:ext cx="146304" cy="0"/>
          </a:xfrm>
          <a:prstGeom prst="line">
            <a:avLst/>
          </a:prstGeom>
          <a:noFill/>
          <a:ln w="15240">
            <a:solidFill>
              <a:srgbClr val="6E8F5D"/>
            </a:solidFill>
            <a:prstDash val="solid"/>
            <a:headEnd type="none"/>
            <a:tailEnd type="triangle"/>
          </a:ln>
        </p:spPr>
        <p:txBody>
          <a:bodyPr lIns="27432" tIns="18288" rIns="27432" bIns="18288"/>
          <a:lstStyle/>
          <a:p>
            <a:pPr>
              <a:spcBef>
                <a:spcPts val="0"/>
              </a:spcBef>
              <a:spcAft>
                <a:spcPts val="120"/>
              </a:spcAft>
            </a:pPr>
            <a:endParaRPr/>
          </a:p>
        </p:txBody>
      </p:sp>
      <p:sp>
        <p:nvSpPr>
          <p:cNvPr id="34" name="Shape 30"/>
          <p:cNvSpPr/>
          <p:nvPr/>
        </p:nvSpPr>
        <p:spPr>
          <a:xfrm>
            <a:off x="2651760" y="4480560"/>
            <a:ext cx="749808" cy="795528"/>
          </a:xfrm>
          <a:prstGeom prst="roundRect">
            <a:avLst>
              <a:gd name="adj" fmla="val 14634"/>
            </a:avLst>
          </a:prstGeom>
          <a:solidFill>
            <a:srgbClr val="F2EDD2"/>
          </a:solidFill>
          <a:ln w="15240">
            <a:solidFill>
              <a:srgbClr val="CBDABF"/>
            </a:solidFill>
            <a:prstDash val="solid"/>
          </a:ln>
        </p:spPr>
        <p:txBody>
          <a:bodyPr lIns="27432" tIns="18288" rIns="27432" bIns="18288"/>
          <a:lstStyle/>
          <a:p>
            <a:pPr>
              <a:spcBef>
                <a:spcPts val="0"/>
              </a:spcBef>
              <a:spcAft>
                <a:spcPts val="120"/>
              </a:spcAft>
            </a:pPr>
            <a:endParaRPr/>
          </a:p>
        </p:txBody>
      </p:sp>
      <p:sp>
        <p:nvSpPr>
          <p:cNvPr id="35" name="Text 31"/>
          <p:cNvSpPr/>
          <p:nvPr/>
        </p:nvSpPr>
        <p:spPr>
          <a:xfrm>
            <a:off x="2715768" y="4681728"/>
            <a:ext cx="621792" cy="411480"/>
          </a:xfrm>
          <a:prstGeom prst="rect">
            <a:avLst/>
          </a:prstGeom>
          <a:noFill/>
          <a:ln/>
        </p:spPr>
        <p:txBody>
          <a:bodyPr wrap="square" lIns="27432" tIns="18288" rIns="27432" bIns="18288" rtlCol="0" anchor="ctr">
            <a:normAutofit/>
          </a:bodyPr>
          <a:lstStyle/>
          <a:p>
            <a:pPr marL="0" indent="0" algn="ctr">
              <a:spcBef>
                <a:spcPts val="0"/>
              </a:spcBef>
              <a:spcAft>
                <a:spcPts val="120"/>
              </a:spcAft>
              <a:buNone/>
            </a:pPr>
            <a:r>
              <a:rPr lang="en-US" sz="630" b="1" dirty="0">
                <a:solidFill>
                  <a:srgbClr val="253B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Compare</a:t>
            </a:r>
            <a:endParaRPr lang="en-US" sz="630" dirty="0"/>
          </a:p>
          <a:p>
            <a:pPr marL="0" indent="0" algn="ctr">
              <a:spcBef>
                <a:spcPts val="0"/>
              </a:spcBef>
              <a:spcAft>
                <a:spcPts val="120"/>
              </a:spcAft>
              <a:buNone/>
            </a:pPr>
            <a:r>
              <a:rPr lang="en-US" sz="630" b="1" dirty="0">
                <a:solidFill>
                  <a:srgbClr val="253B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records</a:t>
            </a:r>
            <a:endParaRPr lang="en-US" sz="630" dirty="0"/>
          </a:p>
        </p:txBody>
      </p:sp>
      <p:sp>
        <p:nvSpPr>
          <p:cNvPr id="36" name="Shape 32"/>
          <p:cNvSpPr/>
          <p:nvPr/>
        </p:nvSpPr>
        <p:spPr>
          <a:xfrm>
            <a:off x="3419856" y="4882896"/>
            <a:ext cx="146304" cy="0"/>
          </a:xfrm>
          <a:prstGeom prst="line">
            <a:avLst/>
          </a:prstGeom>
          <a:noFill/>
          <a:ln w="15240">
            <a:solidFill>
              <a:srgbClr val="6E8F5D"/>
            </a:solidFill>
            <a:prstDash val="solid"/>
            <a:headEnd type="none"/>
            <a:tailEnd type="triangle"/>
          </a:ln>
        </p:spPr>
        <p:txBody>
          <a:bodyPr lIns="27432" tIns="18288" rIns="27432" bIns="18288"/>
          <a:lstStyle/>
          <a:p>
            <a:pPr>
              <a:spcBef>
                <a:spcPts val="0"/>
              </a:spcBef>
              <a:spcAft>
                <a:spcPts val="120"/>
              </a:spcAft>
            </a:pPr>
            <a:endParaRPr/>
          </a:p>
        </p:txBody>
      </p:sp>
      <p:sp>
        <p:nvSpPr>
          <p:cNvPr id="37" name="Shape 33"/>
          <p:cNvSpPr/>
          <p:nvPr/>
        </p:nvSpPr>
        <p:spPr>
          <a:xfrm>
            <a:off x="3611880" y="4480560"/>
            <a:ext cx="749808" cy="795528"/>
          </a:xfrm>
          <a:prstGeom prst="roundRect">
            <a:avLst>
              <a:gd name="adj" fmla="val 14634"/>
            </a:avLst>
          </a:prstGeom>
          <a:solidFill>
            <a:srgbClr val="F2EDD2"/>
          </a:solidFill>
          <a:ln w="15240">
            <a:solidFill>
              <a:srgbClr val="CBDABF"/>
            </a:solidFill>
            <a:prstDash val="solid"/>
          </a:ln>
        </p:spPr>
        <p:txBody>
          <a:bodyPr lIns="27432" tIns="18288" rIns="27432" bIns="18288"/>
          <a:lstStyle/>
          <a:p>
            <a:pPr>
              <a:spcBef>
                <a:spcPts val="0"/>
              </a:spcBef>
              <a:spcAft>
                <a:spcPts val="120"/>
              </a:spcAft>
            </a:pPr>
            <a:endParaRPr/>
          </a:p>
        </p:txBody>
      </p:sp>
      <p:sp>
        <p:nvSpPr>
          <p:cNvPr id="38" name="Text 34"/>
          <p:cNvSpPr/>
          <p:nvPr/>
        </p:nvSpPr>
        <p:spPr>
          <a:xfrm>
            <a:off x="3675888" y="4681728"/>
            <a:ext cx="621792" cy="411480"/>
          </a:xfrm>
          <a:prstGeom prst="rect">
            <a:avLst/>
          </a:prstGeom>
          <a:noFill/>
          <a:ln/>
        </p:spPr>
        <p:txBody>
          <a:bodyPr wrap="square" lIns="27432" tIns="18288" rIns="27432" bIns="18288" rtlCol="0" anchor="ctr">
            <a:normAutofit/>
          </a:bodyPr>
          <a:lstStyle/>
          <a:p>
            <a:pPr marL="0" indent="0" algn="ctr">
              <a:spcBef>
                <a:spcPts val="0"/>
              </a:spcBef>
              <a:spcAft>
                <a:spcPts val="120"/>
              </a:spcAft>
              <a:buNone/>
            </a:pPr>
            <a:r>
              <a:rPr lang="en-US" sz="630" b="1" dirty="0">
                <a:solidFill>
                  <a:srgbClr val="253B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Identify</a:t>
            </a:r>
            <a:endParaRPr lang="en-US" sz="630" dirty="0"/>
          </a:p>
          <a:p>
            <a:pPr marL="0" indent="0" algn="ctr">
              <a:spcBef>
                <a:spcPts val="0"/>
              </a:spcBef>
              <a:spcAft>
                <a:spcPts val="120"/>
              </a:spcAft>
              <a:buNone/>
            </a:pPr>
            <a:r>
              <a:rPr lang="en-US" sz="630" b="1" dirty="0">
                <a:solidFill>
                  <a:srgbClr val="253B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discrepancy</a:t>
            </a:r>
            <a:endParaRPr lang="en-US" sz="630" dirty="0"/>
          </a:p>
        </p:txBody>
      </p:sp>
      <p:sp>
        <p:nvSpPr>
          <p:cNvPr id="39" name="Shape 35"/>
          <p:cNvSpPr/>
          <p:nvPr/>
        </p:nvSpPr>
        <p:spPr>
          <a:xfrm>
            <a:off x="4379976" y="4882896"/>
            <a:ext cx="146304" cy="0"/>
          </a:xfrm>
          <a:prstGeom prst="line">
            <a:avLst/>
          </a:prstGeom>
          <a:noFill/>
          <a:ln w="15240">
            <a:solidFill>
              <a:srgbClr val="6E8F5D"/>
            </a:solidFill>
            <a:prstDash val="solid"/>
            <a:headEnd type="none"/>
            <a:tailEnd type="triangle"/>
          </a:ln>
        </p:spPr>
        <p:txBody>
          <a:bodyPr lIns="27432" tIns="18288" rIns="27432" bIns="18288"/>
          <a:lstStyle/>
          <a:p>
            <a:pPr>
              <a:spcBef>
                <a:spcPts val="0"/>
              </a:spcBef>
              <a:spcAft>
                <a:spcPts val="120"/>
              </a:spcAft>
            </a:pPr>
            <a:endParaRPr/>
          </a:p>
        </p:txBody>
      </p:sp>
      <p:sp>
        <p:nvSpPr>
          <p:cNvPr id="40" name="Shape 36"/>
          <p:cNvSpPr/>
          <p:nvPr/>
        </p:nvSpPr>
        <p:spPr>
          <a:xfrm>
            <a:off x="4572000" y="4480560"/>
            <a:ext cx="749808" cy="795528"/>
          </a:xfrm>
          <a:prstGeom prst="roundRect">
            <a:avLst>
              <a:gd name="adj" fmla="val 14634"/>
            </a:avLst>
          </a:prstGeom>
          <a:solidFill>
            <a:srgbClr val="F2EDD2"/>
          </a:solidFill>
          <a:ln w="15240">
            <a:solidFill>
              <a:srgbClr val="CBDABF"/>
            </a:solidFill>
            <a:prstDash val="solid"/>
          </a:ln>
        </p:spPr>
        <p:txBody>
          <a:bodyPr lIns="27432" tIns="18288" rIns="27432" bIns="18288"/>
          <a:lstStyle/>
          <a:p>
            <a:pPr>
              <a:spcBef>
                <a:spcPts val="0"/>
              </a:spcBef>
              <a:spcAft>
                <a:spcPts val="120"/>
              </a:spcAft>
            </a:pPr>
            <a:endParaRPr/>
          </a:p>
        </p:txBody>
      </p:sp>
      <p:sp>
        <p:nvSpPr>
          <p:cNvPr id="41" name="Text 37"/>
          <p:cNvSpPr/>
          <p:nvPr/>
        </p:nvSpPr>
        <p:spPr>
          <a:xfrm>
            <a:off x="4636008" y="4681728"/>
            <a:ext cx="621792" cy="411480"/>
          </a:xfrm>
          <a:prstGeom prst="rect">
            <a:avLst/>
          </a:prstGeom>
          <a:noFill/>
          <a:ln/>
        </p:spPr>
        <p:txBody>
          <a:bodyPr wrap="square" lIns="27432" tIns="18288" rIns="27432" bIns="18288" rtlCol="0" anchor="ctr">
            <a:normAutofit/>
          </a:bodyPr>
          <a:lstStyle/>
          <a:p>
            <a:pPr marL="0" indent="0" algn="ctr">
              <a:spcBef>
                <a:spcPts val="0"/>
              </a:spcBef>
              <a:spcAft>
                <a:spcPts val="120"/>
              </a:spcAft>
              <a:buNone/>
            </a:pPr>
            <a:r>
              <a:rPr lang="en-US" sz="630" b="1" dirty="0">
                <a:solidFill>
                  <a:srgbClr val="253B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Explain to</a:t>
            </a:r>
            <a:endParaRPr lang="en-US" sz="630" dirty="0"/>
          </a:p>
          <a:p>
            <a:pPr marL="0" indent="0" algn="ctr">
              <a:spcBef>
                <a:spcPts val="0"/>
              </a:spcBef>
              <a:spcAft>
                <a:spcPts val="120"/>
              </a:spcAft>
              <a:buNone/>
            </a:pPr>
            <a:r>
              <a:rPr lang="en-US" sz="630" b="1" dirty="0">
                <a:solidFill>
                  <a:srgbClr val="253B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merchant</a:t>
            </a:r>
            <a:endParaRPr lang="en-US" sz="630" dirty="0"/>
          </a:p>
        </p:txBody>
      </p:sp>
      <p:sp>
        <p:nvSpPr>
          <p:cNvPr id="42" name="Shape 38"/>
          <p:cNvSpPr/>
          <p:nvPr/>
        </p:nvSpPr>
        <p:spPr>
          <a:xfrm>
            <a:off x="5760720" y="3774056"/>
            <a:ext cx="6142699" cy="1965960"/>
          </a:xfrm>
          <a:prstGeom prst="roundRect">
            <a:avLst>
              <a:gd name="adj" fmla="val 5581"/>
            </a:avLst>
          </a:prstGeom>
          <a:solidFill>
            <a:srgbClr val="FBF8E8"/>
          </a:solidFill>
          <a:ln w="15240">
            <a:solidFill>
              <a:srgbClr val="CBDABF"/>
            </a:solidFill>
            <a:prstDash val="solid"/>
          </a:ln>
        </p:spPr>
        <p:txBody>
          <a:bodyPr lIns="27432" tIns="18288" rIns="27432" bIns="18288"/>
          <a:lstStyle/>
          <a:p>
            <a:pPr>
              <a:spcBef>
                <a:spcPts val="0"/>
              </a:spcBef>
              <a:spcAft>
                <a:spcPts val="120"/>
              </a:spcAft>
            </a:pPr>
            <a:endParaRPr/>
          </a:p>
        </p:txBody>
      </p:sp>
      <p:sp>
        <p:nvSpPr>
          <p:cNvPr id="43" name="Text 39"/>
          <p:cNvSpPr/>
          <p:nvPr/>
        </p:nvSpPr>
        <p:spPr>
          <a:xfrm>
            <a:off x="6309360" y="3977640"/>
            <a:ext cx="2011680" cy="219456"/>
          </a:xfrm>
          <a:prstGeom prst="rect">
            <a:avLst/>
          </a:prstGeom>
          <a:noFill/>
          <a:ln/>
        </p:spPr>
        <p:txBody>
          <a:bodyPr wrap="square" lIns="27432" tIns="18288" rIns="27432" bIns="18288" rtlCol="0" anchor="ctr">
            <a:normAutofit/>
          </a:bodyPr>
          <a:lstStyle/>
          <a:p>
            <a:pPr marL="0" indent="0">
              <a:spcBef>
                <a:spcPts val="0"/>
              </a:spcBef>
              <a:spcAft>
                <a:spcPts val="120"/>
              </a:spcAft>
              <a:buNone/>
            </a:pPr>
            <a:r>
              <a:rPr lang="en-US" sz="900" b="1" dirty="0">
                <a:solidFill>
                  <a:srgbClr val="2F49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WHY IT’S HARD TODAY</a:t>
            </a:r>
            <a:endParaRPr lang="en-US" sz="900" dirty="0"/>
          </a:p>
        </p:txBody>
      </p:sp>
      <p:sp>
        <p:nvSpPr>
          <p:cNvPr id="44" name="Text 40"/>
          <p:cNvSpPr/>
          <p:nvPr/>
        </p:nvSpPr>
        <p:spPr>
          <a:xfrm>
            <a:off x="6007609" y="4480560"/>
            <a:ext cx="1402482" cy="795528"/>
          </a:xfrm>
          <a:prstGeom prst="rect">
            <a:avLst/>
          </a:prstGeom>
          <a:noFill/>
          <a:ln/>
        </p:spPr>
        <p:txBody>
          <a:bodyPr wrap="square" lIns="27432" tIns="18288" rIns="27432" bIns="18288" rtlCol="0" anchor="ctr">
            <a:normAutofit/>
          </a:bodyPr>
          <a:lstStyle/>
          <a:p>
            <a:pPr marL="0" indent="0" algn="ctr">
              <a:spcBef>
                <a:spcPts val="0"/>
              </a:spcBef>
              <a:spcAft>
                <a:spcPts val="120"/>
              </a:spcAft>
              <a:buNone/>
            </a:pPr>
            <a:r>
              <a:rPr lang="en-US" sz="780" b="1" dirty="0">
                <a:solidFill>
                  <a:srgbClr val="253B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Manual</a:t>
            </a:r>
            <a:endParaRPr lang="en-US" sz="780" dirty="0"/>
          </a:p>
          <a:p>
            <a:pPr marL="0" indent="0" algn="ctr">
              <a:spcBef>
                <a:spcPts val="0"/>
              </a:spcBef>
              <a:spcAft>
                <a:spcPts val="120"/>
              </a:spcAft>
              <a:buNone/>
            </a:pPr>
            <a:r>
              <a:rPr lang="en-US" sz="780" b="1" dirty="0">
                <a:solidFill>
                  <a:srgbClr val="253B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investigation</a:t>
            </a:r>
            <a:endParaRPr lang="en-US" sz="780" dirty="0"/>
          </a:p>
        </p:txBody>
      </p:sp>
      <p:sp>
        <p:nvSpPr>
          <p:cNvPr id="45" name="Text 41"/>
          <p:cNvSpPr/>
          <p:nvPr/>
        </p:nvSpPr>
        <p:spPr>
          <a:xfrm>
            <a:off x="7151298" y="4608576"/>
            <a:ext cx="1206318" cy="667512"/>
          </a:xfrm>
          <a:prstGeom prst="rect">
            <a:avLst/>
          </a:prstGeom>
          <a:noFill/>
          <a:ln/>
        </p:spPr>
        <p:txBody>
          <a:bodyPr wrap="square" lIns="27432" tIns="18288" rIns="27432" bIns="18288" rtlCol="0" anchor="ctr">
            <a:normAutofit/>
          </a:bodyPr>
          <a:lstStyle/>
          <a:p>
            <a:pPr marL="0" indent="0" algn="ctr">
              <a:spcBef>
                <a:spcPts val="0"/>
              </a:spcBef>
              <a:spcAft>
                <a:spcPts val="120"/>
              </a:spcAft>
              <a:buNone/>
            </a:pPr>
            <a:r>
              <a:rPr lang="en-US" sz="780" b="1" dirty="0">
                <a:solidFill>
                  <a:srgbClr val="253B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Multiple</a:t>
            </a:r>
            <a:endParaRPr lang="en-US" sz="780" dirty="0"/>
          </a:p>
          <a:p>
            <a:pPr marL="0" indent="0" algn="ctr">
              <a:spcBef>
                <a:spcPts val="0"/>
              </a:spcBef>
              <a:spcAft>
                <a:spcPts val="120"/>
              </a:spcAft>
              <a:buNone/>
            </a:pPr>
            <a:r>
              <a:rPr lang="en-US" sz="780" b="1" dirty="0">
                <a:solidFill>
                  <a:srgbClr val="253B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</a:t>
            </a:r>
            <a:endParaRPr lang="en-US" sz="780" dirty="0"/>
          </a:p>
          <a:p>
            <a:pPr marL="0" indent="0" algn="ctr">
              <a:spcBef>
                <a:spcPts val="0"/>
              </a:spcBef>
              <a:spcAft>
                <a:spcPts val="120"/>
              </a:spcAft>
              <a:buNone/>
            </a:pPr>
            <a:r>
              <a:rPr lang="en-US" sz="780" b="1" dirty="0">
                <a:solidFill>
                  <a:srgbClr val="253B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sources</a:t>
            </a:r>
            <a:endParaRPr lang="en-US" sz="780" dirty="0"/>
          </a:p>
        </p:txBody>
      </p:sp>
      <p:sp>
        <p:nvSpPr>
          <p:cNvPr id="46" name="Text 42"/>
          <p:cNvSpPr/>
          <p:nvPr/>
        </p:nvSpPr>
        <p:spPr>
          <a:xfrm>
            <a:off x="8058971" y="4457700"/>
            <a:ext cx="1308453" cy="905256"/>
          </a:xfrm>
          <a:prstGeom prst="rect">
            <a:avLst/>
          </a:prstGeom>
          <a:noFill/>
          <a:ln/>
        </p:spPr>
        <p:txBody>
          <a:bodyPr wrap="square" lIns="27432" tIns="18288" rIns="27432" bIns="18288" rtlCol="0" anchor="ctr">
            <a:normAutofit/>
          </a:bodyPr>
          <a:lstStyle/>
          <a:p>
            <a:pPr marL="0" indent="0" algn="ctr">
              <a:spcBef>
                <a:spcPts val="0"/>
              </a:spcBef>
              <a:spcAft>
                <a:spcPts val="120"/>
              </a:spcAft>
              <a:buNone/>
            </a:pPr>
            <a:r>
              <a:rPr lang="en-US" sz="780" b="1" dirty="0">
                <a:solidFill>
                  <a:srgbClr val="253B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Slow</a:t>
            </a:r>
            <a:endParaRPr lang="en-US" sz="780" dirty="0"/>
          </a:p>
          <a:p>
            <a:pPr marL="0" indent="0" algn="ctr">
              <a:spcBef>
                <a:spcPts val="0"/>
              </a:spcBef>
              <a:spcAft>
                <a:spcPts val="120"/>
              </a:spcAft>
              <a:buNone/>
            </a:pPr>
            <a:r>
              <a:rPr lang="en-US" sz="780" b="1" dirty="0">
                <a:solidFill>
                  <a:srgbClr val="253B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resolution</a:t>
            </a:r>
            <a:endParaRPr lang="en-US" sz="780" dirty="0"/>
          </a:p>
        </p:txBody>
      </p:sp>
      <p:sp>
        <p:nvSpPr>
          <p:cNvPr id="47" name="Text 43"/>
          <p:cNvSpPr/>
          <p:nvPr/>
        </p:nvSpPr>
        <p:spPr>
          <a:xfrm>
            <a:off x="8971387" y="4457700"/>
            <a:ext cx="1308452" cy="818647"/>
          </a:xfrm>
          <a:prstGeom prst="rect">
            <a:avLst/>
          </a:prstGeom>
          <a:noFill/>
          <a:ln/>
        </p:spPr>
        <p:txBody>
          <a:bodyPr wrap="square" lIns="27432" tIns="18288" rIns="27432" bIns="18288" rtlCol="0" anchor="ctr">
            <a:normAutofit/>
          </a:bodyPr>
          <a:lstStyle/>
          <a:p>
            <a:pPr marL="0" indent="0" algn="ctr">
              <a:spcBef>
                <a:spcPts val="0"/>
              </a:spcBef>
              <a:spcAft>
                <a:spcPts val="120"/>
              </a:spcAft>
              <a:buNone/>
            </a:pPr>
            <a:r>
              <a:rPr lang="en-US" sz="780" b="1" dirty="0">
                <a:solidFill>
                  <a:srgbClr val="1C6A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Human</a:t>
            </a:r>
            <a:endParaRPr lang="en-US" sz="780" dirty="0"/>
          </a:p>
          <a:p>
            <a:pPr marL="0" indent="0" algn="ctr">
              <a:spcBef>
                <a:spcPts val="0"/>
              </a:spcBef>
              <a:spcAft>
                <a:spcPts val="120"/>
              </a:spcAft>
              <a:buNone/>
            </a:pPr>
            <a:r>
              <a:rPr lang="en-US" sz="780" b="1" dirty="0">
                <a:solidFill>
                  <a:srgbClr val="1C6A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error</a:t>
            </a:r>
            <a:endParaRPr lang="en-US" sz="780" dirty="0"/>
          </a:p>
        </p:txBody>
      </p:sp>
      <p:sp>
        <p:nvSpPr>
          <p:cNvPr id="48" name="Text 44"/>
          <p:cNvSpPr/>
          <p:nvPr/>
        </p:nvSpPr>
        <p:spPr>
          <a:xfrm>
            <a:off x="10405872" y="4709160"/>
            <a:ext cx="804672" cy="457200"/>
          </a:xfrm>
          <a:prstGeom prst="rect">
            <a:avLst/>
          </a:prstGeom>
          <a:noFill/>
          <a:ln/>
        </p:spPr>
        <p:txBody>
          <a:bodyPr wrap="square" lIns="27432" tIns="18288" rIns="27432" bIns="18288" rtlCol="0" anchor="ctr">
            <a:normAutofit/>
          </a:bodyPr>
          <a:lstStyle/>
          <a:p>
            <a:pPr marL="0" indent="0" algn="ctr">
              <a:spcBef>
                <a:spcPts val="0"/>
              </a:spcBef>
              <a:spcAft>
                <a:spcPts val="120"/>
              </a:spcAft>
              <a:buNone/>
            </a:pPr>
            <a:r>
              <a:rPr lang="en-US" sz="780" b="1" dirty="0">
                <a:solidFill>
                  <a:srgbClr val="253B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Difficult</a:t>
            </a:r>
            <a:endParaRPr lang="en-US" sz="780" dirty="0"/>
          </a:p>
          <a:p>
            <a:pPr marL="0" indent="0" algn="ctr">
              <a:spcBef>
                <a:spcPts val="0"/>
              </a:spcBef>
              <a:spcAft>
                <a:spcPts val="120"/>
              </a:spcAft>
              <a:buNone/>
            </a:pPr>
            <a:r>
              <a:rPr lang="en-US" sz="780" b="1" dirty="0">
                <a:solidFill>
                  <a:srgbClr val="253B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explanations</a:t>
            </a:r>
            <a:endParaRPr lang="en-US" sz="780" dirty="0"/>
          </a:p>
        </p:txBody>
      </p:sp>
      <p:sp>
        <p:nvSpPr>
          <p:cNvPr id="49" name="Text 45"/>
          <p:cNvSpPr/>
          <p:nvPr/>
        </p:nvSpPr>
        <p:spPr>
          <a:xfrm>
            <a:off x="347472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27432" tIns="18288" rIns="27432" bIns="18288" rtlCol="0" anchor="ctr">
            <a:normAutofit/>
          </a:bodyPr>
          <a:lstStyle/>
          <a:p>
            <a:pPr marL="0" indent="0">
              <a:spcBef>
                <a:spcPts val="0"/>
              </a:spcBef>
              <a:spcAft>
                <a:spcPts val="120"/>
              </a:spcAft>
              <a:buNone/>
            </a:pPr>
            <a:r>
              <a:rPr lang="en-US" sz="700" b="1" dirty="0">
                <a:solidFill>
                  <a:srgbClr val="2F49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MONEYMATCH.AI</a:t>
            </a:r>
            <a:endParaRPr lang="en-US" sz="700" dirty="0"/>
          </a:p>
        </p:txBody>
      </p:sp>
      <p:sp>
        <p:nvSpPr>
          <p:cNvPr id="50" name="Text 46"/>
          <p:cNvSpPr/>
          <p:nvPr/>
        </p:nvSpPr>
        <p:spPr>
          <a:xfrm>
            <a:off x="9144000" y="6473952"/>
            <a:ext cx="2560320" cy="228600"/>
          </a:xfrm>
          <a:prstGeom prst="rect">
            <a:avLst/>
          </a:prstGeom>
          <a:noFill/>
          <a:ln/>
        </p:spPr>
        <p:txBody>
          <a:bodyPr wrap="square" lIns="27432" tIns="18288" rIns="27432" bIns="18288" rtlCol="0" anchor="ctr">
            <a:normAutofit/>
          </a:bodyPr>
          <a:lstStyle/>
          <a:p>
            <a:pPr marL="0" indent="0">
              <a:spcBef>
                <a:spcPts val="0"/>
              </a:spcBef>
              <a:spcAft>
                <a:spcPts val="120"/>
              </a:spcAft>
              <a:buNone/>
            </a:pPr>
            <a:r>
              <a:rPr lang="en-US" sz="700" b="1" dirty="0">
                <a:solidFill>
                  <a:srgbClr val="2F49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Trace. Diagnose. Explain. Resolve.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ED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>
            <a:alphaModFix amt="90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35240" y="-73152"/>
            <a:ext cx="4754880" cy="25146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>
            <a:alphaModFix amt="82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-685800" y="4983480"/>
            <a:ext cx="4297680" cy="224028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2743200" y="411480"/>
            <a:ext cx="6492240" cy="914400"/>
          </a:xfrm>
          <a:prstGeom prst="rect">
            <a:avLst/>
          </a:prstGeom>
          <a:noFill/>
          <a:ln/>
        </p:spPr>
        <p:txBody>
          <a:bodyPr wrap="square" lIns="27432" tIns="18288" rIns="27432" bIns="18288" rtlCol="0" anchor="ctr">
            <a:normAutofit/>
          </a:bodyPr>
          <a:lstStyle/>
          <a:p>
            <a:pPr marL="0" indent="0">
              <a:spcBef>
                <a:spcPts val="0"/>
              </a:spcBef>
              <a:spcAft>
                <a:spcPts val="120"/>
              </a:spcAft>
              <a:buNone/>
            </a:pPr>
            <a:r>
              <a:rPr lang="en-US" sz="3600" b="1" dirty="0">
                <a:solidFill>
                  <a:srgbClr val="2F492A"/>
                </a:solidFill>
                <a:latin typeface="Cooper Black" pitchFamily="34" charset="0"/>
                <a:ea typeface="Cooper Black" pitchFamily="34" charset="-122"/>
                <a:cs typeface="Cooper Black" pitchFamily="34" charset="-120"/>
              </a:rPr>
              <a:t>One Transaction ID →</a:t>
            </a:r>
            <a:endParaRPr lang="en-US" sz="3600" dirty="0"/>
          </a:p>
          <a:p>
            <a:pPr marL="0" indent="0">
              <a:spcBef>
                <a:spcPts val="0"/>
              </a:spcBef>
              <a:spcAft>
                <a:spcPts val="120"/>
              </a:spcAft>
              <a:buNone/>
            </a:pPr>
            <a:r>
              <a:rPr lang="en-US" sz="3600" b="1" dirty="0">
                <a:solidFill>
                  <a:srgbClr val="2F492A"/>
                </a:solidFill>
                <a:latin typeface="Cooper Black" pitchFamily="34" charset="0"/>
                <a:ea typeface="Cooper Black" pitchFamily="34" charset="-122"/>
                <a:cs typeface="Cooper Black" pitchFamily="34" charset="-120"/>
              </a:rPr>
              <a:t>One Automated Investigation</a:t>
            </a:r>
            <a:endParaRPr lang="en-US" sz="3600" dirty="0"/>
          </a:p>
        </p:txBody>
      </p:sp>
      <p:sp>
        <p:nvSpPr>
          <p:cNvPr id="5" name="Text 1"/>
          <p:cNvSpPr/>
          <p:nvPr/>
        </p:nvSpPr>
        <p:spPr>
          <a:xfrm>
            <a:off x="2740325" y="1760220"/>
            <a:ext cx="5120640" cy="320040"/>
          </a:xfrm>
          <a:prstGeom prst="rect">
            <a:avLst/>
          </a:prstGeom>
          <a:noFill/>
          <a:ln/>
        </p:spPr>
        <p:txBody>
          <a:bodyPr wrap="square" lIns="27432" tIns="18288" rIns="27432" bIns="18288" rtlCol="0" anchor="t">
            <a:normAutofit/>
          </a:bodyPr>
          <a:lstStyle/>
          <a:p>
            <a:endParaRPr sz="1500" b="1" dirty="0">
              <a:solidFill>
                <a:srgbClr val="253B22"/>
              </a:solidFill>
            </a:endParaRPr>
          </a:p>
        </p:txBody>
      </p:sp>
      <p:sp>
        <p:nvSpPr>
          <p:cNvPr id="6" name="Text 2"/>
          <p:cNvSpPr/>
          <p:nvPr/>
        </p:nvSpPr>
        <p:spPr>
          <a:xfrm>
            <a:off x="4800600" y="1508760"/>
            <a:ext cx="1097280" cy="320040"/>
          </a:xfrm>
          <a:prstGeom prst="rect">
            <a:avLst/>
          </a:prstGeom>
          <a:noFill/>
          <a:ln/>
        </p:spPr>
        <p:txBody>
          <a:bodyPr wrap="square" lIns="27432" tIns="18288" rIns="27432" bIns="18288" rtlCol="0" anchor="t">
            <a:normAutofit/>
          </a:bodyPr>
          <a:lstStyle/>
          <a:p>
            <a:endParaRPr/>
          </a:p>
        </p:txBody>
      </p:sp>
      <p:sp>
        <p:nvSpPr>
          <p:cNvPr id="7" name="Shape 3"/>
          <p:cNvSpPr/>
          <p:nvPr/>
        </p:nvSpPr>
        <p:spPr>
          <a:xfrm>
            <a:off x="502920" y="1627632"/>
            <a:ext cx="1920240" cy="384048"/>
          </a:xfrm>
          <a:prstGeom prst="roundRect">
            <a:avLst>
              <a:gd name="adj" fmla="val 28571"/>
            </a:avLst>
          </a:prstGeom>
          <a:solidFill>
            <a:srgbClr val="FBF8E8"/>
          </a:solidFill>
          <a:ln w="15240">
            <a:solidFill>
              <a:srgbClr val="CBDABF"/>
            </a:solidFill>
            <a:prstDash val="solid"/>
          </a:ln>
        </p:spPr>
        <p:txBody>
          <a:bodyPr lIns="27432" tIns="18288" rIns="27432" bIns="18288"/>
          <a:lstStyle/>
          <a:p>
            <a:pPr>
              <a:spcBef>
                <a:spcPts val="0"/>
              </a:spcBef>
              <a:spcAft>
                <a:spcPts val="120"/>
              </a:spcAft>
            </a:pPr>
            <a:endParaRPr/>
          </a:p>
        </p:txBody>
      </p:sp>
      <p:sp>
        <p:nvSpPr>
          <p:cNvPr id="8" name="Text 4"/>
          <p:cNvSpPr/>
          <p:nvPr/>
        </p:nvSpPr>
        <p:spPr>
          <a:xfrm>
            <a:off x="786384" y="1682496"/>
            <a:ext cx="1417320" cy="274320"/>
          </a:xfrm>
          <a:prstGeom prst="rect">
            <a:avLst/>
          </a:prstGeom>
          <a:noFill/>
          <a:ln/>
        </p:spPr>
        <p:txBody>
          <a:bodyPr wrap="square" lIns="27432" tIns="18288" rIns="27432" bIns="18288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120"/>
              </a:spcAft>
              <a:buNone/>
            </a:pPr>
            <a:r>
              <a:rPr lang="en-US" sz="710" b="1" dirty="0">
                <a:solidFill>
                  <a:srgbClr val="253B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Transaction</a:t>
            </a:r>
            <a:endParaRPr lang="en-US" sz="710" dirty="0"/>
          </a:p>
          <a:p>
            <a:pPr marL="0" indent="0" algn="l">
              <a:spcBef>
                <a:spcPts val="0"/>
              </a:spcBef>
              <a:spcAft>
                <a:spcPts val="120"/>
              </a:spcAft>
              <a:buNone/>
            </a:pPr>
            <a:r>
              <a:rPr lang="en-US" sz="710" b="1" dirty="0">
                <a:solidFill>
                  <a:srgbClr val="253B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ID</a:t>
            </a:r>
            <a:endParaRPr lang="en-US" sz="710" dirty="0"/>
          </a:p>
        </p:txBody>
      </p:sp>
      <p:sp>
        <p:nvSpPr>
          <p:cNvPr id="9" name="Text 5"/>
          <p:cNvSpPr/>
          <p:nvPr/>
        </p:nvSpPr>
        <p:spPr>
          <a:xfrm>
            <a:off x="576072" y="1664208"/>
            <a:ext cx="201168" cy="246888"/>
          </a:xfrm>
          <a:prstGeom prst="rect">
            <a:avLst/>
          </a:prstGeom>
          <a:noFill/>
          <a:ln/>
        </p:spPr>
        <p:txBody>
          <a:bodyPr wrap="square" lIns="27432" tIns="18288" rIns="27432" bIns="18288" rtlCol="0" anchor="t">
            <a:normAutofit/>
          </a:bodyPr>
          <a:lstStyle/>
          <a:p>
            <a:pPr marL="0" indent="0" algn="ctr">
              <a:spcBef>
                <a:spcPts val="0"/>
              </a:spcBef>
              <a:spcAft>
                <a:spcPts val="120"/>
              </a:spcAft>
              <a:buNone/>
            </a:pPr>
            <a:r>
              <a:rPr lang="en-US" sz="1100" b="1" dirty="0">
                <a:solidFill>
                  <a:srgbClr val="2F49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▣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676656" y="2020824"/>
            <a:ext cx="0" cy="82296"/>
          </a:xfrm>
          <a:prstGeom prst="line">
            <a:avLst/>
          </a:prstGeom>
          <a:noFill/>
          <a:ln w="15240">
            <a:solidFill>
              <a:srgbClr val="CBDABF"/>
            </a:solidFill>
            <a:prstDash val="solid"/>
            <a:headEnd type="none"/>
            <a:tailEnd type="triangle"/>
          </a:ln>
        </p:spPr>
        <p:txBody>
          <a:bodyPr lIns="27432" tIns="18288" rIns="27432" bIns="18288"/>
          <a:lstStyle/>
          <a:p>
            <a:pPr>
              <a:spcBef>
                <a:spcPts val="0"/>
              </a:spcBef>
              <a:spcAft>
                <a:spcPts val="120"/>
              </a:spcAft>
            </a:pPr>
            <a:endParaRPr/>
          </a:p>
        </p:txBody>
      </p:sp>
      <p:sp>
        <p:nvSpPr>
          <p:cNvPr id="11" name="Shape 7"/>
          <p:cNvSpPr/>
          <p:nvPr/>
        </p:nvSpPr>
        <p:spPr>
          <a:xfrm>
            <a:off x="502920" y="2139696"/>
            <a:ext cx="1920240" cy="384048"/>
          </a:xfrm>
          <a:prstGeom prst="roundRect">
            <a:avLst>
              <a:gd name="adj" fmla="val 28571"/>
            </a:avLst>
          </a:prstGeom>
          <a:solidFill>
            <a:srgbClr val="FBF8E8"/>
          </a:solidFill>
          <a:ln w="15240">
            <a:solidFill>
              <a:srgbClr val="CBDABF"/>
            </a:solidFill>
            <a:prstDash val="solid"/>
          </a:ln>
        </p:spPr>
        <p:txBody>
          <a:bodyPr lIns="27432" tIns="18288" rIns="27432" bIns="18288"/>
          <a:lstStyle/>
          <a:p>
            <a:pPr>
              <a:spcBef>
                <a:spcPts val="0"/>
              </a:spcBef>
              <a:spcAft>
                <a:spcPts val="120"/>
              </a:spcAft>
            </a:pPr>
            <a:endParaRPr/>
          </a:p>
        </p:txBody>
      </p:sp>
      <p:sp>
        <p:nvSpPr>
          <p:cNvPr id="12" name="Text 8"/>
          <p:cNvSpPr/>
          <p:nvPr/>
        </p:nvSpPr>
        <p:spPr>
          <a:xfrm>
            <a:off x="786384" y="2194560"/>
            <a:ext cx="1417320" cy="274320"/>
          </a:xfrm>
          <a:prstGeom prst="rect">
            <a:avLst/>
          </a:prstGeom>
          <a:noFill/>
          <a:ln/>
        </p:spPr>
        <p:txBody>
          <a:bodyPr wrap="square" lIns="27432" tIns="18288" rIns="27432" bIns="18288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120"/>
              </a:spcAft>
              <a:buNone/>
            </a:pPr>
            <a:r>
              <a:rPr lang="en-US" sz="710" b="1" dirty="0">
                <a:solidFill>
                  <a:srgbClr val="253B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Trace Gateway</a:t>
            </a:r>
            <a:endParaRPr lang="en-US" sz="710" dirty="0"/>
          </a:p>
        </p:txBody>
      </p:sp>
      <p:sp>
        <p:nvSpPr>
          <p:cNvPr id="13" name="Text 9"/>
          <p:cNvSpPr/>
          <p:nvPr/>
        </p:nvSpPr>
        <p:spPr>
          <a:xfrm>
            <a:off x="576072" y="2176272"/>
            <a:ext cx="201168" cy="246888"/>
          </a:xfrm>
          <a:prstGeom prst="rect">
            <a:avLst/>
          </a:prstGeom>
          <a:noFill/>
          <a:ln/>
        </p:spPr>
        <p:txBody>
          <a:bodyPr wrap="square" lIns="27432" tIns="18288" rIns="27432" bIns="18288" rtlCol="0" anchor="t">
            <a:normAutofit/>
          </a:bodyPr>
          <a:lstStyle/>
          <a:p>
            <a:pPr marL="0" indent="0" algn="ctr">
              <a:spcBef>
                <a:spcPts val="0"/>
              </a:spcBef>
              <a:spcAft>
                <a:spcPts val="120"/>
              </a:spcAft>
              <a:buNone/>
            </a:pPr>
            <a:r>
              <a:rPr lang="en-US" sz="1100" b="1" dirty="0">
                <a:solidFill>
                  <a:srgbClr val="2F49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76656" y="2532888"/>
            <a:ext cx="0" cy="82296"/>
          </a:xfrm>
          <a:prstGeom prst="line">
            <a:avLst/>
          </a:prstGeom>
          <a:noFill/>
          <a:ln w="15240">
            <a:solidFill>
              <a:srgbClr val="CBDABF"/>
            </a:solidFill>
            <a:prstDash val="solid"/>
            <a:headEnd type="none"/>
            <a:tailEnd type="triangle"/>
          </a:ln>
        </p:spPr>
        <p:txBody>
          <a:bodyPr lIns="27432" tIns="18288" rIns="27432" bIns="18288"/>
          <a:lstStyle/>
          <a:p>
            <a:pPr>
              <a:spcBef>
                <a:spcPts val="0"/>
              </a:spcBef>
              <a:spcAft>
                <a:spcPts val="120"/>
              </a:spcAft>
            </a:pPr>
            <a:endParaRPr/>
          </a:p>
        </p:txBody>
      </p:sp>
      <p:sp>
        <p:nvSpPr>
          <p:cNvPr id="15" name="Shape 11"/>
          <p:cNvSpPr/>
          <p:nvPr/>
        </p:nvSpPr>
        <p:spPr>
          <a:xfrm>
            <a:off x="502920" y="2651760"/>
            <a:ext cx="1920240" cy="384048"/>
          </a:xfrm>
          <a:prstGeom prst="roundRect">
            <a:avLst>
              <a:gd name="adj" fmla="val 28571"/>
            </a:avLst>
          </a:prstGeom>
          <a:solidFill>
            <a:srgbClr val="FBF8E8"/>
          </a:solidFill>
          <a:ln w="15240">
            <a:solidFill>
              <a:srgbClr val="CBDABF"/>
            </a:solidFill>
            <a:prstDash val="solid"/>
          </a:ln>
        </p:spPr>
        <p:txBody>
          <a:bodyPr lIns="27432" tIns="18288" rIns="27432" bIns="18288"/>
          <a:lstStyle/>
          <a:p>
            <a:pPr>
              <a:spcBef>
                <a:spcPts val="0"/>
              </a:spcBef>
              <a:spcAft>
                <a:spcPts val="120"/>
              </a:spcAft>
            </a:pPr>
            <a:endParaRPr/>
          </a:p>
        </p:txBody>
      </p:sp>
      <p:sp>
        <p:nvSpPr>
          <p:cNvPr id="16" name="Text 12"/>
          <p:cNvSpPr/>
          <p:nvPr/>
        </p:nvSpPr>
        <p:spPr>
          <a:xfrm>
            <a:off x="786384" y="2706624"/>
            <a:ext cx="1417320" cy="274320"/>
          </a:xfrm>
          <a:prstGeom prst="rect">
            <a:avLst/>
          </a:prstGeom>
          <a:noFill/>
          <a:ln/>
        </p:spPr>
        <p:txBody>
          <a:bodyPr wrap="square" lIns="27432" tIns="18288" rIns="27432" bIns="18288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120"/>
              </a:spcAft>
              <a:buNone/>
            </a:pPr>
            <a:r>
              <a:rPr lang="en-US" sz="710" b="1" dirty="0">
                <a:solidFill>
                  <a:srgbClr val="253B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Trace Bank</a:t>
            </a:r>
            <a:endParaRPr lang="en-US" sz="710" dirty="0"/>
          </a:p>
        </p:txBody>
      </p:sp>
      <p:sp>
        <p:nvSpPr>
          <p:cNvPr id="17" name="Text 13"/>
          <p:cNvSpPr/>
          <p:nvPr/>
        </p:nvSpPr>
        <p:spPr>
          <a:xfrm>
            <a:off x="576072" y="2688336"/>
            <a:ext cx="201168" cy="246888"/>
          </a:xfrm>
          <a:prstGeom prst="rect">
            <a:avLst/>
          </a:prstGeom>
          <a:noFill/>
          <a:ln/>
        </p:spPr>
        <p:txBody>
          <a:bodyPr wrap="square" lIns="27432" tIns="18288" rIns="27432" bIns="18288" rtlCol="0" anchor="t">
            <a:normAutofit/>
          </a:bodyPr>
          <a:lstStyle/>
          <a:p>
            <a:pPr marL="0" indent="0" algn="ctr">
              <a:spcBef>
                <a:spcPts val="0"/>
              </a:spcBef>
              <a:spcAft>
                <a:spcPts val="120"/>
              </a:spcAft>
              <a:buNone/>
            </a:pPr>
            <a:r>
              <a:rPr lang="en-US" sz="1100" b="1" dirty="0">
                <a:solidFill>
                  <a:srgbClr val="2F49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▦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676656" y="3044952"/>
            <a:ext cx="0" cy="82296"/>
          </a:xfrm>
          <a:prstGeom prst="line">
            <a:avLst/>
          </a:prstGeom>
          <a:noFill/>
          <a:ln w="15240">
            <a:solidFill>
              <a:srgbClr val="CBDABF"/>
            </a:solidFill>
            <a:prstDash val="solid"/>
            <a:headEnd type="none"/>
            <a:tailEnd type="triangle"/>
          </a:ln>
        </p:spPr>
        <p:txBody>
          <a:bodyPr lIns="27432" tIns="18288" rIns="27432" bIns="18288"/>
          <a:lstStyle/>
          <a:p>
            <a:pPr>
              <a:spcBef>
                <a:spcPts val="0"/>
              </a:spcBef>
              <a:spcAft>
                <a:spcPts val="120"/>
              </a:spcAft>
            </a:pPr>
            <a:endParaRPr/>
          </a:p>
        </p:txBody>
      </p:sp>
      <p:sp>
        <p:nvSpPr>
          <p:cNvPr id="19" name="Shape 15"/>
          <p:cNvSpPr/>
          <p:nvPr/>
        </p:nvSpPr>
        <p:spPr>
          <a:xfrm>
            <a:off x="502920" y="3163824"/>
            <a:ext cx="1920240" cy="384048"/>
          </a:xfrm>
          <a:prstGeom prst="roundRect">
            <a:avLst>
              <a:gd name="adj" fmla="val 28571"/>
            </a:avLst>
          </a:prstGeom>
          <a:solidFill>
            <a:srgbClr val="FBF8E8"/>
          </a:solidFill>
          <a:ln w="15240">
            <a:solidFill>
              <a:srgbClr val="CBDABF"/>
            </a:solidFill>
            <a:prstDash val="solid"/>
          </a:ln>
        </p:spPr>
        <p:txBody>
          <a:bodyPr lIns="27432" tIns="18288" rIns="27432" bIns="18288"/>
          <a:lstStyle/>
          <a:p>
            <a:pPr>
              <a:spcBef>
                <a:spcPts val="0"/>
              </a:spcBef>
              <a:spcAft>
                <a:spcPts val="120"/>
              </a:spcAft>
            </a:pPr>
            <a:endParaRPr/>
          </a:p>
        </p:txBody>
      </p:sp>
      <p:sp>
        <p:nvSpPr>
          <p:cNvPr id="20" name="Text 16"/>
          <p:cNvSpPr/>
          <p:nvPr/>
        </p:nvSpPr>
        <p:spPr>
          <a:xfrm>
            <a:off x="786384" y="3218688"/>
            <a:ext cx="1417320" cy="274320"/>
          </a:xfrm>
          <a:prstGeom prst="rect">
            <a:avLst/>
          </a:prstGeom>
          <a:noFill/>
          <a:ln/>
        </p:spPr>
        <p:txBody>
          <a:bodyPr wrap="square" lIns="27432" tIns="18288" rIns="27432" bIns="18288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120"/>
              </a:spcAft>
              <a:buNone/>
            </a:pPr>
            <a:r>
              <a:rPr lang="en-US" sz="710" b="1" dirty="0">
                <a:solidFill>
                  <a:srgbClr val="253B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Check Internal Ledger</a:t>
            </a:r>
            <a:endParaRPr lang="en-US" sz="710" dirty="0"/>
          </a:p>
        </p:txBody>
      </p:sp>
      <p:sp>
        <p:nvSpPr>
          <p:cNvPr id="21" name="Text 17"/>
          <p:cNvSpPr/>
          <p:nvPr/>
        </p:nvSpPr>
        <p:spPr>
          <a:xfrm>
            <a:off x="576072" y="3200400"/>
            <a:ext cx="201168" cy="246888"/>
          </a:xfrm>
          <a:prstGeom prst="rect">
            <a:avLst/>
          </a:prstGeom>
          <a:noFill/>
          <a:ln/>
        </p:spPr>
        <p:txBody>
          <a:bodyPr wrap="square" lIns="27432" tIns="18288" rIns="27432" bIns="18288" rtlCol="0" anchor="t">
            <a:normAutofit/>
          </a:bodyPr>
          <a:lstStyle/>
          <a:p>
            <a:pPr marL="0" indent="0" algn="ctr">
              <a:spcBef>
                <a:spcPts val="0"/>
              </a:spcBef>
              <a:spcAft>
                <a:spcPts val="120"/>
              </a:spcAft>
              <a:buNone/>
            </a:pPr>
            <a:r>
              <a:rPr lang="en-US" sz="1100" b="1" dirty="0">
                <a:solidFill>
                  <a:srgbClr val="2F49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▤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676656" y="3557016"/>
            <a:ext cx="0" cy="82296"/>
          </a:xfrm>
          <a:prstGeom prst="line">
            <a:avLst/>
          </a:prstGeom>
          <a:noFill/>
          <a:ln w="15240">
            <a:solidFill>
              <a:srgbClr val="CBDABF"/>
            </a:solidFill>
            <a:prstDash val="solid"/>
            <a:headEnd type="none"/>
            <a:tailEnd type="triangle"/>
          </a:ln>
        </p:spPr>
        <p:txBody>
          <a:bodyPr lIns="27432" tIns="18288" rIns="27432" bIns="18288"/>
          <a:lstStyle/>
          <a:p>
            <a:pPr>
              <a:spcBef>
                <a:spcPts val="0"/>
              </a:spcBef>
              <a:spcAft>
                <a:spcPts val="120"/>
              </a:spcAft>
            </a:pPr>
            <a:endParaRPr/>
          </a:p>
        </p:txBody>
      </p:sp>
      <p:sp>
        <p:nvSpPr>
          <p:cNvPr id="23" name="Shape 19"/>
          <p:cNvSpPr/>
          <p:nvPr/>
        </p:nvSpPr>
        <p:spPr>
          <a:xfrm>
            <a:off x="502920" y="3675888"/>
            <a:ext cx="1920240" cy="384048"/>
          </a:xfrm>
          <a:prstGeom prst="roundRect">
            <a:avLst>
              <a:gd name="adj" fmla="val 28571"/>
            </a:avLst>
          </a:prstGeom>
          <a:solidFill>
            <a:srgbClr val="FBF8E8"/>
          </a:solidFill>
          <a:ln w="15240">
            <a:solidFill>
              <a:srgbClr val="CBDABF"/>
            </a:solidFill>
            <a:prstDash val="solid"/>
          </a:ln>
        </p:spPr>
        <p:txBody>
          <a:bodyPr lIns="27432" tIns="18288" rIns="27432" bIns="18288"/>
          <a:lstStyle/>
          <a:p>
            <a:pPr>
              <a:spcBef>
                <a:spcPts val="0"/>
              </a:spcBef>
              <a:spcAft>
                <a:spcPts val="120"/>
              </a:spcAft>
            </a:pPr>
            <a:endParaRPr/>
          </a:p>
        </p:txBody>
      </p:sp>
      <p:sp>
        <p:nvSpPr>
          <p:cNvPr id="24" name="Text 20"/>
          <p:cNvSpPr/>
          <p:nvPr/>
        </p:nvSpPr>
        <p:spPr>
          <a:xfrm>
            <a:off x="786384" y="3730752"/>
            <a:ext cx="1417320" cy="274320"/>
          </a:xfrm>
          <a:prstGeom prst="rect">
            <a:avLst/>
          </a:prstGeom>
          <a:noFill/>
          <a:ln/>
        </p:spPr>
        <p:txBody>
          <a:bodyPr wrap="square" lIns="27432" tIns="18288" rIns="27432" bIns="18288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120"/>
              </a:spcAft>
              <a:buNone/>
            </a:pPr>
            <a:r>
              <a:rPr lang="en-US" sz="710" b="1" dirty="0">
                <a:solidFill>
                  <a:srgbClr val="253B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Compare Records</a:t>
            </a:r>
            <a:endParaRPr lang="en-US" sz="710" dirty="0"/>
          </a:p>
        </p:txBody>
      </p:sp>
      <p:sp>
        <p:nvSpPr>
          <p:cNvPr id="25" name="Text 21"/>
          <p:cNvSpPr/>
          <p:nvPr/>
        </p:nvSpPr>
        <p:spPr>
          <a:xfrm>
            <a:off x="576072" y="3712464"/>
            <a:ext cx="201168" cy="246888"/>
          </a:xfrm>
          <a:prstGeom prst="rect">
            <a:avLst/>
          </a:prstGeom>
          <a:noFill/>
          <a:ln/>
        </p:spPr>
        <p:txBody>
          <a:bodyPr wrap="square" lIns="27432" tIns="18288" rIns="27432" bIns="18288" rtlCol="0" anchor="t">
            <a:normAutofit/>
          </a:bodyPr>
          <a:lstStyle/>
          <a:p>
            <a:pPr marL="0" indent="0" algn="ctr">
              <a:spcBef>
                <a:spcPts val="0"/>
              </a:spcBef>
              <a:spcAft>
                <a:spcPts val="120"/>
              </a:spcAft>
              <a:buNone/>
            </a:pPr>
            <a:r>
              <a:rPr lang="en-US" sz="1100" b="1" dirty="0">
                <a:solidFill>
                  <a:srgbClr val="2F49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≋</a:t>
            </a:r>
            <a:endParaRPr lang="en-US" sz="1100" dirty="0"/>
          </a:p>
        </p:txBody>
      </p:sp>
      <p:sp>
        <p:nvSpPr>
          <p:cNvPr id="26" name="Shape 22"/>
          <p:cNvSpPr/>
          <p:nvPr/>
        </p:nvSpPr>
        <p:spPr>
          <a:xfrm>
            <a:off x="676656" y="4069080"/>
            <a:ext cx="0" cy="82296"/>
          </a:xfrm>
          <a:prstGeom prst="line">
            <a:avLst/>
          </a:prstGeom>
          <a:noFill/>
          <a:ln w="15240">
            <a:solidFill>
              <a:srgbClr val="CBDABF"/>
            </a:solidFill>
            <a:prstDash val="solid"/>
            <a:headEnd type="none"/>
            <a:tailEnd type="triangle"/>
          </a:ln>
        </p:spPr>
        <p:txBody>
          <a:bodyPr lIns="27432" tIns="18288" rIns="27432" bIns="18288"/>
          <a:lstStyle/>
          <a:p>
            <a:pPr>
              <a:spcBef>
                <a:spcPts val="0"/>
              </a:spcBef>
              <a:spcAft>
                <a:spcPts val="120"/>
              </a:spcAft>
            </a:pPr>
            <a:endParaRPr/>
          </a:p>
        </p:txBody>
      </p:sp>
      <p:sp>
        <p:nvSpPr>
          <p:cNvPr id="27" name="Shape 23"/>
          <p:cNvSpPr/>
          <p:nvPr/>
        </p:nvSpPr>
        <p:spPr>
          <a:xfrm>
            <a:off x="502920" y="4187952"/>
            <a:ext cx="1920240" cy="384048"/>
          </a:xfrm>
          <a:prstGeom prst="roundRect">
            <a:avLst>
              <a:gd name="adj" fmla="val 28571"/>
            </a:avLst>
          </a:prstGeom>
          <a:solidFill>
            <a:srgbClr val="FBF8E8"/>
          </a:solidFill>
          <a:ln w="15240">
            <a:solidFill>
              <a:srgbClr val="CBDABF"/>
            </a:solidFill>
            <a:prstDash val="solid"/>
          </a:ln>
        </p:spPr>
        <p:txBody>
          <a:bodyPr lIns="27432" tIns="18288" rIns="27432" bIns="18288"/>
          <a:lstStyle/>
          <a:p>
            <a:pPr>
              <a:spcBef>
                <a:spcPts val="0"/>
              </a:spcBef>
              <a:spcAft>
                <a:spcPts val="120"/>
              </a:spcAft>
            </a:pPr>
            <a:endParaRPr/>
          </a:p>
        </p:txBody>
      </p:sp>
      <p:sp>
        <p:nvSpPr>
          <p:cNvPr id="28" name="Text 24"/>
          <p:cNvSpPr/>
          <p:nvPr/>
        </p:nvSpPr>
        <p:spPr>
          <a:xfrm>
            <a:off x="786384" y="4242816"/>
            <a:ext cx="1417320" cy="274320"/>
          </a:xfrm>
          <a:prstGeom prst="rect">
            <a:avLst/>
          </a:prstGeom>
          <a:noFill/>
          <a:ln/>
        </p:spPr>
        <p:txBody>
          <a:bodyPr wrap="square" lIns="27432" tIns="18288" rIns="27432" bIns="18288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120"/>
              </a:spcAft>
              <a:buNone/>
            </a:pPr>
            <a:r>
              <a:rPr lang="en-US" sz="710" b="1" dirty="0">
                <a:solidFill>
                  <a:srgbClr val="253B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Detect Root</a:t>
            </a:r>
            <a:endParaRPr lang="en-US" sz="710" dirty="0"/>
          </a:p>
          <a:p>
            <a:pPr marL="0" indent="0" algn="l">
              <a:spcBef>
                <a:spcPts val="0"/>
              </a:spcBef>
              <a:spcAft>
                <a:spcPts val="120"/>
              </a:spcAft>
              <a:buNone/>
            </a:pPr>
            <a:r>
              <a:rPr lang="en-US" sz="710" b="1" dirty="0">
                <a:solidFill>
                  <a:srgbClr val="253B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Cause</a:t>
            </a:r>
            <a:endParaRPr lang="en-US" sz="710" dirty="0"/>
          </a:p>
        </p:txBody>
      </p:sp>
      <p:sp>
        <p:nvSpPr>
          <p:cNvPr id="29" name="Text 25"/>
          <p:cNvSpPr/>
          <p:nvPr/>
        </p:nvSpPr>
        <p:spPr>
          <a:xfrm>
            <a:off x="576072" y="4224528"/>
            <a:ext cx="201168" cy="246888"/>
          </a:xfrm>
          <a:prstGeom prst="rect">
            <a:avLst/>
          </a:prstGeom>
          <a:noFill/>
          <a:ln/>
        </p:spPr>
        <p:txBody>
          <a:bodyPr wrap="square" lIns="27432" tIns="18288" rIns="27432" bIns="18288" rtlCol="0" anchor="t">
            <a:normAutofit/>
          </a:bodyPr>
          <a:lstStyle/>
          <a:p>
            <a:pPr marL="0" indent="0" algn="ctr">
              <a:spcBef>
                <a:spcPts val="0"/>
              </a:spcBef>
              <a:spcAft>
                <a:spcPts val="120"/>
              </a:spcAft>
              <a:buNone/>
            </a:pPr>
            <a:r>
              <a:rPr lang="en-US" sz="1100" b="1" dirty="0">
                <a:solidFill>
                  <a:srgbClr val="1C6A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◎</a:t>
            </a:r>
            <a:endParaRPr lang="en-US" sz="1100" dirty="0"/>
          </a:p>
        </p:txBody>
      </p:sp>
      <p:sp>
        <p:nvSpPr>
          <p:cNvPr id="30" name="Shape 26"/>
          <p:cNvSpPr/>
          <p:nvPr/>
        </p:nvSpPr>
        <p:spPr>
          <a:xfrm>
            <a:off x="676656" y="4581144"/>
            <a:ext cx="0" cy="82296"/>
          </a:xfrm>
          <a:prstGeom prst="line">
            <a:avLst/>
          </a:prstGeom>
          <a:noFill/>
          <a:ln w="15240">
            <a:solidFill>
              <a:srgbClr val="CBDABF"/>
            </a:solidFill>
            <a:prstDash val="solid"/>
            <a:headEnd type="none"/>
            <a:tailEnd type="triangle"/>
          </a:ln>
        </p:spPr>
        <p:txBody>
          <a:bodyPr lIns="27432" tIns="18288" rIns="27432" bIns="18288"/>
          <a:lstStyle/>
          <a:p>
            <a:pPr>
              <a:spcBef>
                <a:spcPts val="0"/>
              </a:spcBef>
              <a:spcAft>
                <a:spcPts val="120"/>
              </a:spcAft>
            </a:pPr>
            <a:endParaRPr/>
          </a:p>
        </p:txBody>
      </p:sp>
      <p:sp>
        <p:nvSpPr>
          <p:cNvPr id="31" name="Shape 27"/>
          <p:cNvSpPr/>
          <p:nvPr/>
        </p:nvSpPr>
        <p:spPr>
          <a:xfrm>
            <a:off x="502920" y="4700016"/>
            <a:ext cx="1920240" cy="384048"/>
          </a:xfrm>
          <a:prstGeom prst="roundRect">
            <a:avLst>
              <a:gd name="adj" fmla="val 28571"/>
            </a:avLst>
          </a:prstGeom>
          <a:solidFill>
            <a:srgbClr val="FBF8E8"/>
          </a:solidFill>
          <a:ln w="15240">
            <a:solidFill>
              <a:srgbClr val="CBDABF"/>
            </a:solidFill>
            <a:prstDash val="solid"/>
          </a:ln>
        </p:spPr>
        <p:txBody>
          <a:bodyPr lIns="27432" tIns="18288" rIns="27432" bIns="18288"/>
          <a:lstStyle/>
          <a:p>
            <a:pPr>
              <a:spcBef>
                <a:spcPts val="0"/>
              </a:spcBef>
              <a:spcAft>
                <a:spcPts val="120"/>
              </a:spcAft>
            </a:pPr>
            <a:endParaRPr/>
          </a:p>
        </p:txBody>
      </p:sp>
      <p:sp>
        <p:nvSpPr>
          <p:cNvPr id="32" name="Text 28"/>
          <p:cNvSpPr/>
          <p:nvPr/>
        </p:nvSpPr>
        <p:spPr>
          <a:xfrm>
            <a:off x="786384" y="4754880"/>
            <a:ext cx="1417320" cy="274320"/>
          </a:xfrm>
          <a:prstGeom prst="rect">
            <a:avLst/>
          </a:prstGeom>
          <a:noFill/>
          <a:ln/>
        </p:spPr>
        <p:txBody>
          <a:bodyPr wrap="square" lIns="27432" tIns="18288" rIns="27432" bIns="18288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120"/>
              </a:spcAft>
              <a:buNone/>
            </a:pPr>
            <a:r>
              <a:rPr lang="en-US" sz="710" b="1" dirty="0">
                <a:solidFill>
                  <a:srgbClr val="253B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Explanation</a:t>
            </a:r>
            <a:endParaRPr lang="en-US" sz="710" dirty="0"/>
          </a:p>
        </p:txBody>
      </p:sp>
      <p:sp>
        <p:nvSpPr>
          <p:cNvPr id="33" name="Text 29"/>
          <p:cNvSpPr/>
          <p:nvPr/>
        </p:nvSpPr>
        <p:spPr>
          <a:xfrm>
            <a:off x="576072" y="4736592"/>
            <a:ext cx="201168" cy="246888"/>
          </a:xfrm>
          <a:prstGeom prst="rect">
            <a:avLst/>
          </a:prstGeom>
          <a:noFill/>
          <a:ln/>
        </p:spPr>
        <p:txBody>
          <a:bodyPr wrap="square" lIns="27432" tIns="18288" rIns="27432" bIns="18288" rtlCol="0" anchor="t">
            <a:normAutofit/>
          </a:bodyPr>
          <a:lstStyle/>
          <a:p>
            <a:pPr marL="0" indent="0" algn="ctr">
              <a:spcBef>
                <a:spcPts val="0"/>
              </a:spcBef>
              <a:spcAft>
                <a:spcPts val="120"/>
              </a:spcAft>
              <a:buNone/>
            </a:pPr>
            <a:r>
              <a:rPr lang="en-US" sz="1100" b="1" dirty="0">
                <a:solidFill>
                  <a:srgbClr val="1C6A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✦</a:t>
            </a:r>
            <a:endParaRPr lang="en-US" sz="1100" dirty="0"/>
          </a:p>
        </p:txBody>
      </p:sp>
      <p:sp>
        <p:nvSpPr>
          <p:cNvPr id="34" name="Shape 30"/>
          <p:cNvSpPr/>
          <p:nvPr/>
        </p:nvSpPr>
        <p:spPr>
          <a:xfrm>
            <a:off x="676656" y="5093208"/>
            <a:ext cx="0" cy="82296"/>
          </a:xfrm>
          <a:prstGeom prst="line">
            <a:avLst/>
          </a:prstGeom>
          <a:noFill/>
          <a:ln w="15240">
            <a:solidFill>
              <a:srgbClr val="CBDABF"/>
            </a:solidFill>
            <a:prstDash val="solid"/>
            <a:headEnd type="none"/>
            <a:tailEnd type="triangle"/>
          </a:ln>
        </p:spPr>
        <p:txBody>
          <a:bodyPr lIns="27432" tIns="18288" rIns="27432" bIns="18288"/>
          <a:lstStyle/>
          <a:p>
            <a:pPr>
              <a:spcBef>
                <a:spcPts val="0"/>
              </a:spcBef>
              <a:spcAft>
                <a:spcPts val="120"/>
              </a:spcAft>
            </a:pPr>
            <a:endParaRPr/>
          </a:p>
        </p:txBody>
      </p:sp>
      <p:sp>
        <p:nvSpPr>
          <p:cNvPr id="35" name="Shape 31"/>
          <p:cNvSpPr/>
          <p:nvPr/>
        </p:nvSpPr>
        <p:spPr>
          <a:xfrm>
            <a:off x="502920" y="5212080"/>
            <a:ext cx="1920240" cy="384048"/>
          </a:xfrm>
          <a:prstGeom prst="roundRect">
            <a:avLst>
              <a:gd name="adj" fmla="val 28571"/>
            </a:avLst>
          </a:prstGeom>
          <a:solidFill>
            <a:srgbClr val="FBF8E8"/>
          </a:solidFill>
          <a:ln w="15240">
            <a:solidFill>
              <a:srgbClr val="CBDABF"/>
            </a:solidFill>
            <a:prstDash val="solid"/>
          </a:ln>
        </p:spPr>
        <p:txBody>
          <a:bodyPr lIns="27432" tIns="18288" rIns="27432" bIns="18288"/>
          <a:lstStyle/>
          <a:p>
            <a:pPr>
              <a:spcBef>
                <a:spcPts val="0"/>
              </a:spcBef>
              <a:spcAft>
                <a:spcPts val="120"/>
              </a:spcAft>
            </a:pPr>
            <a:endParaRPr/>
          </a:p>
        </p:txBody>
      </p:sp>
      <p:sp>
        <p:nvSpPr>
          <p:cNvPr id="36" name="Text 32"/>
          <p:cNvSpPr/>
          <p:nvPr/>
        </p:nvSpPr>
        <p:spPr>
          <a:xfrm>
            <a:off x="786384" y="5266944"/>
            <a:ext cx="1417320" cy="274320"/>
          </a:xfrm>
          <a:prstGeom prst="rect">
            <a:avLst/>
          </a:prstGeom>
          <a:noFill/>
          <a:ln/>
        </p:spPr>
        <p:txBody>
          <a:bodyPr wrap="square" lIns="27432" tIns="18288" rIns="27432" bIns="18288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120"/>
              </a:spcAft>
              <a:buNone/>
            </a:pPr>
            <a:r>
              <a:rPr lang="en-US" sz="710" b="1" dirty="0">
                <a:solidFill>
                  <a:srgbClr val="253B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Recommended Action</a:t>
            </a:r>
            <a:endParaRPr lang="en-US" sz="710" dirty="0"/>
          </a:p>
        </p:txBody>
      </p:sp>
      <p:sp>
        <p:nvSpPr>
          <p:cNvPr id="37" name="Text 33"/>
          <p:cNvSpPr/>
          <p:nvPr/>
        </p:nvSpPr>
        <p:spPr>
          <a:xfrm>
            <a:off x="576072" y="5248656"/>
            <a:ext cx="201168" cy="246888"/>
          </a:xfrm>
          <a:prstGeom prst="rect">
            <a:avLst/>
          </a:prstGeom>
          <a:noFill/>
          <a:ln/>
        </p:spPr>
        <p:txBody>
          <a:bodyPr wrap="square" lIns="27432" tIns="18288" rIns="27432" bIns="18288" rtlCol="0" anchor="t">
            <a:normAutofit/>
          </a:bodyPr>
          <a:lstStyle/>
          <a:p>
            <a:pPr marL="0" indent="0" algn="ctr">
              <a:spcBef>
                <a:spcPts val="0"/>
              </a:spcBef>
              <a:spcAft>
                <a:spcPts val="120"/>
              </a:spcAft>
              <a:buNone/>
            </a:pPr>
            <a:r>
              <a:rPr lang="en-US" sz="1100" b="1" dirty="0">
                <a:solidFill>
                  <a:srgbClr val="1C6A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✓</a:t>
            </a:r>
            <a:endParaRPr lang="en-US" sz="1100" dirty="0"/>
          </a:p>
        </p:txBody>
      </p:sp>
      <p:sp>
        <p:nvSpPr>
          <p:cNvPr id="38" name="Shape 34"/>
          <p:cNvSpPr/>
          <p:nvPr/>
        </p:nvSpPr>
        <p:spPr>
          <a:xfrm>
            <a:off x="2743200" y="2468880"/>
            <a:ext cx="1691640" cy="2423160"/>
          </a:xfrm>
          <a:prstGeom prst="roundRect">
            <a:avLst>
              <a:gd name="adj" fmla="val 6486"/>
            </a:avLst>
          </a:prstGeom>
          <a:solidFill>
            <a:srgbClr val="FBF8E8"/>
          </a:solidFill>
          <a:ln w="15240">
            <a:solidFill>
              <a:srgbClr val="CBDABF"/>
            </a:solidFill>
            <a:prstDash val="solid"/>
          </a:ln>
        </p:spPr>
        <p:txBody>
          <a:bodyPr lIns="27432" tIns="18288" rIns="27432" bIns="18288"/>
          <a:lstStyle/>
          <a:p>
            <a:pPr>
              <a:spcBef>
                <a:spcPts val="0"/>
              </a:spcBef>
              <a:spcAft>
                <a:spcPts val="120"/>
              </a:spcAft>
            </a:pPr>
            <a:endParaRPr/>
          </a:p>
        </p:txBody>
      </p:sp>
      <p:sp>
        <p:nvSpPr>
          <p:cNvPr id="39" name="Text 35"/>
          <p:cNvSpPr/>
          <p:nvPr/>
        </p:nvSpPr>
        <p:spPr>
          <a:xfrm>
            <a:off x="3310128" y="2715768"/>
            <a:ext cx="502920" cy="502920"/>
          </a:xfrm>
          <a:prstGeom prst="rect">
            <a:avLst/>
          </a:prstGeom>
          <a:noFill/>
          <a:ln/>
        </p:spPr>
        <p:txBody>
          <a:bodyPr wrap="square" lIns="27432" tIns="18288" rIns="27432" bIns="18288" rtlCol="0" anchor="ctr">
            <a:normAutofit/>
          </a:bodyPr>
          <a:lstStyle/>
          <a:p>
            <a:pPr marL="0" indent="0" algn="ctr">
              <a:spcBef>
                <a:spcPts val="0"/>
              </a:spcBef>
              <a:spcAft>
                <a:spcPts val="120"/>
              </a:spcAft>
              <a:buNone/>
            </a:pPr>
            <a:r>
              <a:rPr lang="en-US" sz="2800" b="1" dirty="0">
                <a:solidFill>
                  <a:srgbClr val="2F49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⌕</a:t>
            </a:r>
            <a:endParaRPr lang="en-US" sz="2800" dirty="0"/>
          </a:p>
        </p:txBody>
      </p:sp>
      <p:sp>
        <p:nvSpPr>
          <p:cNvPr id="40" name="Text 36"/>
          <p:cNvSpPr/>
          <p:nvPr/>
        </p:nvSpPr>
        <p:spPr>
          <a:xfrm>
            <a:off x="2971800" y="3383280"/>
            <a:ext cx="1234440" cy="320040"/>
          </a:xfrm>
          <a:prstGeom prst="rect">
            <a:avLst/>
          </a:prstGeom>
          <a:noFill/>
          <a:ln/>
        </p:spPr>
        <p:txBody>
          <a:bodyPr wrap="square" lIns="27432" tIns="18288" rIns="27432" bIns="18288" rtlCol="0" anchor="ctr">
            <a:normAutofit/>
          </a:bodyPr>
          <a:lstStyle/>
          <a:p>
            <a:pPr marL="0" indent="0" algn="ctr">
              <a:spcBef>
                <a:spcPts val="0"/>
              </a:spcBef>
              <a:spcAft>
                <a:spcPts val="120"/>
              </a:spcAft>
              <a:buNone/>
            </a:pPr>
            <a:r>
              <a:rPr lang="en-US" sz="1700" b="1" dirty="0">
                <a:solidFill>
                  <a:srgbClr val="2F492A"/>
                </a:solidFill>
                <a:latin typeface="Cooper Black" pitchFamily="34" charset="0"/>
                <a:ea typeface="Cooper Black" pitchFamily="34" charset="-122"/>
                <a:cs typeface="Cooper Black" pitchFamily="34" charset="-120"/>
              </a:rPr>
              <a:t>TRACE</a:t>
            </a:r>
            <a:endParaRPr lang="en-US" sz="1700" dirty="0"/>
          </a:p>
        </p:txBody>
      </p:sp>
      <p:sp>
        <p:nvSpPr>
          <p:cNvPr id="41" name="Shape 37"/>
          <p:cNvSpPr/>
          <p:nvPr/>
        </p:nvSpPr>
        <p:spPr>
          <a:xfrm>
            <a:off x="2971800" y="3904488"/>
            <a:ext cx="1234440" cy="0"/>
          </a:xfrm>
          <a:prstGeom prst="line">
            <a:avLst/>
          </a:prstGeom>
          <a:noFill/>
          <a:ln w="19050">
            <a:solidFill>
              <a:srgbClr val="5E7F4E"/>
            </a:solidFill>
            <a:prstDash val="solid"/>
          </a:ln>
        </p:spPr>
        <p:txBody>
          <a:bodyPr lIns="27432" tIns="18288" rIns="27432" bIns="18288"/>
          <a:lstStyle/>
          <a:p>
            <a:pPr>
              <a:spcBef>
                <a:spcPts val="0"/>
              </a:spcBef>
              <a:spcAft>
                <a:spcPts val="120"/>
              </a:spcAft>
            </a:pPr>
            <a:endParaRPr/>
          </a:p>
        </p:txBody>
      </p:sp>
      <p:sp>
        <p:nvSpPr>
          <p:cNvPr id="42" name="Text 38"/>
          <p:cNvSpPr/>
          <p:nvPr/>
        </p:nvSpPr>
        <p:spPr>
          <a:xfrm>
            <a:off x="2926080" y="4160520"/>
            <a:ext cx="1325880" cy="502920"/>
          </a:xfrm>
          <a:prstGeom prst="rect">
            <a:avLst/>
          </a:prstGeom>
          <a:noFill/>
          <a:ln/>
        </p:spPr>
        <p:txBody>
          <a:bodyPr wrap="square" lIns="27432" tIns="18288" rIns="27432" bIns="18288" rtlCol="0" anchor="ctr">
            <a:normAutofit/>
          </a:bodyPr>
          <a:lstStyle/>
          <a:p>
            <a:pPr marL="0" indent="0" algn="ctr">
              <a:spcBef>
                <a:spcPts val="0"/>
              </a:spcBef>
              <a:spcAft>
                <a:spcPts val="120"/>
              </a:spcAft>
              <a:buNone/>
            </a:pPr>
            <a:r>
              <a:rPr lang="en-US" sz="720" b="1" dirty="0">
                <a:solidFill>
                  <a:srgbClr val="253B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Follow the money across</a:t>
            </a:r>
            <a:endParaRPr lang="en-US" sz="720" dirty="0"/>
          </a:p>
          <a:p>
            <a:pPr marL="0" indent="0" algn="ctr">
              <a:spcBef>
                <a:spcPts val="0"/>
              </a:spcBef>
              <a:spcAft>
                <a:spcPts val="120"/>
              </a:spcAft>
              <a:buNone/>
            </a:pPr>
            <a:r>
              <a:rPr lang="en-US" sz="720" b="1" dirty="0">
                <a:solidFill>
                  <a:srgbClr val="253B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payment gateway, bank,</a:t>
            </a:r>
            <a:endParaRPr lang="en-US" sz="720" dirty="0"/>
          </a:p>
          <a:p>
            <a:pPr marL="0" indent="0" algn="ctr">
              <a:spcBef>
                <a:spcPts val="0"/>
              </a:spcBef>
              <a:spcAft>
                <a:spcPts val="120"/>
              </a:spcAft>
              <a:buNone/>
            </a:pPr>
            <a:r>
              <a:rPr lang="en-US" sz="720" b="1" dirty="0">
                <a:solidFill>
                  <a:srgbClr val="253B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and internal ledgers.</a:t>
            </a:r>
            <a:endParaRPr lang="en-US" sz="720" dirty="0"/>
          </a:p>
        </p:txBody>
      </p:sp>
      <p:sp>
        <p:nvSpPr>
          <p:cNvPr id="43" name="Shape 39"/>
          <p:cNvSpPr/>
          <p:nvPr/>
        </p:nvSpPr>
        <p:spPr>
          <a:xfrm>
            <a:off x="4846320" y="2468880"/>
            <a:ext cx="1691640" cy="2423160"/>
          </a:xfrm>
          <a:prstGeom prst="roundRect">
            <a:avLst>
              <a:gd name="adj" fmla="val 6486"/>
            </a:avLst>
          </a:prstGeom>
          <a:solidFill>
            <a:srgbClr val="FBF8E8"/>
          </a:solidFill>
          <a:ln w="15240">
            <a:solidFill>
              <a:srgbClr val="CBDABF"/>
            </a:solidFill>
            <a:prstDash val="solid"/>
          </a:ln>
        </p:spPr>
        <p:txBody>
          <a:bodyPr lIns="27432" tIns="18288" rIns="27432" bIns="18288"/>
          <a:lstStyle/>
          <a:p>
            <a:pPr>
              <a:spcBef>
                <a:spcPts val="0"/>
              </a:spcBef>
              <a:spcAft>
                <a:spcPts val="120"/>
              </a:spcAft>
            </a:pPr>
            <a:endParaRPr/>
          </a:p>
        </p:txBody>
      </p:sp>
      <p:sp>
        <p:nvSpPr>
          <p:cNvPr id="44" name="Text 40"/>
          <p:cNvSpPr/>
          <p:nvPr/>
        </p:nvSpPr>
        <p:spPr>
          <a:xfrm>
            <a:off x="5413248" y="2715768"/>
            <a:ext cx="502920" cy="502920"/>
          </a:xfrm>
          <a:prstGeom prst="rect">
            <a:avLst/>
          </a:prstGeom>
          <a:noFill/>
          <a:ln/>
        </p:spPr>
        <p:txBody>
          <a:bodyPr wrap="square" lIns="27432" tIns="18288" rIns="27432" bIns="18288" rtlCol="0" anchor="ctr">
            <a:normAutofit/>
          </a:bodyPr>
          <a:lstStyle/>
          <a:p>
            <a:pPr marL="0" indent="0" algn="ctr">
              <a:spcBef>
                <a:spcPts val="0"/>
              </a:spcBef>
              <a:spcAft>
                <a:spcPts val="120"/>
              </a:spcAft>
              <a:buNone/>
            </a:pPr>
            <a:r>
              <a:rPr lang="en-US" sz="2800" b="1" dirty="0">
                <a:solidFill>
                  <a:srgbClr val="1C6A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⊙</a:t>
            </a:r>
            <a:endParaRPr lang="en-US" sz="2800" dirty="0"/>
          </a:p>
        </p:txBody>
      </p:sp>
      <p:sp>
        <p:nvSpPr>
          <p:cNvPr id="45" name="Text 41"/>
          <p:cNvSpPr/>
          <p:nvPr/>
        </p:nvSpPr>
        <p:spPr>
          <a:xfrm>
            <a:off x="5074920" y="3383280"/>
            <a:ext cx="1234440" cy="320040"/>
          </a:xfrm>
          <a:prstGeom prst="rect">
            <a:avLst/>
          </a:prstGeom>
          <a:noFill/>
          <a:ln/>
        </p:spPr>
        <p:txBody>
          <a:bodyPr wrap="square" lIns="27432" tIns="18288" rIns="27432" bIns="18288" rtlCol="0" anchor="ctr">
            <a:normAutofit/>
          </a:bodyPr>
          <a:lstStyle/>
          <a:p>
            <a:pPr marL="0" indent="0" algn="ctr">
              <a:spcBef>
                <a:spcPts val="0"/>
              </a:spcBef>
              <a:spcAft>
                <a:spcPts val="120"/>
              </a:spcAft>
              <a:buNone/>
            </a:pPr>
            <a:r>
              <a:rPr lang="en-US" sz="1600" b="1" dirty="0">
                <a:solidFill>
                  <a:srgbClr val="1C6A70"/>
                </a:solidFill>
                <a:latin typeface="Cooper Black" pitchFamily="34" charset="0"/>
                <a:ea typeface="Cooper Black" pitchFamily="34" charset="-122"/>
                <a:cs typeface="Cooper Black" pitchFamily="34" charset="-120"/>
              </a:rPr>
              <a:t>DIAGNOSE</a:t>
            </a:r>
            <a:endParaRPr lang="en-US" sz="1600" dirty="0"/>
          </a:p>
        </p:txBody>
      </p:sp>
      <p:sp>
        <p:nvSpPr>
          <p:cNvPr id="46" name="Shape 42"/>
          <p:cNvSpPr/>
          <p:nvPr/>
        </p:nvSpPr>
        <p:spPr>
          <a:xfrm>
            <a:off x="5074920" y="3904488"/>
            <a:ext cx="1234440" cy="0"/>
          </a:xfrm>
          <a:prstGeom prst="line">
            <a:avLst/>
          </a:prstGeom>
          <a:noFill/>
          <a:ln w="19050">
            <a:solidFill>
              <a:srgbClr val="5DA5AA"/>
            </a:solidFill>
            <a:prstDash val="solid"/>
          </a:ln>
        </p:spPr>
        <p:txBody>
          <a:bodyPr lIns="27432" tIns="18288" rIns="27432" bIns="18288"/>
          <a:lstStyle/>
          <a:p>
            <a:pPr>
              <a:spcBef>
                <a:spcPts val="0"/>
              </a:spcBef>
              <a:spcAft>
                <a:spcPts val="120"/>
              </a:spcAft>
            </a:pPr>
            <a:endParaRPr/>
          </a:p>
        </p:txBody>
      </p:sp>
      <p:sp>
        <p:nvSpPr>
          <p:cNvPr id="47" name="Text 43"/>
          <p:cNvSpPr/>
          <p:nvPr/>
        </p:nvSpPr>
        <p:spPr>
          <a:xfrm>
            <a:off x="5029200" y="4160520"/>
            <a:ext cx="1325880" cy="502920"/>
          </a:xfrm>
          <a:prstGeom prst="rect">
            <a:avLst/>
          </a:prstGeom>
          <a:noFill/>
          <a:ln/>
        </p:spPr>
        <p:txBody>
          <a:bodyPr wrap="square" lIns="27432" tIns="18288" rIns="27432" bIns="18288" rtlCol="0" anchor="ctr">
            <a:normAutofit/>
          </a:bodyPr>
          <a:lstStyle/>
          <a:p>
            <a:pPr marL="0" indent="0" algn="ctr">
              <a:spcBef>
                <a:spcPts val="0"/>
              </a:spcBef>
              <a:spcAft>
                <a:spcPts val="120"/>
              </a:spcAft>
              <a:buNone/>
            </a:pPr>
            <a:r>
              <a:rPr lang="en-US" sz="720" b="1" dirty="0">
                <a:solidFill>
                  <a:srgbClr val="253B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Compare records</a:t>
            </a:r>
            <a:endParaRPr lang="en-US" sz="720" dirty="0"/>
          </a:p>
          <a:p>
            <a:pPr marL="0" indent="0" algn="ctr">
              <a:spcBef>
                <a:spcPts val="0"/>
              </a:spcBef>
              <a:spcAft>
                <a:spcPts val="120"/>
              </a:spcAft>
              <a:buNone/>
            </a:pPr>
            <a:r>
              <a:rPr lang="en-US" sz="720" b="1" dirty="0">
                <a:solidFill>
                  <a:srgbClr val="253B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and detect the</a:t>
            </a:r>
            <a:endParaRPr lang="en-US" sz="720" dirty="0"/>
          </a:p>
          <a:p>
            <a:pPr marL="0" indent="0" algn="ctr">
              <a:spcBef>
                <a:spcPts val="0"/>
              </a:spcBef>
              <a:spcAft>
                <a:spcPts val="120"/>
              </a:spcAft>
              <a:buNone/>
            </a:pPr>
            <a:r>
              <a:rPr lang="en-US" sz="720" b="1" dirty="0">
                <a:solidFill>
                  <a:srgbClr val="253B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true root cause.</a:t>
            </a:r>
            <a:endParaRPr lang="en-US" sz="720" dirty="0"/>
          </a:p>
        </p:txBody>
      </p:sp>
      <p:sp>
        <p:nvSpPr>
          <p:cNvPr id="48" name="Shape 44"/>
          <p:cNvSpPr/>
          <p:nvPr/>
        </p:nvSpPr>
        <p:spPr>
          <a:xfrm>
            <a:off x="6949440" y="2468880"/>
            <a:ext cx="1691640" cy="2423160"/>
          </a:xfrm>
          <a:prstGeom prst="roundRect">
            <a:avLst>
              <a:gd name="adj" fmla="val 6486"/>
            </a:avLst>
          </a:prstGeom>
          <a:solidFill>
            <a:srgbClr val="FBF8E8"/>
          </a:solidFill>
          <a:ln w="15240">
            <a:solidFill>
              <a:srgbClr val="CBDABF"/>
            </a:solidFill>
            <a:prstDash val="solid"/>
          </a:ln>
        </p:spPr>
        <p:txBody>
          <a:bodyPr lIns="27432" tIns="18288" rIns="27432" bIns="18288"/>
          <a:lstStyle/>
          <a:p>
            <a:pPr>
              <a:spcBef>
                <a:spcPts val="0"/>
              </a:spcBef>
              <a:spcAft>
                <a:spcPts val="120"/>
              </a:spcAft>
            </a:pPr>
            <a:endParaRPr/>
          </a:p>
        </p:txBody>
      </p:sp>
      <p:sp>
        <p:nvSpPr>
          <p:cNvPr id="49" name="Text 45"/>
          <p:cNvSpPr/>
          <p:nvPr/>
        </p:nvSpPr>
        <p:spPr>
          <a:xfrm>
            <a:off x="7516368" y="2715768"/>
            <a:ext cx="502920" cy="502920"/>
          </a:xfrm>
          <a:prstGeom prst="rect">
            <a:avLst/>
          </a:prstGeom>
          <a:noFill/>
          <a:ln/>
        </p:spPr>
        <p:txBody>
          <a:bodyPr wrap="square" lIns="27432" tIns="18288" rIns="27432" bIns="18288" rtlCol="0" anchor="ctr">
            <a:normAutofit/>
          </a:bodyPr>
          <a:lstStyle/>
          <a:p>
            <a:pPr marL="0" indent="0" algn="ctr">
              <a:spcBef>
                <a:spcPts val="0"/>
              </a:spcBef>
              <a:spcAft>
                <a:spcPts val="120"/>
              </a:spcAft>
              <a:buNone/>
            </a:pPr>
            <a:r>
              <a:rPr lang="en-US" sz="2800" b="1" dirty="0">
                <a:solidFill>
                  <a:srgbClr val="2F49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✎</a:t>
            </a:r>
            <a:endParaRPr lang="en-US" sz="2800" dirty="0"/>
          </a:p>
        </p:txBody>
      </p:sp>
      <p:sp>
        <p:nvSpPr>
          <p:cNvPr id="50" name="Text 46"/>
          <p:cNvSpPr/>
          <p:nvPr/>
        </p:nvSpPr>
        <p:spPr>
          <a:xfrm>
            <a:off x="7178040" y="3383280"/>
            <a:ext cx="1234440" cy="320040"/>
          </a:xfrm>
          <a:prstGeom prst="rect">
            <a:avLst/>
          </a:prstGeom>
          <a:noFill/>
          <a:ln/>
        </p:spPr>
        <p:txBody>
          <a:bodyPr wrap="square" lIns="27432" tIns="18288" rIns="27432" bIns="18288" rtlCol="0" anchor="ctr">
            <a:normAutofit/>
          </a:bodyPr>
          <a:lstStyle/>
          <a:p>
            <a:pPr marL="0" indent="0" algn="ctr">
              <a:spcBef>
                <a:spcPts val="0"/>
              </a:spcBef>
              <a:spcAft>
                <a:spcPts val="120"/>
              </a:spcAft>
              <a:buNone/>
            </a:pPr>
            <a:r>
              <a:rPr lang="en-US" sz="1700" b="1" dirty="0">
                <a:solidFill>
                  <a:srgbClr val="2F492A"/>
                </a:solidFill>
                <a:latin typeface="Cooper Black" pitchFamily="34" charset="0"/>
                <a:ea typeface="Cooper Black" pitchFamily="34" charset="-122"/>
                <a:cs typeface="Cooper Black" pitchFamily="34" charset="-120"/>
              </a:rPr>
              <a:t>EXPLAIN</a:t>
            </a:r>
            <a:endParaRPr lang="en-US" sz="1700" dirty="0"/>
          </a:p>
        </p:txBody>
      </p:sp>
      <p:sp>
        <p:nvSpPr>
          <p:cNvPr id="51" name="Shape 47"/>
          <p:cNvSpPr/>
          <p:nvPr/>
        </p:nvSpPr>
        <p:spPr>
          <a:xfrm>
            <a:off x="7178040" y="3904488"/>
            <a:ext cx="1234440" cy="0"/>
          </a:xfrm>
          <a:prstGeom prst="line">
            <a:avLst/>
          </a:prstGeom>
          <a:noFill/>
          <a:ln w="19050">
            <a:solidFill>
              <a:srgbClr val="5E7F4E"/>
            </a:solidFill>
            <a:prstDash val="solid"/>
          </a:ln>
        </p:spPr>
        <p:txBody>
          <a:bodyPr lIns="27432" tIns="18288" rIns="27432" bIns="18288"/>
          <a:lstStyle/>
          <a:p>
            <a:pPr>
              <a:spcBef>
                <a:spcPts val="0"/>
              </a:spcBef>
              <a:spcAft>
                <a:spcPts val="120"/>
              </a:spcAft>
            </a:pPr>
            <a:endParaRPr/>
          </a:p>
        </p:txBody>
      </p:sp>
      <p:sp>
        <p:nvSpPr>
          <p:cNvPr id="52" name="Text 48"/>
          <p:cNvSpPr/>
          <p:nvPr/>
        </p:nvSpPr>
        <p:spPr>
          <a:xfrm>
            <a:off x="7132320" y="4160520"/>
            <a:ext cx="1325880" cy="502920"/>
          </a:xfrm>
          <a:prstGeom prst="rect">
            <a:avLst/>
          </a:prstGeom>
          <a:noFill/>
          <a:ln/>
        </p:spPr>
        <p:txBody>
          <a:bodyPr wrap="square" lIns="27432" tIns="18288" rIns="27432" bIns="18288" rtlCol="0" anchor="ctr">
            <a:normAutofit/>
          </a:bodyPr>
          <a:lstStyle/>
          <a:p>
            <a:pPr marL="0" indent="0" algn="ctr">
              <a:spcBef>
                <a:spcPts val="0"/>
              </a:spcBef>
              <a:spcAft>
                <a:spcPts val="120"/>
              </a:spcAft>
              <a:buNone/>
            </a:pPr>
            <a:r>
              <a:rPr lang="en-US" sz="720" b="1" dirty="0">
                <a:solidFill>
                  <a:srgbClr val="253B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Generate AI-powered</a:t>
            </a:r>
            <a:endParaRPr lang="en-US" sz="720" dirty="0"/>
          </a:p>
          <a:p>
            <a:pPr marL="0" indent="0" algn="ctr">
              <a:spcBef>
                <a:spcPts val="0"/>
              </a:spcBef>
              <a:spcAft>
                <a:spcPts val="120"/>
              </a:spcAft>
              <a:buNone/>
            </a:pPr>
            <a:r>
              <a:rPr lang="en-US" sz="720" b="1" dirty="0">
                <a:solidFill>
                  <a:srgbClr val="253B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explanations and</a:t>
            </a:r>
            <a:endParaRPr lang="en-US" sz="720" dirty="0"/>
          </a:p>
          <a:p>
            <a:pPr marL="0" indent="0" algn="ctr">
              <a:spcBef>
                <a:spcPts val="0"/>
              </a:spcBef>
              <a:spcAft>
                <a:spcPts val="120"/>
              </a:spcAft>
              <a:buNone/>
            </a:pPr>
            <a:r>
              <a:rPr lang="en-US" sz="720" b="1" dirty="0">
                <a:solidFill>
                  <a:srgbClr val="253B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recommended action.</a:t>
            </a:r>
            <a:endParaRPr lang="en-US" sz="720" dirty="0"/>
          </a:p>
        </p:txBody>
      </p:sp>
      <p:sp>
        <p:nvSpPr>
          <p:cNvPr id="53" name="Text 49"/>
          <p:cNvSpPr/>
          <p:nvPr/>
        </p:nvSpPr>
        <p:spPr>
          <a:xfrm>
            <a:off x="9281160" y="2240280"/>
            <a:ext cx="2011680" cy="256032"/>
          </a:xfrm>
          <a:prstGeom prst="rect">
            <a:avLst/>
          </a:prstGeom>
          <a:noFill/>
          <a:ln/>
        </p:spPr>
        <p:txBody>
          <a:bodyPr wrap="square" lIns="27432" tIns="18288" rIns="27432" bIns="18288" rtlCol="0" anchor="ctr">
            <a:normAutofit/>
          </a:bodyPr>
          <a:lstStyle/>
          <a:p>
            <a:pPr marL="0" indent="0">
              <a:spcBef>
                <a:spcPts val="0"/>
              </a:spcBef>
              <a:spcAft>
                <a:spcPts val="120"/>
              </a:spcAft>
              <a:buNone/>
            </a:pPr>
            <a:r>
              <a:rPr lang="en-US" sz="1200" b="1" dirty="0">
                <a:solidFill>
                  <a:srgbClr val="2F49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DETECTABLE CASES</a:t>
            </a:r>
            <a:endParaRPr lang="en-US" sz="1200" dirty="0"/>
          </a:p>
        </p:txBody>
      </p:sp>
      <p:sp>
        <p:nvSpPr>
          <p:cNvPr id="54" name="Text 50"/>
          <p:cNvSpPr/>
          <p:nvPr/>
        </p:nvSpPr>
        <p:spPr>
          <a:xfrm>
            <a:off x="9281160" y="2743200"/>
            <a:ext cx="2240280" cy="2788920"/>
          </a:xfrm>
          <a:prstGeom prst="rect">
            <a:avLst/>
          </a:prstGeom>
          <a:noFill/>
          <a:ln/>
        </p:spPr>
        <p:txBody>
          <a:bodyPr wrap="square" lIns="27432" tIns="18288" rIns="27432" bIns="18288" rtlCol="0" anchor="t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120"/>
              </a:spcAft>
              <a:buNone/>
            </a:pPr>
            <a:r>
              <a:rPr lang="en-US" sz="1020" b="1" dirty="0">
                <a:solidFill>
                  <a:srgbClr val="253B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Bank delay</a:t>
            </a:r>
            <a:endParaRPr lang="en-US" sz="1020" dirty="0"/>
          </a:p>
          <a:p>
            <a:pPr marL="0" indent="0" algn="l">
              <a:spcBef>
                <a:spcPts val="0"/>
              </a:spcBef>
              <a:spcAft>
                <a:spcPts val="120"/>
              </a:spcAft>
              <a:buNone/>
            </a:pPr>
            <a:endParaRPr lang="en-US" sz="1020" dirty="0"/>
          </a:p>
          <a:p>
            <a:pPr marL="0" indent="0" algn="l">
              <a:spcBef>
                <a:spcPts val="0"/>
              </a:spcBef>
              <a:spcAft>
                <a:spcPts val="120"/>
              </a:spcAft>
              <a:buNone/>
            </a:pPr>
            <a:r>
              <a:rPr lang="en-US" sz="1020" b="1" dirty="0">
                <a:solidFill>
                  <a:srgbClr val="253B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Missing record</a:t>
            </a:r>
            <a:endParaRPr lang="en-US" sz="1020" dirty="0"/>
          </a:p>
          <a:p>
            <a:pPr marL="0" indent="0" algn="l">
              <a:spcBef>
                <a:spcPts val="0"/>
              </a:spcBef>
              <a:spcAft>
                <a:spcPts val="120"/>
              </a:spcAft>
              <a:buNone/>
            </a:pPr>
            <a:endParaRPr lang="en-US" sz="1020" dirty="0"/>
          </a:p>
          <a:p>
            <a:pPr marL="0" indent="0" algn="l">
              <a:spcBef>
                <a:spcPts val="0"/>
              </a:spcBef>
              <a:spcAft>
                <a:spcPts val="120"/>
              </a:spcAft>
              <a:buNone/>
            </a:pPr>
            <a:r>
              <a:rPr lang="en-US" sz="1020" b="1" dirty="0">
                <a:solidFill>
                  <a:srgbClr val="253B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Amount mismatch</a:t>
            </a:r>
            <a:endParaRPr lang="en-US" sz="1020" dirty="0"/>
          </a:p>
          <a:p>
            <a:pPr marL="0" indent="0" algn="l">
              <a:spcBef>
                <a:spcPts val="0"/>
              </a:spcBef>
              <a:spcAft>
                <a:spcPts val="120"/>
              </a:spcAft>
              <a:buNone/>
            </a:pPr>
            <a:endParaRPr lang="en-US" sz="1020" dirty="0"/>
          </a:p>
          <a:p>
            <a:pPr marL="0" indent="0" algn="l">
              <a:spcBef>
                <a:spcPts val="0"/>
              </a:spcBef>
              <a:spcAft>
                <a:spcPts val="120"/>
              </a:spcAft>
              <a:buNone/>
            </a:pPr>
            <a:r>
              <a:rPr lang="en-US" sz="1020" b="1" dirty="0">
                <a:solidFill>
                  <a:srgbClr val="253B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Duplicate</a:t>
            </a:r>
            <a:endParaRPr lang="en-US" sz="1020" dirty="0"/>
          </a:p>
          <a:p>
            <a:pPr marL="0" indent="0" algn="l">
              <a:spcBef>
                <a:spcPts val="0"/>
              </a:spcBef>
              <a:spcAft>
                <a:spcPts val="120"/>
              </a:spcAft>
              <a:buNone/>
            </a:pPr>
            <a:endParaRPr lang="en-US" sz="1020" dirty="0"/>
          </a:p>
          <a:p>
            <a:pPr marL="0" indent="0" algn="l">
              <a:spcBef>
                <a:spcPts val="0"/>
              </a:spcBef>
              <a:spcAft>
                <a:spcPts val="120"/>
              </a:spcAft>
              <a:buNone/>
            </a:pPr>
            <a:r>
              <a:rPr lang="en-US" sz="1020" b="1" dirty="0">
                <a:solidFill>
                  <a:srgbClr val="253B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Partial settlement</a:t>
            </a:r>
            <a:endParaRPr lang="en-US" sz="1020" dirty="0"/>
          </a:p>
          <a:p>
            <a:pPr marL="0" indent="0" algn="l">
              <a:spcBef>
                <a:spcPts val="0"/>
              </a:spcBef>
              <a:spcAft>
                <a:spcPts val="120"/>
              </a:spcAft>
              <a:buNone/>
            </a:pPr>
            <a:endParaRPr lang="en-US" sz="1020" dirty="0"/>
          </a:p>
          <a:p>
            <a:pPr marL="0" indent="0" algn="l">
              <a:spcBef>
                <a:spcPts val="0"/>
              </a:spcBef>
              <a:spcAft>
                <a:spcPts val="120"/>
              </a:spcAft>
              <a:buNone/>
            </a:pPr>
            <a:r>
              <a:rPr lang="en-US" sz="1020" b="1" dirty="0">
                <a:solidFill>
                  <a:srgbClr val="253B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Timing differences</a:t>
            </a:r>
            <a:endParaRPr lang="en-US" sz="1020" dirty="0"/>
          </a:p>
          <a:p>
            <a:pPr marL="0" indent="0" algn="l">
              <a:spcBef>
                <a:spcPts val="0"/>
              </a:spcBef>
              <a:spcAft>
                <a:spcPts val="120"/>
              </a:spcAft>
              <a:buNone/>
            </a:pPr>
            <a:endParaRPr lang="en-US" sz="1020" dirty="0"/>
          </a:p>
          <a:p>
            <a:pPr marL="0" indent="0" algn="l">
              <a:spcBef>
                <a:spcPts val="0"/>
              </a:spcBef>
              <a:spcAft>
                <a:spcPts val="120"/>
              </a:spcAft>
              <a:buNone/>
            </a:pPr>
            <a:r>
              <a:rPr lang="en-US" sz="1020" b="1" dirty="0">
                <a:solidFill>
                  <a:srgbClr val="253B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Unknown / manual review</a:t>
            </a:r>
            <a:endParaRPr lang="en-US" sz="1020" dirty="0"/>
          </a:p>
        </p:txBody>
      </p:sp>
      <p:sp>
        <p:nvSpPr>
          <p:cNvPr id="55" name="Text 51"/>
          <p:cNvSpPr/>
          <p:nvPr/>
        </p:nvSpPr>
        <p:spPr>
          <a:xfrm>
            <a:off x="347472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27432" tIns="18288" rIns="27432" bIns="18288" rtlCol="0" anchor="ctr">
            <a:normAutofit/>
          </a:bodyPr>
          <a:lstStyle/>
          <a:p>
            <a:pPr marL="0" indent="0">
              <a:spcBef>
                <a:spcPts val="0"/>
              </a:spcBef>
              <a:spcAft>
                <a:spcPts val="120"/>
              </a:spcAft>
              <a:buNone/>
            </a:pPr>
            <a:r>
              <a:rPr lang="en-US" sz="700" b="1" dirty="0">
                <a:solidFill>
                  <a:srgbClr val="2F49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MONEYMATCH.AI</a:t>
            </a:r>
            <a:endParaRPr lang="en-US" sz="700" dirty="0"/>
          </a:p>
        </p:txBody>
      </p:sp>
      <p:sp>
        <p:nvSpPr>
          <p:cNvPr id="56" name="Text 52"/>
          <p:cNvSpPr/>
          <p:nvPr/>
        </p:nvSpPr>
        <p:spPr>
          <a:xfrm>
            <a:off x="9144000" y="6473952"/>
            <a:ext cx="2560320" cy="228600"/>
          </a:xfrm>
          <a:prstGeom prst="rect">
            <a:avLst/>
          </a:prstGeom>
          <a:noFill/>
          <a:ln/>
        </p:spPr>
        <p:txBody>
          <a:bodyPr wrap="square" lIns="27432" tIns="18288" rIns="27432" bIns="18288" rtlCol="0" anchor="ctr">
            <a:normAutofit/>
          </a:bodyPr>
          <a:lstStyle/>
          <a:p>
            <a:pPr marL="0" indent="0">
              <a:spcBef>
                <a:spcPts val="0"/>
              </a:spcBef>
              <a:spcAft>
                <a:spcPts val="120"/>
              </a:spcAft>
              <a:buNone/>
            </a:pPr>
            <a:r>
              <a:rPr lang="en-US" sz="700" b="1" dirty="0">
                <a:solidFill>
                  <a:srgbClr val="2F49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Trace. Diagnose. Explain. Resolve.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ED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>
            <a:alphaModFix amt="90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35240" y="-73152"/>
            <a:ext cx="4754880" cy="25146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>
            <a:alphaModFix amt="82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-685800" y="4983480"/>
            <a:ext cx="4297680" cy="224028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22960" y="292608"/>
            <a:ext cx="5943600" cy="914400"/>
          </a:xfrm>
          <a:prstGeom prst="rect">
            <a:avLst/>
          </a:prstGeom>
          <a:noFill/>
          <a:ln/>
        </p:spPr>
        <p:txBody>
          <a:bodyPr wrap="square" lIns="27432" tIns="18288" rIns="27432" bIns="18288" rtlCol="0" anchor="ctr">
            <a:normAutofit/>
          </a:bodyPr>
          <a:lstStyle/>
          <a:p>
            <a:pPr marL="0" indent="0">
              <a:spcBef>
                <a:spcPts val="0"/>
              </a:spcBef>
              <a:spcAft>
                <a:spcPts val="120"/>
              </a:spcAft>
              <a:buNone/>
            </a:pPr>
            <a:r>
              <a:rPr lang="en-US" sz="3400" b="1" dirty="0">
                <a:solidFill>
                  <a:srgbClr val="2F492A"/>
                </a:solidFill>
                <a:latin typeface="Cooper Black" pitchFamily="34" charset="0"/>
                <a:ea typeface="Cooper Black" pitchFamily="34" charset="-122"/>
                <a:cs typeface="Cooper Black" pitchFamily="34" charset="-120"/>
              </a:rPr>
              <a:t>Three systems.</a:t>
            </a:r>
            <a:endParaRPr lang="en-US" sz="3400" dirty="0"/>
          </a:p>
          <a:p>
            <a:pPr marL="0" indent="0">
              <a:spcBef>
                <a:spcPts val="0"/>
              </a:spcBef>
              <a:spcAft>
                <a:spcPts val="120"/>
              </a:spcAft>
              <a:buNone/>
            </a:pPr>
            <a:r>
              <a:rPr lang="en-US" sz="3400" b="1" dirty="0">
                <a:solidFill>
                  <a:srgbClr val="2F492A"/>
                </a:solidFill>
                <a:latin typeface="Cooper Black" pitchFamily="34" charset="0"/>
                <a:ea typeface="Cooper Black" pitchFamily="34" charset="-122"/>
                <a:cs typeface="Cooper Black" pitchFamily="34" charset="-120"/>
              </a:rPr>
              <a:t>One intelligent investigation.</a:t>
            </a:r>
            <a:endParaRPr lang="en-US" sz="3400" dirty="0"/>
          </a:p>
        </p:txBody>
      </p:sp>
      <p:sp>
        <p:nvSpPr>
          <p:cNvPr id="5" name="Shape 1"/>
          <p:cNvSpPr/>
          <p:nvPr/>
        </p:nvSpPr>
        <p:spPr>
          <a:xfrm>
            <a:off x="502920" y="3017520"/>
            <a:ext cx="2057400" cy="1417320"/>
          </a:xfrm>
          <a:prstGeom prst="roundRect">
            <a:avLst>
              <a:gd name="adj" fmla="val 7742"/>
            </a:avLst>
          </a:prstGeom>
          <a:solidFill>
            <a:srgbClr val="FBF8E8"/>
          </a:solidFill>
          <a:ln w="15240">
            <a:solidFill>
              <a:srgbClr val="CBDABF"/>
            </a:solidFill>
            <a:prstDash val="solid"/>
          </a:ln>
        </p:spPr>
        <p:txBody>
          <a:bodyPr lIns="27432" tIns="18288" rIns="27432" bIns="18288"/>
          <a:lstStyle/>
          <a:p>
            <a:pPr>
              <a:spcBef>
                <a:spcPts val="0"/>
              </a:spcBef>
              <a:spcAft>
                <a:spcPts val="120"/>
              </a:spcAft>
            </a:pPr>
            <a:endParaRPr/>
          </a:p>
        </p:txBody>
      </p:sp>
      <p:sp>
        <p:nvSpPr>
          <p:cNvPr id="6" name="Text 2"/>
          <p:cNvSpPr/>
          <p:nvPr/>
        </p:nvSpPr>
        <p:spPr>
          <a:xfrm>
            <a:off x="594360" y="3210234"/>
            <a:ext cx="1993391" cy="1087446"/>
          </a:xfrm>
          <a:prstGeom prst="rect">
            <a:avLst/>
          </a:prstGeom>
          <a:noFill/>
          <a:ln/>
        </p:spPr>
        <p:txBody>
          <a:bodyPr wrap="square" lIns="27432" tIns="18288" rIns="27432" bIns="18288" rtlCol="0" anchor="ctr">
            <a:normAutofit fontScale="92500" lnSpcReduction="20000"/>
          </a:bodyPr>
          <a:lstStyle/>
          <a:p>
            <a:pPr marL="0" indent="0">
              <a:spcBef>
                <a:spcPts val="0"/>
              </a:spcBef>
              <a:spcAft>
                <a:spcPts val="120"/>
              </a:spcAft>
              <a:buNone/>
            </a:pPr>
            <a:r>
              <a:rPr lang="en-US" sz="1600" b="1" dirty="0">
                <a:solidFill>
                  <a:srgbClr val="253B22"/>
                </a:solidFill>
                <a:latin typeface="Cooper Black" pitchFamily="34" charset="0"/>
                <a:ea typeface="Cooper Black" pitchFamily="34" charset="-122"/>
                <a:cs typeface="Cooper Black" pitchFamily="34" charset="-120"/>
              </a:rPr>
              <a:t>Deterministic</a:t>
            </a:r>
            <a:endParaRPr lang="en-US" sz="1800" dirty="0"/>
          </a:p>
          <a:p>
            <a:pPr marL="0" indent="0">
              <a:spcBef>
                <a:spcPts val="0"/>
              </a:spcBef>
              <a:spcAft>
                <a:spcPts val="120"/>
              </a:spcAft>
              <a:buNone/>
            </a:pPr>
            <a:r>
              <a:rPr lang="en-US" sz="1600" b="1" dirty="0">
                <a:solidFill>
                  <a:srgbClr val="253B22"/>
                </a:solidFill>
                <a:latin typeface="Cooper Black" pitchFamily="34" charset="0"/>
                <a:ea typeface="Cooper Black" pitchFamily="34" charset="-122"/>
                <a:cs typeface="Cooper Black" pitchFamily="34" charset="-120"/>
              </a:rPr>
              <a:t>evidence first.</a:t>
            </a:r>
            <a:endParaRPr lang="en-US" sz="1800" dirty="0"/>
          </a:p>
          <a:p>
            <a:pPr marL="0" indent="0">
              <a:spcBef>
                <a:spcPts val="0"/>
              </a:spcBef>
              <a:spcAft>
                <a:spcPts val="120"/>
              </a:spcAft>
              <a:buNone/>
            </a:pPr>
            <a:endParaRPr lang="en-US" sz="1800" dirty="0"/>
          </a:p>
          <a:p>
            <a:pPr marL="0" indent="0">
              <a:spcBef>
                <a:spcPts val="0"/>
              </a:spcBef>
              <a:spcAft>
                <a:spcPts val="120"/>
              </a:spcAft>
              <a:buNone/>
            </a:pPr>
            <a:r>
              <a:rPr lang="en-US" sz="1600" b="1" dirty="0">
                <a:solidFill>
                  <a:srgbClr val="253B22"/>
                </a:solidFill>
                <a:latin typeface="Cooper Black" pitchFamily="34" charset="0"/>
                <a:ea typeface="Cooper Black" pitchFamily="34" charset="-122"/>
                <a:cs typeface="Cooper Black" pitchFamily="34" charset="-120"/>
              </a:rPr>
              <a:t>AI explanation</a:t>
            </a:r>
            <a:endParaRPr lang="en-US" sz="1800" dirty="0"/>
          </a:p>
          <a:p>
            <a:pPr marL="0" indent="0">
              <a:spcBef>
                <a:spcPts val="0"/>
              </a:spcBef>
              <a:spcAft>
                <a:spcPts val="120"/>
              </a:spcAft>
              <a:buNone/>
            </a:pPr>
            <a:r>
              <a:rPr lang="en-US" sz="1600" b="1" dirty="0">
                <a:solidFill>
                  <a:srgbClr val="253B22"/>
                </a:solidFill>
                <a:latin typeface="Cooper Black" pitchFamily="34" charset="0"/>
                <a:ea typeface="Cooper Black" pitchFamily="34" charset="-122"/>
                <a:cs typeface="Cooper Black" pitchFamily="34" charset="-120"/>
              </a:rPr>
              <a:t>second.</a:t>
            </a:r>
            <a:endParaRPr lang="en-US" sz="1800" dirty="0"/>
          </a:p>
        </p:txBody>
      </p:sp>
      <p:sp>
        <p:nvSpPr>
          <p:cNvPr id="7" name="Shape 3"/>
          <p:cNvSpPr/>
          <p:nvPr/>
        </p:nvSpPr>
        <p:spPr>
          <a:xfrm>
            <a:off x="2788920" y="1664208"/>
            <a:ext cx="1024128" cy="658368"/>
          </a:xfrm>
          <a:prstGeom prst="roundRect">
            <a:avLst>
              <a:gd name="adj" fmla="val 16667"/>
            </a:avLst>
          </a:prstGeom>
          <a:solidFill>
            <a:srgbClr val="FBF8E8"/>
          </a:solidFill>
          <a:ln w="15240">
            <a:solidFill>
              <a:srgbClr val="CBDABF"/>
            </a:solidFill>
            <a:prstDash val="solid"/>
          </a:ln>
        </p:spPr>
        <p:txBody>
          <a:bodyPr lIns="27432" tIns="18288" rIns="27432" bIns="18288"/>
          <a:lstStyle/>
          <a:p>
            <a:pPr>
              <a:spcBef>
                <a:spcPts val="0"/>
              </a:spcBef>
              <a:spcAft>
                <a:spcPts val="120"/>
              </a:spcAft>
            </a:pPr>
            <a:endParaRPr/>
          </a:p>
        </p:txBody>
      </p:sp>
      <p:sp>
        <p:nvSpPr>
          <p:cNvPr id="8" name="Text 4"/>
          <p:cNvSpPr/>
          <p:nvPr/>
        </p:nvSpPr>
        <p:spPr>
          <a:xfrm>
            <a:off x="2862072" y="1810512"/>
            <a:ext cx="877824" cy="301752"/>
          </a:xfrm>
          <a:prstGeom prst="rect">
            <a:avLst/>
          </a:prstGeom>
          <a:noFill/>
          <a:ln/>
        </p:spPr>
        <p:txBody>
          <a:bodyPr wrap="square" lIns="27432" tIns="18288" rIns="27432" bIns="18288" rtlCol="0" anchor="ctr">
            <a:normAutofit/>
          </a:bodyPr>
          <a:lstStyle/>
          <a:p>
            <a:pPr marL="0" indent="0" algn="ctr">
              <a:spcBef>
                <a:spcPts val="0"/>
              </a:spcBef>
              <a:spcAft>
                <a:spcPts val="120"/>
              </a:spcAft>
              <a:buNone/>
            </a:pPr>
            <a:r>
              <a:rPr lang="en-US" sz="840" b="1" dirty="0">
                <a:solidFill>
                  <a:srgbClr val="2F49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USER</a:t>
            </a:r>
            <a:endParaRPr lang="en-US" sz="840" dirty="0"/>
          </a:p>
        </p:txBody>
      </p:sp>
      <p:sp>
        <p:nvSpPr>
          <p:cNvPr id="9" name="Shape 5"/>
          <p:cNvSpPr/>
          <p:nvPr/>
        </p:nvSpPr>
        <p:spPr>
          <a:xfrm>
            <a:off x="3840480" y="1993392"/>
            <a:ext cx="301752" cy="0"/>
          </a:xfrm>
          <a:prstGeom prst="line">
            <a:avLst/>
          </a:prstGeom>
          <a:noFill/>
          <a:ln w="19050">
            <a:solidFill>
              <a:srgbClr val="6E8F5D"/>
            </a:solidFill>
            <a:prstDash val="solid"/>
            <a:headEnd type="none"/>
            <a:tailEnd type="triangle"/>
          </a:ln>
        </p:spPr>
        <p:txBody>
          <a:bodyPr lIns="27432" tIns="18288" rIns="27432" bIns="18288"/>
          <a:lstStyle/>
          <a:p>
            <a:pPr>
              <a:spcBef>
                <a:spcPts val="0"/>
              </a:spcBef>
              <a:spcAft>
                <a:spcPts val="120"/>
              </a:spcAft>
            </a:pPr>
            <a:endParaRPr/>
          </a:p>
        </p:txBody>
      </p:sp>
      <p:sp>
        <p:nvSpPr>
          <p:cNvPr id="10" name="Shape 6"/>
          <p:cNvSpPr/>
          <p:nvPr/>
        </p:nvSpPr>
        <p:spPr>
          <a:xfrm>
            <a:off x="4233672" y="1664208"/>
            <a:ext cx="1024128" cy="658368"/>
          </a:xfrm>
          <a:prstGeom prst="roundRect">
            <a:avLst>
              <a:gd name="adj" fmla="val 16667"/>
            </a:avLst>
          </a:prstGeom>
          <a:solidFill>
            <a:srgbClr val="FBF8E8"/>
          </a:solidFill>
          <a:ln w="15240">
            <a:solidFill>
              <a:srgbClr val="CBDABF"/>
            </a:solidFill>
            <a:prstDash val="solid"/>
          </a:ln>
        </p:spPr>
        <p:txBody>
          <a:bodyPr lIns="27432" tIns="18288" rIns="27432" bIns="18288"/>
          <a:lstStyle/>
          <a:p>
            <a:pPr>
              <a:spcBef>
                <a:spcPts val="0"/>
              </a:spcBef>
              <a:spcAft>
                <a:spcPts val="120"/>
              </a:spcAft>
            </a:pPr>
            <a:endParaRPr/>
          </a:p>
        </p:txBody>
      </p:sp>
      <p:sp>
        <p:nvSpPr>
          <p:cNvPr id="11" name="Text 7"/>
          <p:cNvSpPr/>
          <p:nvPr/>
        </p:nvSpPr>
        <p:spPr>
          <a:xfrm>
            <a:off x="4306824" y="1810512"/>
            <a:ext cx="877824" cy="301752"/>
          </a:xfrm>
          <a:prstGeom prst="rect">
            <a:avLst/>
          </a:prstGeom>
          <a:noFill/>
          <a:ln/>
        </p:spPr>
        <p:txBody>
          <a:bodyPr wrap="square" lIns="27432" tIns="18288" rIns="27432" bIns="18288" rtlCol="0" anchor="ctr">
            <a:normAutofit/>
          </a:bodyPr>
          <a:lstStyle/>
          <a:p>
            <a:pPr marL="0" indent="0" algn="ctr">
              <a:spcBef>
                <a:spcPts val="0"/>
              </a:spcBef>
              <a:spcAft>
                <a:spcPts val="120"/>
              </a:spcAft>
              <a:buNone/>
            </a:pPr>
            <a:r>
              <a:rPr lang="en-US" sz="840" b="1" dirty="0">
                <a:solidFill>
                  <a:srgbClr val="2F49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REACT</a:t>
            </a:r>
            <a:endParaRPr lang="en-US" sz="840" dirty="0"/>
          </a:p>
          <a:p>
            <a:pPr marL="0" indent="0" algn="ctr">
              <a:spcBef>
                <a:spcPts val="0"/>
              </a:spcBef>
              <a:spcAft>
                <a:spcPts val="120"/>
              </a:spcAft>
              <a:buNone/>
            </a:pPr>
            <a:r>
              <a:rPr lang="en-US" sz="840" b="1" dirty="0">
                <a:solidFill>
                  <a:srgbClr val="2F49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FRONTEND</a:t>
            </a:r>
            <a:endParaRPr lang="en-US" sz="840" dirty="0"/>
          </a:p>
        </p:txBody>
      </p:sp>
      <p:sp>
        <p:nvSpPr>
          <p:cNvPr id="12" name="Shape 8"/>
          <p:cNvSpPr/>
          <p:nvPr/>
        </p:nvSpPr>
        <p:spPr>
          <a:xfrm>
            <a:off x="5285232" y="1993392"/>
            <a:ext cx="301752" cy="0"/>
          </a:xfrm>
          <a:prstGeom prst="line">
            <a:avLst/>
          </a:prstGeom>
          <a:noFill/>
          <a:ln w="19050">
            <a:solidFill>
              <a:srgbClr val="6E8F5D"/>
            </a:solidFill>
            <a:prstDash val="solid"/>
            <a:headEnd type="none"/>
            <a:tailEnd type="triangle"/>
          </a:ln>
        </p:spPr>
        <p:txBody>
          <a:bodyPr lIns="27432" tIns="18288" rIns="27432" bIns="18288"/>
          <a:lstStyle/>
          <a:p>
            <a:pPr>
              <a:spcBef>
                <a:spcPts val="0"/>
              </a:spcBef>
              <a:spcAft>
                <a:spcPts val="120"/>
              </a:spcAft>
            </a:pPr>
            <a:endParaRPr/>
          </a:p>
        </p:txBody>
      </p:sp>
      <p:sp>
        <p:nvSpPr>
          <p:cNvPr id="13" name="Shape 9"/>
          <p:cNvSpPr/>
          <p:nvPr/>
        </p:nvSpPr>
        <p:spPr>
          <a:xfrm>
            <a:off x="5678424" y="1664208"/>
            <a:ext cx="1024128" cy="658368"/>
          </a:xfrm>
          <a:prstGeom prst="roundRect">
            <a:avLst>
              <a:gd name="adj" fmla="val 16667"/>
            </a:avLst>
          </a:prstGeom>
          <a:solidFill>
            <a:srgbClr val="FBF8E8"/>
          </a:solidFill>
          <a:ln w="15240">
            <a:solidFill>
              <a:srgbClr val="CBDABF"/>
            </a:solidFill>
            <a:prstDash val="solid"/>
          </a:ln>
        </p:spPr>
        <p:txBody>
          <a:bodyPr lIns="27432" tIns="18288" rIns="27432" bIns="18288"/>
          <a:lstStyle/>
          <a:p>
            <a:pPr>
              <a:spcBef>
                <a:spcPts val="0"/>
              </a:spcBef>
              <a:spcAft>
                <a:spcPts val="120"/>
              </a:spcAft>
            </a:pPr>
            <a:endParaRPr/>
          </a:p>
        </p:txBody>
      </p:sp>
      <p:sp>
        <p:nvSpPr>
          <p:cNvPr id="14" name="Text 10"/>
          <p:cNvSpPr/>
          <p:nvPr/>
        </p:nvSpPr>
        <p:spPr>
          <a:xfrm>
            <a:off x="5751576" y="1810512"/>
            <a:ext cx="877824" cy="301752"/>
          </a:xfrm>
          <a:prstGeom prst="rect">
            <a:avLst/>
          </a:prstGeom>
          <a:noFill/>
          <a:ln/>
        </p:spPr>
        <p:txBody>
          <a:bodyPr wrap="square" lIns="27432" tIns="18288" rIns="27432" bIns="18288" rtlCol="0" anchor="ctr">
            <a:normAutofit/>
          </a:bodyPr>
          <a:lstStyle/>
          <a:p>
            <a:pPr marL="0" indent="0" algn="ctr">
              <a:spcBef>
                <a:spcPts val="0"/>
              </a:spcBef>
              <a:spcAft>
                <a:spcPts val="120"/>
              </a:spcAft>
              <a:buNone/>
            </a:pPr>
            <a:r>
              <a:rPr lang="en-US" sz="840" b="1" dirty="0">
                <a:solidFill>
                  <a:srgbClr val="2F49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FASTAPI</a:t>
            </a:r>
            <a:endParaRPr lang="en-US" sz="840" dirty="0"/>
          </a:p>
          <a:p>
            <a:pPr marL="0" indent="0" algn="ctr">
              <a:spcBef>
                <a:spcPts val="0"/>
              </a:spcBef>
              <a:spcAft>
                <a:spcPts val="120"/>
              </a:spcAft>
              <a:buNone/>
            </a:pPr>
            <a:r>
              <a:rPr lang="en-US" sz="840" b="1" dirty="0">
                <a:solidFill>
                  <a:srgbClr val="2F49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BACKEND</a:t>
            </a:r>
            <a:endParaRPr lang="en-US" sz="840" dirty="0"/>
          </a:p>
        </p:txBody>
      </p:sp>
      <p:sp>
        <p:nvSpPr>
          <p:cNvPr id="15" name="Shape 11"/>
          <p:cNvSpPr/>
          <p:nvPr/>
        </p:nvSpPr>
        <p:spPr>
          <a:xfrm>
            <a:off x="6729984" y="1993392"/>
            <a:ext cx="301752" cy="0"/>
          </a:xfrm>
          <a:prstGeom prst="line">
            <a:avLst/>
          </a:prstGeom>
          <a:noFill/>
          <a:ln w="19050">
            <a:solidFill>
              <a:srgbClr val="6E8F5D"/>
            </a:solidFill>
            <a:prstDash val="solid"/>
            <a:headEnd type="none"/>
            <a:tailEnd type="triangle"/>
          </a:ln>
        </p:spPr>
        <p:txBody>
          <a:bodyPr lIns="27432" tIns="18288" rIns="27432" bIns="18288"/>
          <a:lstStyle/>
          <a:p>
            <a:pPr>
              <a:spcBef>
                <a:spcPts val="0"/>
              </a:spcBef>
              <a:spcAft>
                <a:spcPts val="120"/>
              </a:spcAft>
            </a:pPr>
            <a:endParaRPr/>
          </a:p>
        </p:txBody>
      </p:sp>
      <p:sp>
        <p:nvSpPr>
          <p:cNvPr id="16" name="Shape 12"/>
          <p:cNvSpPr/>
          <p:nvPr/>
        </p:nvSpPr>
        <p:spPr>
          <a:xfrm>
            <a:off x="7123176" y="1664208"/>
            <a:ext cx="1024128" cy="658368"/>
          </a:xfrm>
          <a:prstGeom prst="roundRect">
            <a:avLst>
              <a:gd name="adj" fmla="val 16667"/>
            </a:avLst>
          </a:prstGeom>
          <a:solidFill>
            <a:srgbClr val="F2EDD2"/>
          </a:solidFill>
          <a:ln w="15240">
            <a:solidFill>
              <a:srgbClr val="CBDABF"/>
            </a:solidFill>
            <a:prstDash val="solid"/>
          </a:ln>
        </p:spPr>
        <p:txBody>
          <a:bodyPr lIns="27432" tIns="18288" rIns="27432" bIns="18288"/>
          <a:lstStyle/>
          <a:p>
            <a:pPr>
              <a:spcBef>
                <a:spcPts val="0"/>
              </a:spcBef>
              <a:spcAft>
                <a:spcPts val="120"/>
              </a:spcAft>
            </a:pPr>
            <a:endParaRPr/>
          </a:p>
        </p:txBody>
      </p:sp>
      <p:sp>
        <p:nvSpPr>
          <p:cNvPr id="17" name="Text 13"/>
          <p:cNvSpPr/>
          <p:nvPr/>
        </p:nvSpPr>
        <p:spPr>
          <a:xfrm>
            <a:off x="7196328" y="1810512"/>
            <a:ext cx="877824" cy="301752"/>
          </a:xfrm>
          <a:prstGeom prst="rect">
            <a:avLst/>
          </a:prstGeom>
          <a:noFill/>
          <a:ln/>
        </p:spPr>
        <p:txBody>
          <a:bodyPr wrap="square" lIns="27432" tIns="18288" rIns="27432" bIns="18288" rtlCol="0" anchor="ctr">
            <a:normAutofit/>
          </a:bodyPr>
          <a:lstStyle/>
          <a:p>
            <a:pPr marL="0" indent="0" algn="ctr">
              <a:spcBef>
                <a:spcPts val="0"/>
              </a:spcBef>
              <a:spcAft>
                <a:spcPts val="120"/>
              </a:spcAft>
              <a:buNone/>
            </a:pPr>
            <a:r>
              <a:rPr lang="en-US" sz="840" b="1" dirty="0">
                <a:solidFill>
                  <a:srgbClr val="2F49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GATEWAY</a:t>
            </a:r>
            <a:endParaRPr lang="en-US" sz="840" dirty="0"/>
          </a:p>
          <a:p>
            <a:pPr marL="0" indent="0" algn="ctr">
              <a:spcBef>
                <a:spcPts val="0"/>
              </a:spcBef>
              <a:spcAft>
                <a:spcPts val="120"/>
              </a:spcAft>
              <a:buNone/>
            </a:pPr>
            <a:r>
              <a:rPr lang="en-US" sz="840" b="1" dirty="0">
                <a:solidFill>
                  <a:srgbClr val="2F49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</a:t>
            </a:r>
            <a:endParaRPr lang="en-US" sz="840" dirty="0"/>
          </a:p>
        </p:txBody>
      </p:sp>
      <p:sp>
        <p:nvSpPr>
          <p:cNvPr id="18" name="Shape 14"/>
          <p:cNvSpPr/>
          <p:nvPr/>
        </p:nvSpPr>
        <p:spPr>
          <a:xfrm>
            <a:off x="8174736" y="1993392"/>
            <a:ext cx="301752" cy="0"/>
          </a:xfrm>
          <a:prstGeom prst="line">
            <a:avLst/>
          </a:prstGeom>
          <a:noFill/>
          <a:ln w="19050">
            <a:solidFill>
              <a:srgbClr val="6E8F5D"/>
            </a:solidFill>
            <a:prstDash val="solid"/>
            <a:headEnd type="none"/>
            <a:tailEnd type="triangle"/>
          </a:ln>
        </p:spPr>
        <p:txBody>
          <a:bodyPr lIns="27432" tIns="18288" rIns="27432" bIns="18288"/>
          <a:lstStyle/>
          <a:p>
            <a:pPr>
              <a:spcBef>
                <a:spcPts val="0"/>
              </a:spcBef>
              <a:spcAft>
                <a:spcPts val="120"/>
              </a:spcAft>
            </a:pPr>
            <a:endParaRPr/>
          </a:p>
        </p:txBody>
      </p:sp>
      <p:sp>
        <p:nvSpPr>
          <p:cNvPr id="19" name="Shape 15"/>
          <p:cNvSpPr/>
          <p:nvPr/>
        </p:nvSpPr>
        <p:spPr>
          <a:xfrm>
            <a:off x="8567928" y="1664208"/>
            <a:ext cx="1024128" cy="658368"/>
          </a:xfrm>
          <a:prstGeom prst="roundRect">
            <a:avLst>
              <a:gd name="adj" fmla="val 16667"/>
            </a:avLst>
          </a:prstGeom>
          <a:solidFill>
            <a:srgbClr val="F2EDD2"/>
          </a:solidFill>
          <a:ln w="15240">
            <a:solidFill>
              <a:srgbClr val="CBDABF"/>
            </a:solidFill>
            <a:prstDash val="solid"/>
          </a:ln>
        </p:spPr>
        <p:txBody>
          <a:bodyPr lIns="27432" tIns="18288" rIns="27432" bIns="18288"/>
          <a:lstStyle/>
          <a:p>
            <a:pPr>
              <a:spcBef>
                <a:spcPts val="0"/>
              </a:spcBef>
              <a:spcAft>
                <a:spcPts val="120"/>
              </a:spcAft>
            </a:pPr>
            <a:endParaRPr/>
          </a:p>
        </p:txBody>
      </p:sp>
      <p:sp>
        <p:nvSpPr>
          <p:cNvPr id="20" name="Text 16"/>
          <p:cNvSpPr/>
          <p:nvPr/>
        </p:nvSpPr>
        <p:spPr>
          <a:xfrm>
            <a:off x="8641080" y="1810512"/>
            <a:ext cx="877824" cy="301752"/>
          </a:xfrm>
          <a:prstGeom prst="rect">
            <a:avLst/>
          </a:prstGeom>
          <a:noFill/>
          <a:ln/>
        </p:spPr>
        <p:txBody>
          <a:bodyPr wrap="square" lIns="27432" tIns="18288" rIns="27432" bIns="18288" rtlCol="0" anchor="ctr">
            <a:normAutofit/>
          </a:bodyPr>
          <a:lstStyle/>
          <a:p>
            <a:pPr marL="0" indent="0" algn="ctr">
              <a:spcBef>
                <a:spcPts val="0"/>
              </a:spcBef>
              <a:spcAft>
                <a:spcPts val="120"/>
              </a:spcAft>
              <a:buNone/>
            </a:pPr>
            <a:r>
              <a:rPr lang="en-US" sz="840" b="1" dirty="0">
                <a:solidFill>
                  <a:srgbClr val="2F49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BANK</a:t>
            </a:r>
            <a:endParaRPr lang="en-US" sz="840" dirty="0"/>
          </a:p>
          <a:p>
            <a:pPr marL="0" indent="0" algn="ctr">
              <a:spcBef>
                <a:spcPts val="0"/>
              </a:spcBef>
              <a:spcAft>
                <a:spcPts val="120"/>
              </a:spcAft>
              <a:buNone/>
            </a:pPr>
            <a:r>
              <a:rPr lang="en-US" sz="840" b="1" dirty="0">
                <a:solidFill>
                  <a:srgbClr val="2F49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</a:t>
            </a:r>
            <a:endParaRPr lang="en-US" sz="840" dirty="0"/>
          </a:p>
        </p:txBody>
      </p:sp>
      <p:sp>
        <p:nvSpPr>
          <p:cNvPr id="21" name="Shape 17"/>
          <p:cNvSpPr/>
          <p:nvPr/>
        </p:nvSpPr>
        <p:spPr>
          <a:xfrm>
            <a:off x="9619488" y="1993392"/>
            <a:ext cx="301752" cy="0"/>
          </a:xfrm>
          <a:prstGeom prst="line">
            <a:avLst/>
          </a:prstGeom>
          <a:noFill/>
          <a:ln w="19050">
            <a:solidFill>
              <a:srgbClr val="6E8F5D"/>
            </a:solidFill>
            <a:prstDash val="solid"/>
            <a:headEnd type="none"/>
            <a:tailEnd type="triangle"/>
          </a:ln>
        </p:spPr>
        <p:txBody>
          <a:bodyPr lIns="27432" tIns="18288" rIns="27432" bIns="18288"/>
          <a:lstStyle/>
          <a:p>
            <a:pPr>
              <a:spcBef>
                <a:spcPts val="0"/>
              </a:spcBef>
              <a:spcAft>
                <a:spcPts val="120"/>
              </a:spcAft>
            </a:pPr>
            <a:endParaRPr/>
          </a:p>
        </p:txBody>
      </p:sp>
      <p:sp>
        <p:nvSpPr>
          <p:cNvPr id="22" name="Shape 18"/>
          <p:cNvSpPr/>
          <p:nvPr/>
        </p:nvSpPr>
        <p:spPr>
          <a:xfrm>
            <a:off x="10012680" y="1664208"/>
            <a:ext cx="1024128" cy="658368"/>
          </a:xfrm>
          <a:prstGeom prst="roundRect">
            <a:avLst>
              <a:gd name="adj" fmla="val 16667"/>
            </a:avLst>
          </a:prstGeom>
          <a:solidFill>
            <a:srgbClr val="F2EDD2"/>
          </a:solidFill>
          <a:ln w="15240">
            <a:solidFill>
              <a:srgbClr val="CBDABF"/>
            </a:solidFill>
            <a:prstDash val="solid"/>
          </a:ln>
        </p:spPr>
        <p:txBody>
          <a:bodyPr lIns="27432" tIns="18288" rIns="27432" bIns="18288"/>
          <a:lstStyle/>
          <a:p>
            <a:pPr>
              <a:spcBef>
                <a:spcPts val="0"/>
              </a:spcBef>
              <a:spcAft>
                <a:spcPts val="120"/>
              </a:spcAft>
            </a:pPr>
            <a:endParaRPr/>
          </a:p>
        </p:txBody>
      </p:sp>
      <p:sp>
        <p:nvSpPr>
          <p:cNvPr id="23" name="Text 19"/>
          <p:cNvSpPr/>
          <p:nvPr/>
        </p:nvSpPr>
        <p:spPr>
          <a:xfrm>
            <a:off x="10085832" y="1810512"/>
            <a:ext cx="877824" cy="301752"/>
          </a:xfrm>
          <a:prstGeom prst="rect">
            <a:avLst/>
          </a:prstGeom>
          <a:noFill/>
          <a:ln/>
        </p:spPr>
        <p:txBody>
          <a:bodyPr wrap="square" lIns="27432" tIns="18288" rIns="27432" bIns="18288" rtlCol="0" anchor="ctr">
            <a:normAutofit/>
          </a:bodyPr>
          <a:lstStyle/>
          <a:p>
            <a:pPr marL="0" indent="0" algn="ctr">
              <a:spcBef>
                <a:spcPts val="0"/>
              </a:spcBef>
              <a:spcAft>
                <a:spcPts val="120"/>
              </a:spcAft>
              <a:buNone/>
            </a:pPr>
            <a:r>
              <a:rPr lang="en-US" sz="840" b="1" dirty="0">
                <a:solidFill>
                  <a:srgbClr val="2F49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INTERNAL</a:t>
            </a:r>
            <a:endParaRPr lang="en-US" sz="840" dirty="0"/>
          </a:p>
          <a:p>
            <a:pPr marL="0" indent="0" algn="ctr">
              <a:spcBef>
                <a:spcPts val="0"/>
              </a:spcBef>
              <a:spcAft>
                <a:spcPts val="120"/>
              </a:spcAft>
              <a:buNone/>
            </a:pPr>
            <a:r>
              <a:rPr lang="en-US" sz="840" b="1" dirty="0">
                <a:solidFill>
                  <a:srgbClr val="2F49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LEDGER</a:t>
            </a:r>
            <a:endParaRPr lang="en-US" sz="840" dirty="0"/>
          </a:p>
        </p:txBody>
      </p:sp>
      <p:sp>
        <p:nvSpPr>
          <p:cNvPr id="24" name="Shape 20"/>
          <p:cNvSpPr/>
          <p:nvPr/>
        </p:nvSpPr>
        <p:spPr>
          <a:xfrm>
            <a:off x="3474720" y="2788920"/>
            <a:ext cx="4983480" cy="384048"/>
          </a:xfrm>
          <a:prstGeom prst="roundRect">
            <a:avLst>
              <a:gd name="adj" fmla="val 28571"/>
            </a:avLst>
          </a:prstGeom>
          <a:solidFill>
            <a:srgbClr val="FBF8E8"/>
          </a:solidFill>
          <a:ln w="13970">
            <a:solidFill>
              <a:srgbClr val="CBDABF"/>
            </a:solidFill>
            <a:prstDash val="solid"/>
          </a:ln>
        </p:spPr>
        <p:txBody>
          <a:bodyPr lIns="27432" tIns="18288" rIns="27432" bIns="18288"/>
          <a:lstStyle/>
          <a:p>
            <a:pPr>
              <a:spcBef>
                <a:spcPts val="0"/>
              </a:spcBef>
              <a:spcAft>
                <a:spcPts val="120"/>
              </a:spcAft>
            </a:pPr>
            <a:endParaRPr/>
          </a:p>
        </p:txBody>
      </p:sp>
      <p:sp>
        <p:nvSpPr>
          <p:cNvPr id="25" name="Text 21"/>
          <p:cNvSpPr/>
          <p:nvPr/>
        </p:nvSpPr>
        <p:spPr>
          <a:xfrm>
            <a:off x="3611880" y="2862072"/>
            <a:ext cx="4709160" cy="274320"/>
          </a:xfrm>
          <a:prstGeom prst="rect">
            <a:avLst/>
          </a:prstGeom>
          <a:noFill/>
          <a:ln/>
        </p:spPr>
        <p:txBody>
          <a:bodyPr wrap="square" lIns="27432" tIns="18288" rIns="27432" bIns="18288" rtlCol="0" anchor="ctr">
            <a:normAutofit/>
          </a:bodyPr>
          <a:lstStyle/>
          <a:p>
            <a:pPr marL="0" indent="0" algn="ctr">
              <a:spcBef>
                <a:spcPts val="0"/>
              </a:spcBef>
              <a:spcAft>
                <a:spcPts val="120"/>
              </a:spcAft>
              <a:buNone/>
            </a:pPr>
            <a:r>
              <a:rPr lang="en-US" sz="800" b="1" dirty="0">
                <a:solidFill>
                  <a:srgbClr val="253B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TRANSACTION MATCHING</a:t>
            </a:r>
            <a:endParaRPr lang="en-US" sz="800" dirty="0"/>
          </a:p>
        </p:txBody>
      </p:sp>
      <p:sp>
        <p:nvSpPr>
          <p:cNvPr id="26" name="Shape 22"/>
          <p:cNvSpPr/>
          <p:nvPr/>
        </p:nvSpPr>
        <p:spPr>
          <a:xfrm>
            <a:off x="5961888" y="3200400"/>
            <a:ext cx="0" cy="219456"/>
          </a:xfrm>
          <a:prstGeom prst="line">
            <a:avLst/>
          </a:prstGeom>
          <a:noFill/>
          <a:ln w="17780">
            <a:solidFill>
              <a:srgbClr val="6E8F5D"/>
            </a:solidFill>
            <a:prstDash val="solid"/>
            <a:headEnd type="none"/>
            <a:tailEnd type="triangle"/>
          </a:ln>
        </p:spPr>
        <p:txBody>
          <a:bodyPr lIns="27432" tIns="18288" rIns="27432" bIns="18288"/>
          <a:lstStyle/>
          <a:p>
            <a:pPr>
              <a:spcBef>
                <a:spcPts val="0"/>
              </a:spcBef>
              <a:spcAft>
                <a:spcPts val="120"/>
              </a:spcAft>
            </a:pPr>
            <a:endParaRPr/>
          </a:p>
        </p:txBody>
      </p:sp>
      <p:sp>
        <p:nvSpPr>
          <p:cNvPr id="27" name="Shape 23"/>
          <p:cNvSpPr/>
          <p:nvPr/>
        </p:nvSpPr>
        <p:spPr>
          <a:xfrm>
            <a:off x="3474720" y="3493008"/>
            <a:ext cx="4983480" cy="640080"/>
          </a:xfrm>
          <a:prstGeom prst="roundRect">
            <a:avLst>
              <a:gd name="adj" fmla="val 17143"/>
            </a:avLst>
          </a:prstGeom>
          <a:solidFill>
            <a:srgbClr val="F2EDD2"/>
          </a:solidFill>
          <a:ln w="13970">
            <a:solidFill>
              <a:srgbClr val="6E8F5D"/>
            </a:solidFill>
            <a:prstDash val="solid"/>
          </a:ln>
        </p:spPr>
        <p:txBody>
          <a:bodyPr lIns="27432" tIns="18288" rIns="27432" bIns="18288"/>
          <a:lstStyle/>
          <a:p>
            <a:pPr>
              <a:spcBef>
                <a:spcPts val="0"/>
              </a:spcBef>
              <a:spcAft>
                <a:spcPts val="120"/>
              </a:spcAft>
            </a:pPr>
            <a:endParaRPr/>
          </a:p>
        </p:txBody>
      </p:sp>
      <p:sp>
        <p:nvSpPr>
          <p:cNvPr id="28" name="Text 24"/>
          <p:cNvSpPr/>
          <p:nvPr/>
        </p:nvSpPr>
        <p:spPr>
          <a:xfrm>
            <a:off x="3611880" y="3566160"/>
            <a:ext cx="4709160" cy="530352"/>
          </a:xfrm>
          <a:prstGeom prst="rect">
            <a:avLst/>
          </a:prstGeom>
          <a:noFill/>
          <a:ln/>
        </p:spPr>
        <p:txBody>
          <a:bodyPr wrap="square" lIns="27432" tIns="18288" rIns="27432" bIns="18288" rtlCol="0" anchor="ctr">
            <a:normAutofit/>
          </a:bodyPr>
          <a:lstStyle/>
          <a:p>
            <a:pPr marL="0" indent="0" algn="ctr">
              <a:spcBef>
                <a:spcPts val="0"/>
              </a:spcBef>
              <a:spcAft>
                <a:spcPts val="120"/>
              </a:spcAft>
              <a:buNone/>
            </a:pPr>
            <a:r>
              <a:rPr lang="en-US" sz="870" b="1" dirty="0">
                <a:solidFill>
                  <a:srgbClr val="253B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RULE-BASED INVESTIGATION ENGINE</a:t>
            </a:r>
            <a:endParaRPr lang="en-US" sz="870" dirty="0"/>
          </a:p>
          <a:p>
            <a:pPr marL="0" indent="0" algn="ctr">
              <a:spcBef>
                <a:spcPts val="0"/>
              </a:spcBef>
              <a:spcAft>
                <a:spcPts val="120"/>
              </a:spcAft>
              <a:buNone/>
            </a:pPr>
            <a:r>
              <a:rPr lang="en-US" sz="870" b="1" dirty="0">
                <a:solidFill>
                  <a:srgbClr val="253B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Source of factual diagnosis</a:t>
            </a:r>
            <a:endParaRPr lang="en-US" sz="870" dirty="0"/>
          </a:p>
        </p:txBody>
      </p:sp>
      <p:sp>
        <p:nvSpPr>
          <p:cNvPr id="29" name="Shape 25"/>
          <p:cNvSpPr/>
          <p:nvPr/>
        </p:nvSpPr>
        <p:spPr>
          <a:xfrm>
            <a:off x="5961888" y="4160520"/>
            <a:ext cx="0" cy="137160"/>
          </a:xfrm>
          <a:prstGeom prst="line">
            <a:avLst/>
          </a:prstGeom>
          <a:noFill/>
          <a:ln w="17780">
            <a:solidFill>
              <a:srgbClr val="6E8F5D"/>
            </a:solidFill>
            <a:prstDash val="solid"/>
            <a:headEnd type="none"/>
            <a:tailEnd type="triangle"/>
          </a:ln>
        </p:spPr>
        <p:txBody>
          <a:bodyPr lIns="27432" tIns="18288" rIns="27432" bIns="18288"/>
          <a:lstStyle/>
          <a:p>
            <a:pPr>
              <a:spcBef>
                <a:spcPts val="0"/>
              </a:spcBef>
              <a:spcAft>
                <a:spcPts val="120"/>
              </a:spcAft>
            </a:pPr>
            <a:endParaRPr/>
          </a:p>
        </p:txBody>
      </p:sp>
      <p:sp>
        <p:nvSpPr>
          <p:cNvPr id="30" name="Shape 26"/>
          <p:cNvSpPr/>
          <p:nvPr/>
        </p:nvSpPr>
        <p:spPr>
          <a:xfrm>
            <a:off x="3474720" y="4370832"/>
            <a:ext cx="4983480" cy="384048"/>
          </a:xfrm>
          <a:prstGeom prst="roundRect">
            <a:avLst>
              <a:gd name="adj" fmla="val 28571"/>
            </a:avLst>
          </a:prstGeom>
          <a:solidFill>
            <a:srgbClr val="FBF8E8"/>
          </a:solidFill>
          <a:ln w="13970">
            <a:solidFill>
              <a:srgbClr val="CBDABF"/>
            </a:solidFill>
            <a:prstDash val="solid"/>
          </a:ln>
        </p:spPr>
        <p:txBody>
          <a:bodyPr lIns="27432" tIns="18288" rIns="27432" bIns="18288"/>
          <a:lstStyle/>
          <a:p>
            <a:pPr>
              <a:spcBef>
                <a:spcPts val="0"/>
              </a:spcBef>
              <a:spcAft>
                <a:spcPts val="120"/>
              </a:spcAft>
            </a:pPr>
            <a:endParaRPr/>
          </a:p>
        </p:txBody>
      </p:sp>
      <p:sp>
        <p:nvSpPr>
          <p:cNvPr id="31" name="Text 27"/>
          <p:cNvSpPr/>
          <p:nvPr/>
        </p:nvSpPr>
        <p:spPr>
          <a:xfrm>
            <a:off x="3611880" y="4443984"/>
            <a:ext cx="4709160" cy="274320"/>
          </a:xfrm>
          <a:prstGeom prst="rect">
            <a:avLst/>
          </a:prstGeom>
          <a:noFill/>
          <a:ln/>
        </p:spPr>
        <p:txBody>
          <a:bodyPr wrap="square" lIns="27432" tIns="18288" rIns="27432" bIns="18288" rtlCol="0" anchor="ctr">
            <a:normAutofit/>
          </a:bodyPr>
          <a:lstStyle/>
          <a:p>
            <a:pPr marL="0" indent="0" algn="ctr">
              <a:spcBef>
                <a:spcPts val="0"/>
              </a:spcBef>
              <a:spcAft>
                <a:spcPts val="120"/>
              </a:spcAft>
              <a:buNone/>
            </a:pPr>
            <a:r>
              <a:rPr lang="en-US" sz="800" b="1" dirty="0">
                <a:solidFill>
                  <a:srgbClr val="253B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SECURITY + DATA MASKING</a:t>
            </a:r>
            <a:endParaRPr lang="en-US" sz="800" dirty="0"/>
          </a:p>
        </p:txBody>
      </p:sp>
      <p:sp>
        <p:nvSpPr>
          <p:cNvPr id="32" name="Shape 28"/>
          <p:cNvSpPr/>
          <p:nvPr/>
        </p:nvSpPr>
        <p:spPr>
          <a:xfrm>
            <a:off x="5961888" y="4782312"/>
            <a:ext cx="0" cy="155448"/>
          </a:xfrm>
          <a:prstGeom prst="line">
            <a:avLst/>
          </a:prstGeom>
          <a:noFill/>
          <a:ln w="17780">
            <a:solidFill>
              <a:srgbClr val="6E8F5D"/>
            </a:solidFill>
            <a:prstDash val="solid"/>
            <a:headEnd type="none"/>
            <a:tailEnd type="triangle"/>
          </a:ln>
        </p:spPr>
        <p:txBody>
          <a:bodyPr lIns="27432" tIns="18288" rIns="27432" bIns="18288"/>
          <a:lstStyle/>
          <a:p>
            <a:pPr>
              <a:spcBef>
                <a:spcPts val="0"/>
              </a:spcBef>
              <a:spcAft>
                <a:spcPts val="120"/>
              </a:spcAft>
            </a:pPr>
            <a:endParaRPr/>
          </a:p>
        </p:txBody>
      </p:sp>
      <p:sp>
        <p:nvSpPr>
          <p:cNvPr id="33" name="Shape 29"/>
          <p:cNvSpPr/>
          <p:nvPr/>
        </p:nvSpPr>
        <p:spPr>
          <a:xfrm>
            <a:off x="3474720" y="5010912"/>
            <a:ext cx="4983480" cy="640080"/>
          </a:xfrm>
          <a:prstGeom prst="roundRect">
            <a:avLst>
              <a:gd name="adj" fmla="val 17143"/>
            </a:avLst>
          </a:prstGeom>
          <a:solidFill>
            <a:srgbClr val="F2EDD2"/>
          </a:solidFill>
          <a:ln w="13970">
            <a:solidFill>
              <a:srgbClr val="6E8F5D"/>
            </a:solidFill>
            <a:prstDash val="solid"/>
          </a:ln>
        </p:spPr>
        <p:txBody>
          <a:bodyPr lIns="27432" tIns="18288" rIns="27432" bIns="18288"/>
          <a:lstStyle/>
          <a:p>
            <a:pPr>
              <a:spcBef>
                <a:spcPts val="0"/>
              </a:spcBef>
              <a:spcAft>
                <a:spcPts val="120"/>
              </a:spcAft>
            </a:pPr>
            <a:endParaRPr/>
          </a:p>
        </p:txBody>
      </p:sp>
      <p:sp>
        <p:nvSpPr>
          <p:cNvPr id="34" name="Text 30"/>
          <p:cNvSpPr/>
          <p:nvPr/>
        </p:nvSpPr>
        <p:spPr>
          <a:xfrm>
            <a:off x="3611880" y="5084064"/>
            <a:ext cx="4709160" cy="530352"/>
          </a:xfrm>
          <a:prstGeom prst="rect">
            <a:avLst/>
          </a:prstGeom>
          <a:noFill/>
          <a:ln/>
        </p:spPr>
        <p:txBody>
          <a:bodyPr wrap="square" lIns="27432" tIns="18288" rIns="27432" bIns="18288" rtlCol="0" anchor="ctr">
            <a:normAutofit/>
          </a:bodyPr>
          <a:lstStyle/>
          <a:p>
            <a:pPr marL="0" indent="0" algn="ctr">
              <a:spcBef>
                <a:spcPts val="0"/>
              </a:spcBef>
              <a:spcAft>
                <a:spcPts val="120"/>
              </a:spcAft>
              <a:buNone/>
            </a:pPr>
            <a:r>
              <a:rPr lang="en-US" sz="870" b="1" dirty="0">
                <a:solidFill>
                  <a:srgbClr val="1C6A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LLM EXPLANATION / Q&amp;A</a:t>
            </a:r>
            <a:endParaRPr lang="en-US" sz="870" dirty="0"/>
          </a:p>
          <a:p>
            <a:pPr marL="0" indent="0" algn="ctr">
              <a:spcBef>
                <a:spcPts val="0"/>
              </a:spcBef>
              <a:spcAft>
                <a:spcPts val="120"/>
              </a:spcAft>
              <a:buNone/>
            </a:pPr>
            <a:r>
              <a:rPr lang="en-US" sz="870" b="1" dirty="0">
                <a:solidFill>
                  <a:srgbClr val="1C6A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Explanation layer</a:t>
            </a:r>
            <a:endParaRPr lang="en-US" sz="870" dirty="0"/>
          </a:p>
        </p:txBody>
      </p:sp>
      <p:sp>
        <p:nvSpPr>
          <p:cNvPr id="35" name="Shape 31"/>
          <p:cNvSpPr/>
          <p:nvPr/>
        </p:nvSpPr>
        <p:spPr>
          <a:xfrm>
            <a:off x="5961888" y="5678424"/>
            <a:ext cx="0" cy="54864"/>
          </a:xfrm>
          <a:prstGeom prst="line">
            <a:avLst/>
          </a:prstGeom>
          <a:noFill/>
          <a:ln w="17780">
            <a:solidFill>
              <a:srgbClr val="6E8F5D"/>
            </a:solidFill>
            <a:prstDash val="solid"/>
            <a:headEnd type="none"/>
            <a:tailEnd type="triangle"/>
          </a:ln>
        </p:spPr>
        <p:txBody>
          <a:bodyPr lIns="27432" tIns="18288" rIns="27432" bIns="18288"/>
          <a:lstStyle/>
          <a:p>
            <a:pPr>
              <a:spcBef>
                <a:spcPts val="0"/>
              </a:spcBef>
              <a:spcAft>
                <a:spcPts val="120"/>
              </a:spcAft>
            </a:pPr>
            <a:endParaRPr/>
          </a:p>
        </p:txBody>
      </p:sp>
      <p:sp>
        <p:nvSpPr>
          <p:cNvPr id="36" name="Shape 32"/>
          <p:cNvSpPr/>
          <p:nvPr/>
        </p:nvSpPr>
        <p:spPr>
          <a:xfrm>
            <a:off x="3474720" y="5806440"/>
            <a:ext cx="4983480" cy="347472"/>
          </a:xfrm>
          <a:prstGeom prst="roundRect">
            <a:avLst>
              <a:gd name="adj" fmla="val 31579"/>
            </a:avLst>
          </a:prstGeom>
          <a:solidFill>
            <a:srgbClr val="FBF8E8"/>
          </a:solidFill>
          <a:ln w="13970">
            <a:solidFill>
              <a:srgbClr val="CBDABF"/>
            </a:solidFill>
            <a:prstDash val="solid"/>
          </a:ln>
        </p:spPr>
        <p:txBody>
          <a:bodyPr lIns="27432" tIns="18288" rIns="27432" bIns="18288"/>
          <a:lstStyle/>
          <a:p>
            <a:pPr>
              <a:spcBef>
                <a:spcPts val="0"/>
              </a:spcBef>
              <a:spcAft>
                <a:spcPts val="120"/>
              </a:spcAft>
            </a:pPr>
            <a:endParaRPr/>
          </a:p>
        </p:txBody>
      </p:sp>
      <p:sp>
        <p:nvSpPr>
          <p:cNvPr id="37" name="Text 33"/>
          <p:cNvSpPr/>
          <p:nvPr/>
        </p:nvSpPr>
        <p:spPr>
          <a:xfrm>
            <a:off x="3611880" y="5879592"/>
            <a:ext cx="4709160" cy="237744"/>
          </a:xfrm>
          <a:prstGeom prst="rect">
            <a:avLst/>
          </a:prstGeom>
          <a:noFill/>
          <a:ln/>
        </p:spPr>
        <p:txBody>
          <a:bodyPr wrap="square" lIns="27432" tIns="18288" rIns="27432" bIns="18288" rtlCol="0" anchor="ctr">
            <a:normAutofit/>
          </a:bodyPr>
          <a:lstStyle/>
          <a:p>
            <a:pPr marL="0" indent="0" algn="ctr">
              <a:spcBef>
                <a:spcPts val="0"/>
              </a:spcBef>
              <a:spcAft>
                <a:spcPts val="120"/>
              </a:spcAft>
              <a:buNone/>
            </a:pPr>
            <a:r>
              <a:rPr lang="en-US" sz="800" b="1" dirty="0">
                <a:solidFill>
                  <a:srgbClr val="253B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INVESTIGATION RESULT</a:t>
            </a:r>
            <a:endParaRPr lang="en-US" sz="800" dirty="0"/>
          </a:p>
        </p:txBody>
      </p:sp>
      <p:sp>
        <p:nvSpPr>
          <p:cNvPr id="38" name="Shape 34"/>
          <p:cNvSpPr/>
          <p:nvPr/>
        </p:nvSpPr>
        <p:spPr>
          <a:xfrm>
            <a:off x="8823960" y="3383280"/>
            <a:ext cx="1554480" cy="621792"/>
          </a:xfrm>
          <a:prstGeom prst="roundRect">
            <a:avLst>
              <a:gd name="adj" fmla="val 17647"/>
            </a:avLst>
          </a:prstGeom>
          <a:solidFill>
            <a:srgbClr val="FBF8E8"/>
          </a:solidFill>
          <a:ln w="15240">
            <a:solidFill>
              <a:srgbClr val="6E8F5D"/>
            </a:solidFill>
            <a:prstDash val="solid"/>
          </a:ln>
        </p:spPr>
        <p:txBody>
          <a:bodyPr lIns="27432" tIns="18288" rIns="27432" bIns="18288"/>
          <a:lstStyle/>
          <a:p>
            <a:pPr>
              <a:spcBef>
                <a:spcPts val="0"/>
              </a:spcBef>
              <a:spcAft>
                <a:spcPts val="120"/>
              </a:spcAft>
            </a:pPr>
            <a:endParaRPr/>
          </a:p>
        </p:txBody>
      </p:sp>
      <p:sp>
        <p:nvSpPr>
          <p:cNvPr id="39" name="Text 35"/>
          <p:cNvSpPr/>
          <p:nvPr/>
        </p:nvSpPr>
        <p:spPr>
          <a:xfrm>
            <a:off x="8915400" y="3520440"/>
            <a:ext cx="1371600" cy="329184"/>
          </a:xfrm>
          <a:prstGeom prst="rect">
            <a:avLst/>
          </a:prstGeom>
          <a:noFill/>
          <a:ln/>
        </p:spPr>
        <p:txBody>
          <a:bodyPr wrap="square" lIns="27432" tIns="18288" rIns="27432" bIns="18288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120"/>
              </a:spcAft>
              <a:buNone/>
            </a:pPr>
            <a:r>
              <a:rPr lang="en-US" sz="840" b="1" dirty="0">
                <a:solidFill>
                  <a:srgbClr val="253B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DETERMINISTIC</a:t>
            </a:r>
            <a:endParaRPr lang="en-US" sz="840" dirty="0"/>
          </a:p>
          <a:p>
            <a:pPr marL="0" indent="0" algn="l">
              <a:spcBef>
                <a:spcPts val="0"/>
              </a:spcBef>
              <a:spcAft>
                <a:spcPts val="120"/>
              </a:spcAft>
              <a:buNone/>
            </a:pPr>
            <a:r>
              <a:rPr lang="en-US" sz="840" b="1" dirty="0">
                <a:solidFill>
                  <a:srgbClr val="253B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Factual diagnosis</a:t>
            </a:r>
            <a:endParaRPr lang="en-US" sz="840" dirty="0"/>
          </a:p>
        </p:txBody>
      </p:sp>
      <p:sp>
        <p:nvSpPr>
          <p:cNvPr id="40" name="Shape 36"/>
          <p:cNvSpPr/>
          <p:nvPr/>
        </p:nvSpPr>
        <p:spPr>
          <a:xfrm>
            <a:off x="8458200" y="3813048"/>
            <a:ext cx="338328" cy="0"/>
          </a:xfrm>
          <a:prstGeom prst="line">
            <a:avLst/>
          </a:prstGeom>
          <a:noFill/>
          <a:ln w="17780">
            <a:solidFill>
              <a:srgbClr val="6E8F5D"/>
            </a:solidFill>
            <a:prstDash val="solid"/>
            <a:headEnd type="none"/>
            <a:tailEnd type="triangle"/>
          </a:ln>
        </p:spPr>
        <p:txBody>
          <a:bodyPr lIns="27432" tIns="18288" rIns="27432" bIns="18288"/>
          <a:lstStyle/>
          <a:p>
            <a:pPr>
              <a:spcBef>
                <a:spcPts val="0"/>
              </a:spcBef>
              <a:spcAft>
                <a:spcPts val="120"/>
              </a:spcAft>
            </a:pPr>
            <a:endParaRPr/>
          </a:p>
        </p:txBody>
      </p:sp>
      <p:sp>
        <p:nvSpPr>
          <p:cNvPr id="41" name="Shape 37"/>
          <p:cNvSpPr/>
          <p:nvPr/>
        </p:nvSpPr>
        <p:spPr>
          <a:xfrm>
            <a:off x="8823960" y="5029200"/>
            <a:ext cx="1554480" cy="621792"/>
          </a:xfrm>
          <a:prstGeom prst="roundRect">
            <a:avLst>
              <a:gd name="adj" fmla="val 17647"/>
            </a:avLst>
          </a:prstGeom>
          <a:solidFill>
            <a:srgbClr val="FBF8E8"/>
          </a:solidFill>
          <a:ln w="15240">
            <a:solidFill>
              <a:srgbClr val="5DA5AA"/>
            </a:solidFill>
            <a:prstDash val="solid"/>
          </a:ln>
        </p:spPr>
        <p:txBody>
          <a:bodyPr lIns="27432" tIns="18288" rIns="27432" bIns="18288"/>
          <a:lstStyle/>
          <a:p>
            <a:pPr>
              <a:spcBef>
                <a:spcPts val="0"/>
              </a:spcBef>
              <a:spcAft>
                <a:spcPts val="120"/>
              </a:spcAft>
            </a:pPr>
            <a:endParaRPr/>
          </a:p>
        </p:txBody>
      </p:sp>
      <p:sp>
        <p:nvSpPr>
          <p:cNvPr id="42" name="Text 38"/>
          <p:cNvSpPr/>
          <p:nvPr/>
        </p:nvSpPr>
        <p:spPr>
          <a:xfrm>
            <a:off x="8915400" y="5148072"/>
            <a:ext cx="1371600" cy="347472"/>
          </a:xfrm>
          <a:prstGeom prst="rect">
            <a:avLst/>
          </a:prstGeom>
          <a:noFill/>
          <a:ln/>
        </p:spPr>
        <p:txBody>
          <a:bodyPr wrap="square" lIns="27432" tIns="18288" rIns="27432" bIns="18288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120"/>
              </a:spcAft>
              <a:buNone/>
            </a:pPr>
            <a:r>
              <a:rPr lang="en-US" sz="840" b="1" dirty="0">
                <a:solidFill>
                  <a:srgbClr val="253B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EXPLANATORY</a:t>
            </a:r>
            <a:endParaRPr lang="en-US" sz="840" dirty="0"/>
          </a:p>
          <a:p>
            <a:pPr marL="0" indent="0" algn="l">
              <a:spcBef>
                <a:spcPts val="0"/>
              </a:spcBef>
              <a:spcAft>
                <a:spcPts val="120"/>
              </a:spcAft>
              <a:buNone/>
            </a:pPr>
            <a:r>
              <a:rPr lang="en-US" sz="840" b="1" dirty="0">
                <a:solidFill>
                  <a:srgbClr val="253B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AI-generated explanation</a:t>
            </a:r>
            <a:endParaRPr lang="en-US" sz="840" dirty="0"/>
          </a:p>
        </p:txBody>
      </p:sp>
      <p:sp>
        <p:nvSpPr>
          <p:cNvPr id="43" name="Shape 39"/>
          <p:cNvSpPr/>
          <p:nvPr/>
        </p:nvSpPr>
        <p:spPr>
          <a:xfrm>
            <a:off x="8458200" y="5358384"/>
            <a:ext cx="338328" cy="0"/>
          </a:xfrm>
          <a:prstGeom prst="line">
            <a:avLst/>
          </a:prstGeom>
          <a:noFill/>
          <a:ln w="17780">
            <a:solidFill>
              <a:srgbClr val="5DA5AA"/>
            </a:solidFill>
            <a:prstDash val="solid"/>
            <a:headEnd type="none"/>
            <a:tailEnd type="triangle"/>
          </a:ln>
        </p:spPr>
        <p:txBody>
          <a:bodyPr lIns="27432" tIns="18288" rIns="27432" bIns="18288"/>
          <a:lstStyle/>
          <a:p>
            <a:pPr>
              <a:spcBef>
                <a:spcPts val="0"/>
              </a:spcBef>
              <a:spcAft>
                <a:spcPts val="120"/>
              </a:spcAft>
            </a:pPr>
            <a:endParaRPr/>
          </a:p>
        </p:txBody>
      </p:sp>
      <p:sp>
        <p:nvSpPr>
          <p:cNvPr id="44" name="Text 40"/>
          <p:cNvSpPr/>
          <p:nvPr/>
        </p:nvSpPr>
        <p:spPr>
          <a:xfrm>
            <a:off x="347472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27432" tIns="18288" rIns="27432" bIns="18288" rtlCol="0" anchor="ctr">
            <a:normAutofit/>
          </a:bodyPr>
          <a:lstStyle/>
          <a:p>
            <a:pPr marL="0" indent="0">
              <a:spcBef>
                <a:spcPts val="0"/>
              </a:spcBef>
              <a:spcAft>
                <a:spcPts val="120"/>
              </a:spcAft>
              <a:buNone/>
            </a:pPr>
            <a:r>
              <a:rPr lang="en-US" sz="700" b="1" dirty="0">
                <a:solidFill>
                  <a:srgbClr val="2F49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MONEYMATCH.AI</a:t>
            </a:r>
            <a:endParaRPr lang="en-US" sz="700" dirty="0"/>
          </a:p>
        </p:txBody>
      </p:sp>
      <p:sp>
        <p:nvSpPr>
          <p:cNvPr id="45" name="Text 41"/>
          <p:cNvSpPr/>
          <p:nvPr/>
        </p:nvSpPr>
        <p:spPr>
          <a:xfrm>
            <a:off x="9144000" y="6473952"/>
            <a:ext cx="2560320" cy="228600"/>
          </a:xfrm>
          <a:prstGeom prst="rect">
            <a:avLst/>
          </a:prstGeom>
          <a:noFill/>
          <a:ln/>
        </p:spPr>
        <p:txBody>
          <a:bodyPr wrap="square" lIns="27432" tIns="18288" rIns="27432" bIns="18288" rtlCol="0" anchor="ctr">
            <a:normAutofit/>
          </a:bodyPr>
          <a:lstStyle/>
          <a:p>
            <a:pPr marL="0" indent="0">
              <a:spcBef>
                <a:spcPts val="0"/>
              </a:spcBef>
              <a:spcAft>
                <a:spcPts val="120"/>
              </a:spcAft>
              <a:buNone/>
            </a:pPr>
            <a:r>
              <a:rPr lang="en-US" sz="700" b="1" dirty="0">
                <a:solidFill>
                  <a:srgbClr val="2F49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Trace. Diagnose. Explain. Resolve.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ED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>
            <a:alphaModFix amt="90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35240" y="-73152"/>
            <a:ext cx="4754880" cy="25146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>
            <a:alphaModFix amt="82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-685800" y="4983480"/>
            <a:ext cx="4297680" cy="224028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22960" y="320040"/>
            <a:ext cx="4572000" cy="822960"/>
          </a:xfrm>
          <a:prstGeom prst="rect">
            <a:avLst/>
          </a:prstGeom>
          <a:noFill/>
          <a:ln/>
        </p:spPr>
        <p:txBody>
          <a:bodyPr wrap="square" lIns="27432" tIns="18288" rIns="27432" bIns="18288" rtlCol="0" anchor="ctr">
            <a:normAutofit/>
          </a:bodyPr>
          <a:lstStyle/>
          <a:p>
            <a:pPr marL="0" indent="0">
              <a:spcBef>
                <a:spcPts val="0"/>
              </a:spcBef>
              <a:spcAft>
                <a:spcPts val="120"/>
              </a:spcAft>
              <a:buNone/>
            </a:pPr>
            <a:r>
              <a:rPr lang="en-US" sz="3400" b="1" dirty="0">
                <a:solidFill>
                  <a:srgbClr val="2F492A"/>
                </a:solidFill>
                <a:latin typeface="Cooper Black" pitchFamily="34" charset="0"/>
                <a:ea typeface="Cooper Black" pitchFamily="34" charset="-122"/>
                <a:cs typeface="Cooper Black" pitchFamily="34" charset="-120"/>
              </a:rPr>
              <a:t>Let’s investigate</a:t>
            </a:r>
            <a:endParaRPr lang="en-US" sz="3400" dirty="0"/>
          </a:p>
          <a:p>
            <a:pPr marL="0" indent="0">
              <a:spcBef>
                <a:spcPts val="0"/>
              </a:spcBef>
              <a:spcAft>
                <a:spcPts val="120"/>
              </a:spcAft>
              <a:buNone/>
            </a:pPr>
            <a:r>
              <a:rPr lang="en-US" sz="3400" b="1" dirty="0">
                <a:solidFill>
                  <a:srgbClr val="2F492A"/>
                </a:solidFill>
                <a:latin typeface="Cooper Black" pitchFamily="34" charset="0"/>
                <a:ea typeface="Cooper Black" pitchFamily="34" charset="-122"/>
                <a:cs typeface="Cooper Black" pitchFamily="34" charset="-120"/>
              </a:rPr>
              <a:t>one transaction.</a:t>
            </a:r>
            <a:endParaRPr lang="en-US" sz="3400" dirty="0"/>
          </a:p>
        </p:txBody>
      </p:sp>
      <p:sp>
        <p:nvSpPr>
          <p:cNvPr id="5" name="Shape 1"/>
          <p:cNvSpPr/>
          <p:nvPr/>
        </p:nvSpPr>
        <p:spPr>
          <a:xfrm>
            <a:off x="594360" y="1481328"/>
            <a:ext cx="10972800" cy="4800600"/>
          </a:xfrm>
          <a:prstGeom prst="roundRect">
            <a:avLst>
              <a:gd name="adj" fmla="val 2286"/>
            </a:avLst>
          </a:prstGeom>
          <a:solidFill>
            <a:srgbClr val="3D5734"/>
          </a:solidFill>
          <a:ln w="13970">
            <a:solidFill>
              <a:srgbClr val="F2EDD2"/>
            </a:solidFill>
            <a:prstDash val="solid"/>
          </a:ln>
        </p:spPr>
        <p:txBody>
          <a:bodyPr lIns="27432" tIns="18288" rIns="27432" bIns="18288"/>
          <a:lstStyle/>
          <a:p>
            <a:pPr>
              <a:spcBef>
                <a:spcPts val="0"/>
              </a:spcBef>
              <a:spcAft>
                <a:spcPts val="120"/>
              </a:spcAft>
            </a:pPr>
            <a:endParaRPr/>
          </a:p>
        </p:txBody>
      </p:sp>
      <p:sp>
        <p:nvSpPr>
          <p:cNvPr id="6" name="Shape 2"/>
          <p:cNvSpPr/>
          <p:nvPr/>
        </p:nvSpPr>
        <p:spPr>
          <a:xfrm>
            <a:off x="896112" y="1783080"/>
            <a:ext cx="1920240" cy="786384"/>
          </a:xfrm>
          <a:prstGeom prst="roundRect">
            <a:avLst>
              <a:gd name="adj" fmla="val 16000"/>
            </a:avLst>
          </a:prstGeom>
          <a:solidFill>
            <a:srgbClr val="FBF8E8"/>
          </a:solidFill>
          <a:ln w="15240">
            <a:solidFill>
              <a:srgbClr val="CBDABF"/>
            </a:solidFill>
            <a:prstDash val="solid"/>
          </a:ln>
        </p:spPr>
        <p:txBody>
          <a:bodyPr lIns="27432" tIns="18288" rIns="27432" bIns="18288"/>
          <a:lstStyle/>
          <a:p>
            <a:pPr>
              <a:spcBef>
                <a:spcPts val="0"/>
              </a:spcBef>
              <a:spcAft>
                <a:spcPts val="120"/>
              </a:spcAft>
            </a:pPr>
            <a:endParaRPr/>
          </a:p>
        </p:txBody>
      </p:sp>
      <p:sp>
        <p:nvSpPr>
          <p:cNvPr id="7" name="Text 3"/>
          <p:cNvSpPr/>
          <p:nvPr/>
        </p:nvSpPr>
        <p:spPr>
          <a:xfrm>
            <a:off x="1005840" y="1901952"/>
            <a:ext cx="1700784" cy="164592"/>
          </a:xfrm>
          <a:prstGeom prst="rect">
            <a:avLst/>
          </a:prstGeom>
          <a:noFill/>
          <a:ln/>
        </p:spPr>
        <p:txBody>
          <a:bodyPr wrap="square" lIns="27432" tIns="18288" rIns="27432" bIns="18288" rtlCol="0" anchor="ctr"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dirty="0">
                <a:solidFill>
                  <a:srgbClr val="253B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Transaction</a:t>
            </a:r>
            <a:endParaRPr lang="en-US" sz="760" dirty="0"/>
          </a:p>
        </p:txBody>
      </p:sp>
      <p:sp>
        <p:nvSpPr>
          <p:cNvPr id="8" name="Text 4"/>
          <p:cNvSpPr/>
          <p:nvPr/>
        </p:nvSpPr>
        <p:spPr>
          <a:xfrm>
            <a:off x="1005840" y="2103120"/>
            <a:ext cx="1700784" cy="201168"/>
          </a:xfrm>
          <a:prstGeom prst="rect">
            <a:avLst/>
          </a:prstGeom>
          <a:noFill/>
          <a:ln/>
        </p:spPr>
        <p:txBody>
          <a:bodyPr wrap="square" lIns="27432" tIns="18288" rIns="27432" bIns="18288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dirty="0">
                <a:solidFill>
                  <a:srgbClr val="253B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TXN-1042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996696" y="2331720"/>
            <a:ext cx="1600200" cy="146304"/>
          </a:xfrm>
          <a:prstGeom prst="rect">
            <a:avLst/>
          </a:prstGeom>
          <a:noFill/>
          <a:ln/>
        </p:spPr>
        <p:txBody>
          <a:bodyPr wrap="square" lIns="27432" tIns="18288" rIns="27432" bIns="18288" rtlCol="0" anchor="t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" b="0" dirty="0">
                <a:solidFill>
                  <a:srgbClr val="253B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•Synthetic demo data</a:t>
            </a:r>
            <a:endParaRPr lang="en-US" sz="750" dirty="0"/>
          </a:p>
        </p:txBody>
      </p:sp>
      <p:sp>
        <p:nvSpPr>
          <p:cNvPr id="10" name="Shape 6"/>
          <p:cNvSpPr/>
          <p:nvPr/>
        </p:nvSpPr>
        <p:spPr>
          <a:xfrm>
            <a:off x="3154680" y="1783080"/>
            <a:ext cx="1920240" cy="786384"/>
          </a:xfrm>
          <a:prstGeom prst="roundRect">
            <a:avLst>
              <a:gd name="adj" fmla="val 16000"/>
            </a:avLst>
          </a:prstGeom>
          <a:solidFill>
            <a:srgbClr val="FBF8E8"/>
          </a:solidFill>
          <a:ln w="15240">
            <a:solidFill>
              <a:srgbClr val="CBDABF"/>
            </a:solidFill>
            <a:prstDash val="solid"/>
          </a:ln>
        </p:spPr>
        <p:txBody>
          <a:bodyPr lIns="27432" tIns="18288" rIns="27432" bIns="18288"/>
          <a:lstStyle/>
          <a:p>
            <a:pPr>
              <a:spcBef>
                <a:spcPts val="0"/>
              </a:spcBef>
              <a:spcAft>
                <a:spcPts val="120"/>
              </a:spcAft>
            </a:pPr>
            <a:endParaRPr/>
          </a:p>
        </p:txBody>
      </p:sp>
      <p:sp>
        <p:nvSpPr>
          <p:cNvPr id="11" name="Text 7"/>
          <p:cNvSpPr/>
          <p:nvPr/>
        </p:nvSpPr>
        <p:spPr>
          <a:xfrm>
            <a:off x="3264408" y="1901952"/>
            <a:ext cx="1700784" cy="164592"/>
          </a:xfrm>
          <a:prstGeom prst="rect">
            <a:avLst/>
          </a:prstGeom>
          <a:noFill/>
          <a:ln/>
        </p:spPr>
        <p:txBody>
          <a:bodyPr wrap="square" lIns="27432" tIns="18288" rIns="27432" bIns="18288" rtlCol="0" anchor="ctr"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dirty="0">
                <a:solidFill>
                  <a:srgbClr val="253B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Amount</a:t>
            </a:r>
            <a:endParaRPr lang="en-US" sz="760" dirty="0"/>
          </a:p>
        </p:txBody>
      </p:sp>
      <p:sp>
        <p:nvSpPr>
          <p:cNvPr id="12" name="Text 8"/>
          <p:cNvSpPr/>
          <p:nvPr/>
        </p:nvSpPr>
        <p:spPr>
          <a:xfrm>
            <a:off x="3264408" y="2121408"/>
            <a:ext cx="1700784" cy="201168"/>
          </a:xfrm>
          <a:prstGeom prst="rect">
            <a:avLst/>
          </a:prstGeom>
          <a:noFill/>
          <a:ln/>
        </p:spPr>
        <p:txBody>
          <a:bodyPr wrap="square" lIns="27432" tIns="18288" rIns="27432" bIns="18288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dirty="0">
                <a:solidFill>
                  <a:srgbClr val="253B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₹10,000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914400" y="2743200"/>
            <a:ext cx="2743200" cy="868680"/>
          </a:xfrm>
          <a:prstGeom prst="roundRect">
            <a:avLst>
              <a:gd name="adj" fmla="val 12632"/>
            </a:avLst>
          </a:prstGeom>
          <a:solidFill>
            <a:srgbClr val="486E3C"/>
          </a:solidFill>
          <a:ln w="12700">
            <a:solidFill>
              <a:srgbClr val="5E7F4E"/>
            </a:solidFill>
            <a:prstDash val="solid"/>
          </a:ln>
        </p:spPr>
        <p:txBody>
          <a:bodyPr lIns="27432" tIns="18288" rIns="27432" bIns="18288"/>
          <a:lstStyle/>
          <a:p>
            <a:pPr>
              <a:spcBef>
                <a:spcPts val="0"/>
              </a:spcBef>
              <a:spcAft>
                <a:spcPts val="120"/>
              </a:spcAft>
            </a:pPr>
            <a:endParaRPr/>
          </a:p>
        </p:txBody>
      </p:sp>
      <p:sp>
        <p:nvSpPr>
          <p:cNvPr id="14" name="Text 10"/>
          <p:cNvSpPr/>
          <p:nvPr/>
        </p:nvSpPr>
        <p:spPr>
          <a:xfrm>
            <a:off x="1042416" y="2880360"/>
            <a:ext cx="502920" cy="457200"/>
          </a:xfrm>
          <a:prstGeom prst="rect">
            <a:avLst/>
          </a:prstGeom>
          <a:noFill/>
          <a:ln/>
        </p:spPr>
        <p:txBody>
          <a:bodyPr wrap="square" lIns="27432" tIns="18288" rIns="27432" bIns="18288" rtlCol="0" anchor="ctr">
            <a:normAutofit/>
          </a:bodyPr>
          <a:lstStyle/>
          <a:p>
            <a:pPr marL="0" indent="0" algn="ctr">
              <a:spcBef>
                <a:spcPts val="0"/>
              </a:spcBef>
              <a:spcAft>
                <a:spcPts val="120"/>
              </a:spcAft>
              <a:buNone/>
            </a:pPr>
            <a:r>
              <a:rPr lang="en-US" sz="2400" b="1" dirty="0">
                <a:solidFill>
                  <a:srgbClr val="F2EDD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✓</a:t>
            </a:r>
            <a:endParaRPr lang="en-US" sz="2400" dirty="0"/>
          </a:p>
        </p:txBody>
      </p:sp>
      <p:sp>
        <p:nvSpPr>
          <p:cNvPr id="15" name="Text 11"/>
          <p:cNvSpPr/>
          <p:nvPr/>
        </p:nvSpPr>
        <p:spPr>
          <a:xfrm>
            <a:off x="1600200" y="2880360"/>
            <a:ext cx="1097280" cy="182880"/>
          </a:xfrm>
          <a:prstGeom prst="rect">
            <a:avLst/>
          </a:prstGeom>
          <a:noFill/>
          <a:ln/>
        </p:spPr>
        <p:txBody>
          <a:bodyPr wrap="square" lIns="27432" tIns="18288" rIns="27432" bIns="18288" rtlCol="0" anchor="t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120"/>
              </a:spcAft>
              <a:buNone/>
            </a:pPr>
            <a:r>
              <a:rPr lang="en-US" sz="1100" b="1" dirty="0">
                <a:solidFill>
                  <a:srgbClr val="F2EDD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Gateway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1600200" y="3172968"/>
            <a:ext cx="1051560" cy="201168"/>
          </a:xfrm>
          <a:prstGeom prst="rect">
            <a:avLst/>
          </a:prstGeom>
          <a:noFill/>
          <a:ln/>
        </p:spPr>
        <p:txBody>
          <a:bodyPr wrap="square" lIns="27432" tIns="18288" rIns="27432" bIns="18288" rtlCol="0" anchor="t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120"/>
              </a:spcAft>
              <a:buNone/>
            </a:pPr>
            <a:r>
              <a:rPr lang="en-US" sz="1100" b="1" dirty="0">
                <a:solidFill>
                  <a:srgbClr val="F6F0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SUCCESS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1600200" y="3410712"/>
            <a:ext cx="1691640" cy="219456"/>
          </a:xfrm>
          <a:prstGeom prst="rect">
            <a:avLst/>
          </a:prstGeom>
          <a:noFill/>
          <a:ln/>
        </p:spPr>
        <p:txBody>
          <a:bodyPr wrap="square" lIns="27432" tIns="18288" rIns="27432" bIns="18288" rtlCol="0" anchor="t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120"/>
              </a:spcAft>
              <a:buNone/>
            </a:pPr>
            <a:r>
              <a:rPr lang="en-US" sz="800" b="1" dirty="0">
                <a:solidFill>
                  <a:srgbClr val="F2EDD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₹10,000</a:t>
            </a:r>
            <a:endParaRPr lang="en-US" sz="800" dirty="0"/>
          </a:p>
        </p:txBody>
      </p:sp>
      <p:sp>
        <p:nvSpPr>
          <p:cNvPr id="18" name="Shape 14"/>
          <p:cNvSpPr/>
          <p:nvPr/>
        </p:nvSpPr>
        <p:spPr>
          <a:xfrm>
            <a:off x="3794760" y="3200400"/>
            <a:ext cx="365760" cy="0"/>
          </a:xfrm>
          <a:prstGeom prst="line">
            <a:avLst/>
          </a:prstGeom>
          <a:noFill/>
          <a:ln w="29210">
            <a:solidFill>
              <a:srgbClr val="F2EDD2"/>
            </a:solidFill>
            <a:prstDash val="solid"/>
            <a:headEnd type="none"/>
            <a:tailEnd type="triangle"/>
          </a:ln>
        </p:spPr>
        <p:txBody>
          <a:bodyPr lIns="27432" tIns="18288" rIns="27432" bIns="18288"/>
          <a:lstStyle/>
          <a:p>
            <a:pPr>
              <a:spcBef>
                <a:spcPts val="0"/>
              </a:spcBef>
              <a:spcAft>
                <a:spcPts val="120"/>
              </a:spcAft>
            </a:pPr>
            <a:endParaRPr/>
          </a:p>
        </p:txBody>
      </p:sp>
      <p:sp>
        <p:nvSpPr>
          <p:cNvPr id="19" name="Shape 15"/>
          <p:cNvSpPr/>
          <p:nvPr/>
        </p:nvSpPr>
        <p:spPr>
          <a:xfrm>
            <a:off x="4617720" y="2743200"/>
            <a:ext cx="2743200" cy="868680"/>
          </a:xfrm>
          <a:prstGeom prst="roundRect">
            <a:avLst>
              <a:gd name="adj" fmla="val 12632"/>
            </a:avLst>
          </a:prstGeom>
          <a:solidFill>
            <a:srgbClr val="405B36"/>
          </a:solidFill>
          <a:ln w="12700">
            <a:solidFill>
              <a:srgbClr val="C3A637"/>
            </a:solidFill>
            <a:prstDash val="solid"/>
          </a:ln>
        </p:spPr>
        <p:txBody>
          <a:bodyPr lIns="27432" tIns="18288" rIns="27432" bIns="18288"/>
          <a:lstStyle/>
          <a:p>
            <a:pPr>
              <a:spcBef>
                <a:spcPts val="0"/>
              </a:spcBef>
              <a:spcAft>
                <a:spcPts val="120"/>
              </a:spcAft>
            </a:pPr>
            <a:endParaRPr/>
          </a:p>
        </p:txBody>
      </p:sp>
      <p:sp>
        <p:nvSpPr>
          <p:cNvPr id="20" name="Text 16"/>
          <p:cNvSpPr/>
          <p:nvPr/>
        </p:nvSpPr>
        <p:spPr>
          <a:xfrm>
            <a:off x="4745736" y="2880360"/>
            <a:ext cx="502920" cy="457200"/>
          </a:xfrm>
          <a:prstGeom prst="rect">
            <a:avLst/>
          </a:prstGeom>
          <a:noFill/>
          <a:ln/>
        </p:spPr>
        <p:txBody>
          <a:bodyPr wrap="square" lIns="27432" tIns="18288" rIns="27432" bIns="18288" rtlCol="0" anchor="ctr">
            <a:normAutofit/>
          </a:bodyPr>
          <a:lstStyle/>
          <a:p>
            <a:pPr marL="0" indent="0" algn="ctr">
              <a:spcBef>
                <a:spcPts val="0"/>
              </a:spcBef>
              <a:spcAft>
                <a:spcPts val="120"/>
              </a:spcAft>
              <a:buNone/>
            </a:pPr>
            <a:r>
              <a:rPr lang="en-US" sz="2400" b="1" dirty="0">
                <a:solidFill>
                  <a:srgbClr val="F2EDD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⚠</a:t>
            </a:r>
            <a:endParaRPr lang="en-US" sz="2400" dirty="0"/>
          </a:p>
        </p:txBody>
      </p:sp>
      <p:sp>
        <p:nvSpPr>
          <p:cNvPr id="21" name="Text 17"/>
          <p:cNvSpPr/>
          <p:nvPr/>
        </p:nvSpPr>
        <p:spPr>
          <a:xfrm>
            <a:off x="5303520" y="2880360"/>
            <a:ext cx="1097280" cy="182880"/>
          </a:xfrm>
          <a:prstGeom prst="rect">
            <a:avLst/>
          </a:prstGeom>
          <a:noFill/>
          <a:ln/>
        </p:spPr>
        <p:txBody>
          <a:bodyPr wrap="square" lIns="27432" tIns="18288" rIns="27432" bIns="18288" rtlCol="0" anchor="t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120"/>
              </a:spcAft>
              <a:buNone/>
            </a:pPr>
            <a:r>
              <a:rPr lang="en-US" sz="1100" b="1" dirty="0">
                <a:solidFill>
                  <a:srgbClr val="F2EDD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Bank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5303520" y="3172968"/>
            <a:ext cx="1051560" cy="201168"/>
          </a:xfrm>
          <a:prstGeom prst="rect">
            <a:avLst/>
          </a:prstGeom>
          <a:noFill/>
          <a:ln/>
        </p:spPr>
        <p:txBody>
          <a:bodyPr wrap="square" lIns="27432" tIns="18288" rIns="27432" bIns="18288" rtlCol="0" anchor="t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120"/>
              </a:spcAft>
              <a:buNone/>
            </a:pPr>
            <a:r>
              <a:rPr lang="en-US" sz="1100" b="1" dirty="0">
                <a:solidFill>
                  <a:srgbClr val="FFEA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DELAYED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5303520" y="3410712"/>
            <a:ext cx="1691640" cy="219456"/>
          </a:xfrm>
          <a:prstGeom prst="rect">
            <a:avLst/>
          </a:prstGeom>
          <a:noFill/>
          <a:ln/>
        </p:spPr>
        <p:txBody>
          <a:bodyPr wrap="square" lIns="27432" tIns="18288" rIns="27432" bIns="18288" rtlCol="0" anchor="t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120"/>
              </a:spcAft>
              <a:buNone/>
            </a:pPr>
            <a:r>
              <a:rPr lang="en-US" sz="800" b="1" dirty="0">
                <a:solidFill>
                  <a:srgbClr val="F2EDD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Settlement not received</a:t>
            </a:r>
            <a:endParaRPr lang="en-US" sz="800" dirty="0"/>
          </a:p>
        </p:txBody>
      </p:sp>
      <p:sp>
        <p:nvSpPr>
          <p:cNvPr id="24" name="Shape 20"/>
          <p:cNvSpPr/>
          <p:nvPr/>
        </p:nvSpPr>
        <p:spPr>
          <a:xfrm>
            <a:off x="7498080" y="3200400"/>
            <a:ext cx="365760" cy="0"/>
          </a:xfrm>
          <a:prstGeom prst="line">
            <a:avLst/>
          </a:prstGeom>
          <a:noFill/>
          <a:ln w="29210">
            <a:solidFill>
              <a:srgbClr val="F2EDD2"/>
            </a:solidFill>
            <a:prstDash val="solid"/>
            <a:headEnd type="none"/>
            <a:tailEnd type="triangle"/>
          </a:ln>
        </p:spPr>
        <p:txBody>
          <a:bodyPr lIns="27432" tIns="18288" rIns="27432" bIns="18288"/>
          <a:lstStyle/>
          <a:p>
            <a:pPr>
              <a:spcBef>
                <a:spcPts val="0"/>
              </a:spcBef>
              <a:spcAft>
                <a:spcPts val="120"/>
              </a:spcAft>
            </a:pPr>
            <a:endParaRPr/>
          </a:p>
        </p:txBody>
      </p:sp>
      <p:sp>
        <p:nvSpPr>
          <p:cNvPr id="25" name="Shape 21"/>
          <p:cNvSpPr/>
          <p:nvPr/>
        </p:nvSpPr>
        <p:spPr>
          <a:xfrm>
            <a:off x="8321040" y="2743200"/>
            <a:ext cx="2743200" cy="868680"/>
          </a:xfrm>
          <a:prstGeom prst="roundRect">
            <a:avLst>
              <a:gd name="adj" fmla="val 12632"/>
            </a:avLst>
          </a:prstGeom>
          <a:solidFill>
            <a:srgbClr val="405B36"/>
          </a:solidFill>
          <a:ln w="12700">
            <a:solidFill>
              <a:srgbClr val="5DA5AA"/>
            </a:solidFill>
            <a:prstDash val="solid"/>
          </a:ln>
        </p:spPr>
        <p:txBody>
          <a:bodyPr lIns="27432" tIns="18288" rIns="27432" bIns="18288"/>
          <a:lstStyle/>
          <a:p>
            <a:pPr>
              <a:spcBef>
                <a:spcPts val="0"/>
              </a:spcBef>
              <a:spcAft>
                <a:spcPts val="120"/>
              </a:spcAft>
            </a:pPr>
            <a:endParaRPr/>
          </a:p>
        </p:txBody>
      </p:sp>
      <p:sp>
        <p:nvSpPr>
          <p:cNvPr id="26" name="Text 22"/>
          <p:cNvSpPr/>
          <p:nvPr/>
        </p:nvSpPr>
        <p:spPr>
          <a:xfrm>
            <a:off x="8449056" y="2880360"/>
            <a:ext cx="502920" cy="457200"/>
          </a:xfrm>
          <a:prstGeom prst="rect">
            <a:avLst/>
          </a:prstGeom>
          <a:noFill/>
          <a:ln/>
        </p:spPr>
        <p:txBody>
          <a:bodyPr wrap="square" lIns="27432" tIns="18288" rIns="27432" bIns="18288" rtlCol="0" anchor="ctr">
            <a:normAutofit/>
          </a:bodyPr>
          <a:lstStyle/>
          <a:p>
            <a:pPr marL="0" indent="0" algn="ctr">
              <a:spcBef>
                <a:spcPts val="0"/>
              </a:spcBef>
              <a:spcAft>
                <a:spcPts val="120"/>
              </a:spcAft>
              <a:buNone/>
            </a:pPr>
            <a:r>
              <a:rPr lang="en-US" sz="2400" b="1" dirty="0">
                <a:solidFill>
                  <a:srgbClr val="F2EDD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⌛</a:t>
            </a:r>
            <a:endParaRPr lang="en-US" sz="2400" dirty="0"/>
          </a:p>
        </p:txBody>
      </p:sp>
      <p:sp>
        <p:nvSpPr>
          <p:cNvPr id="27" name="Text 23"/>
          <p:cNvSpPr/>
          <p:nvPr/>
        </p:nvSpPr>
        <p:spPr>
          <a:xfrm>
            <a:off x="9006840" y="2880360"/>
            <a:ext cx="1097280" cy="182880"/>
          </a:xfrm>
          <a:prstGeom prst="rect">
            <a:avLst/>
          </a:prstGeom>
          <a:noFill/>
          <a:ln/>
        </p:spPr>
        <p:txBody>
          <a:bodyPr wrap="square" lIns="27432" tIns="18288" rIns="27432" bIns="18288" rtlCol="0" anchor="t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120"/>
              </a:spcAft>
              <a:buNone/>
            </a:pPr>
            <a:r>
              <a:rPr lang="en-US" sz="1100" b="1" dirty="0">
                <a:solidFill>
                  <a:srgbClr val="F2EDD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Ledger</a:t>
            </a:r>
            <a:endParaRPr lang="en-US" sz="1100" dirty="0"/>
          </a:p>
        </p:txBody>
      </p:sp>
      <p:sp>
        <p:nvSpPr>
          <p:cNvPr id="28" name="Text 24"/>
          <p:cNvSpPr/>
          <p:nvPr/>
        </p:nvSpPr>
        <p:spPr>
          <a:xfrm>
            <a:off x="9006840" y="3172968"/>
            <a:ext cx="1051560" cy="201168"/>
          </a:xfrm>
          <a:prstGeom prst="rect">
            <a:avLst/>
          </a:prstGeom>
          <a:noFill/>
          <a:ln/>
        </p:spPr>
        <p:txBody>
          <a:bodyPr wrap="square" lIns="27432" tIns="18288" rIns="27432" bIns="18288" rtlCol="0" anchor="t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120"/>
              </a:spcAft>
              <a:buNone/>
            </a:pPr>
            <a:r>
              <a:rPr lang="en-US" sz="1100" b="1" dirty="0">
                <a:solidFill>
                  <a:srgbClr val="F6F0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PENDING</a:t>
            </a:r>
            <a:endParaRPr lang="en-US" sz="1100" dirty="0"/>
          </a:p>
        </p:txBody>
      </p:sp>
      <p:sp>
        <p:nvSpPr>
          <p:cNvPr id="29" name="Text 25"/>
          <p:cNvSpPr/>
          <p:nvPr/>
        </p:nvSpPr>
        <p:spPr>
          <a:xfrm>
            <a:off x="9006840" y="3410712"/>
            <a:ext cx="1691640" cy="219456"/>
          </a:xfrm>
          <a:prstGeom prst="rect">
            <a:avLst/>
          </a:prstGeom>
          <a:noFill/>
          <a:ln/>
        </p:spPr>
        <p:txBody>
          <a:bodyPr wrap="square" lIns="27432" tIns="18288" rIns="27432" bIns="18288" rtlCol="0" anchor="t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120"/>
              </a:spcAft>
              <a:buNone/>
            </a:pPr>
            <a:r>
              <a:rPr lang="en-US" sz="800" b="1" dirty="0">
                <a:solidFill>
                  <a:srgbClr val="F2EDD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Awaiting settlement</a:t>
            </a:r>
            <a:endParaRPr lang="en-US" sz="800" dirty="0"/>
          </a:p>
          <a:p>
            <a:pPr marL="0" indent="0" algn="l">
              <a:spcBef>
                <a:spcPts val="0"/>
              </a:spcBef>
              <a:spcAft>
                <a:spcPts val="120"/>
              </a:spcAft>
              <a:buNone/>
            </a:pPr>
            <a:r>
              <a:rPr lang="en-US" sz="800" b="1" dirty="0">
                <a:solidFill>
                  <a:srgbClr val="F2EDD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confirmation</a:t>
            </a:r>
            <a:endParaRPr lang="en-US" sz="800" dirty="0"/>
          </a:p>
        </p:txBody>
      </p:sp>
      <p:sp>
        <p:nvSpPr>
          <p:cNvPr id="30" name="Shape 26"/>
          <p:cNvSpPr/>
          <p:nvPr/>
        </p:nvSpPr>
        <p:spPr>
          <a:xfrm>
            <a:off x="896112" y="3977640"/>
            <a:ext cx="2743200" cy="1508760"/>
          </a:xfrm>
          <a:prstGeom prst="roundRect">
            <a:avLst>
              <a:gd name="adj" fmla="val 7273"/>
            </a:avLst>
          </a:prstGeom>
          <a:solidFill>
            <a:srgbClr val="486E3C"/>
          </a:solidFill>
          <a:ln w="15240">
            <a:solidFill>
              <a:srgbClr val="6E8F5D"/>
            </a:solidFill>
            <a:prstDash val="solid"/>
          </a:ln>
        </p:spPr>
        <p:txBody>
          <a:bodyPr lIns="27432" tIns="18288" rIns="27432" bIns="18288"/>
          <a:lstStyle/>
          <a:p>
            <a:pPr>
              <a:spcBef>
                <a:spcPts val="0"/>
              </a:spcBef>
              <a:spcAft>
                <a:spcPts val="120"/>
              </a:spcAft>
            </a:pPr>
            <a:endParaRPr/>
          </a:p>
        </p:txBody>
      </p:sp>
      <p:sp>
        <p:nvSpPr>
          <p:cNvPr id="31" name="Text 27"/>
          <p:cNvSpPr/>
          <p:nvPr/>
        </p:nvSpPr>
        <p:spPr>
          <a:xfrm>
            <a:off x="1078992" y="4178808"/>
            <a:ext cx="1143000" cy="182880"/>
          </a:xfrm>
          <a:prstGeom prst="rect">
            <a:avLst/>
          </a:prstGeom>
          <a:noFill/>
          <a:ln/>
        </p:spPr>
        <p:txBody>
          <a:bodyPr wrap="square" lIns="27432" tIns="18288" rIns="27432" bIns="18288" rtlCol="0" anchor="ctr">
            <a:normAutofit/>
          </a:bodyPr>
          <a:lstStyle/>
          <a:p>
            <a:pPr marL="0" indent="0">
              <a:spcBef>
                <a:spcPts val="0"/>
              </a:spcBef>
              <a:spcAft>
                <a:spcPts val="120"/>
              </a:spcAft>
              <a:buNone/>
            </a:pPr>
            <a:r>
              <a:rPr lang="en-US" sz="830" b="1" dirty="0">
                <a:solidFill>
                  <a:srgbClr val="F2EDD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LIKELY CAUSE</a:t>
            </a:r>
            <a:endParaRPr lang="en-US" sz="830" dirty="0"/>
          </a:p>
        </p:txBody>
      </p:sp>
      <p:sp>
        <p:nvSpPr>
          <p:cNvPr id="32" name="Text 28"/>
          <p:cNvSpPr/>
          <p:nvPr/>
        </p:nvSpPr>
        <p:spPr>
          <a:xfrm>
            <a:off x="1078992" y="4526280"/>
            <a:ext cx="2148840" cy="685800"/>
          </a:xfrm>
          <a:prstGeom prst="rect">
            <a:avLst/>
          </a:prstGeom>
          <a:noFill/>
          <a:ln/>
        </p:spPr>
        <p:txBody>
          <a:bodyPr wrap="square" lIns="27432" tIns="18288" rIns="27432" bIns="18288" rtlCol="0" anchor="ctr">
            <a:normAutofit/>
          </a:bodyPr>
          <a:lstStyle/>
          <a:p>
            <a:pPr marL="0" indent="0">
              <a:spcBef>
                <a:spcPts val="0"/>
              </a:spcBef>
              <a:spcAft>
                <a:spcPts val="120"/>
              </a:spcAft>
              <a:buNone/>
            </a:pPr>
            <a:r>
              <a:rPr lang="en-US" sz="2100" b="1" dirty="0">
                <a:solidFill>
                  <a:srgbClr val="F2EDD2"/>
                </a:solidFill>
                <a:latin typeface="Cooper Black" pitchFamily="34" charset="0"/>
                <a:ea typeface="Cooper Black" pitchFamily="34" charset="-122"/>
                <a:cs typeface="Cooper Black" pitchFamily="34" charset="-120"/>
              </a:rPr>
              <a:t>Bank settlement</a:t>
            </a:r>
            <a:endParaRPr lang="en-US" sz="2100" dirty="0"/>
          </a:p>
          <a:p>
            <a:pPr marL="0" indent="0">
              <a:spcBef>
                <a:spcPts val="0"/>
              </a:spcBef>
              <a:spcAft>
                <a:spcPts val="120"/>
              </a:spcAft>
              <a:buNone/>
            </a:pPr>
            <a:r>
              <a:rPr lang="en-US" sz="2100" b="1" dirty="0">
                <a:solidFill>
                  <a:srgbClr val="F2EDD2"/>
                </a:solidFill>
                <a:latin typeface="Cooper Black" pitchFamily="34" charset="0"/>
                <a:ea typeface="Cooper Black" pitchFamily="34" charset="-122"/>
                <a:cs typeface="Cooper Black" pitchFamily="34" charset="-120"/>
              </a:rPr>
              <a:t>delay</a:t>
            </a:r>
            <a:endParaRPr lang="en-US" sz="2100" dirty="0"/>
          </a:p>
        </p:txBody>
      </p:sp>
      <p:sp>
        <p:nvSpPr>
          <p:cNvPr id="33" name="Shape 29"/>
          <p:cNvSpPr/>
          <p:nvPr/>
        </p:nvSpPr>
        <p:spPr>
          <a:xfrm>
            <a:off x="3886200" y="3977640"/>
            <a:ext cx="2697480" cy="1508760"/>
          </a:xfrm>
          <a:prstGeom prst="roundRect">
            <a:avLst>
              <a:gd name="adj" fmla="val 7273"/>
            </a:avLst>
          </a:prstGeom>
          <a:solidFill>
            <a:srgbClr val="425E38"/>
          </a:solidFill>
          <a:ln w="15240">
            <a:solidFill>
              <a:srgbClr val="5DA5AA"/>
            </a:solidFill>
            <a:prstDash val="solid"/>
          </a:ln>
        </p:spPr>
        <p:txBody>
          <a:bodyPr lIns="27432" tIns="18288" rIns="27432" bIns="18288"/>
          <a:lstStyle/>
          <a:p>
            <a:pPr>
              <a:spcBef>
                <a:spcPts val="0"/>
              </a:spcBef>
              <a:spcAft>
                <a:spcPts val="120"/>
              </a:spcAft>
            </a:pPr>
            <a:endParaRPr/>
          </a:p>
        </p:txBody>
      </p:sp>
      <p:sp>
        <p:nvSpPr>
          <p:cNvPr id="34" name="Text 30"/>
          <p:cNvSpPr/>
          <p:nvPr/>
        </p:nvSpPr>
        <p:spPr>
          <a:xfrm>
            <a:off x="4069080" y="4178808"/>
            <a:ext cx="1325880" cy="182880"/>
          </a:xfrm>
          <a:prstGeom prst="rect">
            <a:avLst/>
          </a:prstGeom>
          <a:noFill/>
          <a:ln/>
        </p:spPr>
        <p:txBody>
          <a:bodyPr wrap="square" lIns="27432" tIns="18288" rIns="27432" bIns="18288" rtlCol="0" anchor="ctr">
            <a:normAutofit/>
          </a:bodyPr>
          <a:lstStyle/>
          <a:p>
            <a:pPr marL="0" indent="0">
              <a:spcBef>
                <a:spcPts val="0"/>
              </a:spcBef>
              <a:spcAft>
                <a:spcPts val="120"/>
              </a:spcAft>
              <a:buNone/>
            </a:pPr>
            <a:r>
              <a:rPr lang="en-US" sz="830" b="1" dirty="0">
                <a:solidFill>
                  <a:srgbClr val="F6F0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EXPLANATION</a:t>
            </a:r>
            <a:endParaRPr lang="en-US" sz="830" dirty="0"/>
          </a:p>
        </p:txBody>
      </p:sp>
      <p:sp>
        <p:nvSpPr>
          <p:cNvPr id="35" name="Text 31"/>
          <p:cNvSpPr/>
          <p:nvPr/>
        </p:nvSpPr>
        <p:spPr>
          <a:xfrm>
            <a:off x="4069080" y="4462272"/>
            <a:ext cx="2240280" cy="841248"/>
          </a:xfrm>
          <a:prstGeom prst="rect">
            <a:avLst/>
          </a:prstGeom>
          <a:noFill/>
          <a:ln/>
        </p:spPr>
        <p:txBody>
          <a:bodyPr wrap="square" lIns="27432" tIns="18288" rIns="27432" bIns="18288" rtlCol="0" anchor="t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120"/>
              </a:spcAft>
              <a:buNone/>
            </a:pPr>
            <a:r>
              <a:rPr lang="en-US" sz="850" dirty="0">
                <a:solidFill>
                  <a:srgbClr val="F2EDD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payment was successfully</a:t>
            </a:r>
            <a:endParaRPr lang="en-US" sz="850" dirty="0"/>
          </a:p>
          <a:p>
            <a:pPr marL="0" indent="0" algn="l">
              <a:spcBef>
                <a:spcPts val="0"/>
              </a:spcBef>
              <a:spcAft>
                <a:spcPts val="120"/>
              </a:spcAft>
              <a:buNone/>
            </a:pPr>
            <a:r>
              <a:rPr lang="en-US" sz="850" dirty="0">
                <a:solidFill>
                  <a:srgbClr val="F2EDD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processed by the gateway, but the</a:t>
            </a:r>
            <a:endParaRPr lang="en-US" sz="850" dirty="0"/>
          </a:p>
          <a:p>
            <a:pPr marL="0" indent="0" algn="l">
              <a:spcBef>
                <a:spcPts val="0"/>
              </a:spcBef>
              <a:spcAft>
                <a:spcPts val="120"/>
              </a:spcAft>
              <a:buNone/>
            </a:pPr>
            <a:r>
              <a:rPr lang="en-US" sz="850" dirty="0">
                <a:solidFill>
                  <a:srgbClr val="F2EDD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corresponding bank settlement has</a:t>
            </a:r>
            <a:endParaRPr lang="en-US" sz="850" dirty="0"/>
          </a:p>
          <a:p>
            <a:pPr marL="0" indent="0" algn="l">
              <a:spcBef>
                <a:spcPts val="0"/>
              </a:spcBef>
              <a:spcAft>
                <a:spcPts val="120"/>
              </a:spcAft>
              <a:buNone/>
            </a:pPr>
            <a:r>
              <a:rPr lang="en-US" sz="850" dirty="0">
                <a:solidFill>
                  <a:srgbClr val="F2EDD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not completed yet.</a:t>
            </a:r>
            <a:endParaRPr lang="en-US" sz="850" dirty="0"/>
          </a:p>
          <a:p>
            <a:pPr marL="0" indent="0" algn="l">
              <a:spcBef>
                <a:spcPts val="0"/>
              </a:spcBef>
              <a:spcAft>
                <a:spcPts val="120"/>
              </a:spcAft>
              <a:buNone/>
            </a:pPr>
            <a:r>
              <a:rPr lang="en-US" sz="850" dirty="0">
                <a:solidFill>
                  <a:srgbClr val="F2EDD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merchant should wait for the</a:t>
            </a:r>
            <a:endParaRPr lang="en-US" sz="850" dirty="0"/>
          </a:p>
          <a:p>
            <a:pPr marL="0" indent="0" algn="l">
              <a:spcBef>
                <a:spcPts val="0"/>
              </a:spcBef>
              <a:spcAft>
                <a:spcPts val="120"/>
              </a:spcAft>
              <a:buNone/>
            </a:pPr>
            <a:r>
              <a:rPr lang="en-US" sz="850" dirty="0">
                <a:solidFill>
                  <a:srgbClr val="F2EDD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next settlement cycle.</a:t>
            </a:r>
            <a:endParaRPr lang="en-US" sz="850" dirty="0"/>
          </a:p>
        </p:txBody>
      </p:sp>
      <p:sp>
        <p:nvSpPr>
          <p:cNvPr id="36" name="Shape 32"/>
          <p:cNvSpPr/>
          <p:nvPr/>
        </p:nvSpPr>
        <p:spPr>
          <a:xfrm>
            <a:off x="6903720" y="3977640"/>
            <a:ext cx="2606040" cy="1508760"/>
          </a:xfrm>
          <a:prstGeom prst="roundRect">
            <a:avLst>
              <a:gd name="adj" fmla="val 7273"/>
            </a:avLst>
          </a:prstGeom>
          <a:solidFill>
            <a:srgbClr val="4D7140"/>
          </a:solidFill>
          <a:ln w="15240">
            <a:solidFill>
              <a:srgbClr val="6E8F5D"/>
            </a:solidFill>
            <a:prstDash val="solid"/>
          </a:ln>
        </p:spPr>
        <p:txBody>
          <a:bodyPr lIns="27432" tIns="18288" rIns="27432" bIns="18288"/>
          <a:lstStyle/>
          <a:p>
            <a:pPr>
              <a:spcBef>
                <a:spcPts val="0"/>
              </a:spcBef>
              <a:spcAft>
                <a:spcPts val="120"/>
              </a:spcAft>
            </a:pPr>
            <a:endParaRPr/>
          </a:p>
        </p:txBody>
      </p:sp>
      <p:sp>
        <p:nvSpPr>
          <p:cNvPr id="37" name="Text 33"/>
          <p:cNvSpPr/>
          <p:nvPr/>
        </p:nvSpPr>
        <p:spPr>
          <a:xfrm>
            <a:off x="7086600" y="4178808"/>
            <a:ext cx="1645920" cy="182880"/>
          </a:xfrm>
          <a:prstGeom prst="rect">
            <a:avLst/>
          </a:prstGeom>
          <a:noFill/>
          <a:ln/>
        </p:spPr>
        <p:txBody>
          <a:bodyPr wrap="square" lIns="27432" tIns="18288" rIns="27432" bIns="18288" rtlCol="0" anchor="ctr">
            <a:normAutofit/>
          </a:bodyPr>
          <a:lstStyle/>
          <a:p>
            <a:pPr marL="0" indent="0">
              <a:spcBef>
                <a:spcPts val="0"/>
              </a:spcBef>
              <a:spcAft>
                <a:spcPts val="120"/>
              </a:spcAft>
              <a:buNone/>
            </a:pPr>
            <a:r>
              <a:rPr lang="en-US" sz="830" b="1" dirty="0">
                <a:solidFill>
                  <a:srgbClr val="F2EDD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RECOMMENDED ACTION</a:t>
            </a:r>
            <a:endParaRPr lang="en-US" sz="830" dirty="0"/>
          </a:p>
        </p:txBody>
      </p:sp>
      <p:sp>
        <p:nvSpPr>
          <p:cNvPr id="38" name="Text 34"/>
          <p:cNvSpPr/>
          <p:nvPr/>
        </p:nvSpPr>
        <p:spPr>
          <a:xfrm>
            <a:off x="7086600" y="4507992"/>
            <a:ext cx="2103120" cy="685800"/>
          </a:xfrm>
          <a:prstGeom prst="rect">
            <a:avLst/>
          </a:prstGeom>
          <a:noFill/>
          <a:ln/>
        </p:spPr>
        <p:txBody>
          <a:bodyPr wrap="square" lIns="27432" tIns="18288" rIns="27432" bIns="18288" rtlCol="0" anchor="t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120"/>
              </a:spcAft>
              <a:buNone/>
            </a:pPr>
            <a:r>
              <a:rPr lang="en-US" sz="1000" dirty="0">
                <a:solidFill>
                  <a:srgbClr val="F2EDD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Monitor the next settlement</a:t>
            </a:r>
            <a:endParaRPr lang="en-US" sz="1000" dirty="0"/>
          </a:p>
          <a:p>
            <a:pPr marL="0" indent="0" algn="l">
              <a:spcBef>
                <a:spcPts val="0"/>
              </a:spcBef>
              <a:spcAft>
                <a:spcPts val="120"/>
              </a:spcAft>
              <a:buNone/>
            </a:pPr>
            <a:r>
              <a:rPr lang="en-US" sz="1000" dirty="0">
                <a:solidFill>
                  <a:srgbClr val="F2EDD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cycle. escalate if the</a:t>
            </a:r>
            <a:endParaRPr lang="en-US" sz="1000" dirty="0"/>
          </a:p>
          <a:p>
            <a:pPr marL="0" indent="0" algn="l">
              <a:spcBef>
                <a:spcPts val="0"/>
              </a:spcBef>
              <a:spcAft>
                <a:spcPts val="120"/>
              </a:spcAft>
              <a:buNone/>
            </a:pPr>
            <a:r>
              <a:rPr lang="en-US" sz="1000" dirty="0">
                <a:solidFill>
                  <a:srgbClr val="F2EDD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settlement remains pending</a:t>
            </a:r>
            <a:endParaRPr lang="en-US" sz="1000" dirty="0"/>
          </a:p>
          <a:p>
            <a:pPr marL="0" indent="0" algn="l">
              <a:spcBef>
                <a:spcPts val="0"/>
              </a:spcBef>
              <a:spcAft>
                <a:spcPts val="120"/>
              </a:spcAft>
              <a:buNone/>
            </a:pPr>
            <a:r>
              <a:rPr lang="en-US" sz="1000" dirty="0">
                <a:solidFill>
                  <a:srgbClr val="F2EDD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beyond the expected window.</a:t>
            </a:r>
            <a:endParaRPr lang="en-US" sz="1000" dirty="0"/>
          </a:p>
        </p:txBody>
      </p:sp>
      <p:sp>
        <p:nvSpPr>
          <p:cNvPr id="39" name="Shape 35"/>
          <p:cNvSpPr/>
          <p:nvPr/>
        </p:nvSpPr>
        <p:spPr>
          <a:xfrm>
            <a:off x="9829800" y="3977640"/>
            <a:ext cx="1188720" cy="1508760"/>
          </a:xfrm>
          <a:prstGeom prst="roundRect">
            <a:avLst>
              <a:gd name="adj" fmla="val 9231"/>
            </a:avLst>
          </a:prstGeom>
          <a:solidFill>
            <a:srgbClr val="425E38"/>
          </a:solidFill>
          <a:ln w="15240">
            <a:solidFill>
              <a:srgbClr val="CBDABF"/>
            </a:solidFill>
            <a:prstDash val="solid"/>
          </a:ln>
        </p:spPr>
        <p:txBody>
          <a:bodyPr lIns="27432" tIns="18288" rIns="27432" bIns="18288"/>
          <a:lstStyle/>
          <a:p>
            <a:pPr>
              <a:spcBef>
                <a:spcPts val="0"/>
              </a:spcBef>
              <a:spcAft>
                <a:spcPts val="120"/>
              </a:spcAft>
            </a:pPr>
            <a:endParaRPr/>
          </a:p>
        </p:txBody>
      </p:sp>
      <p:sp>
        <p:nvSpPr>
          <p:cNvPr id="40" name="Text 36"/>
          <p:cNvSpPr/>
          <p:nvPr/>
        </p:nvSpPr>
        <p:spPr>
          <a:xfrm>
            <a:off x="9985248" y="4187952"/>
            <a:ext cx="868680" cy="182880"/>
          </a:xfrm>
          <a:prstGeom prst="rect">
            <a:avLst/>
          </a:prstGeom>
          <a:noFill/>
          <a:ln/>
        </p:spPr>
        <p:txBody>
          <a:bodyPr wrap="square" lIns="27432" tIns="18288" rIns="27432" bIns="18288" rtlCol="0" anchor="ctr">
            <a:normAutofit/>
          </a:bodyPr>
          <a:lstStyle/>
          <a:p>
            <a:pPr marL="0" indent="0">
              <a:spcBef>
                <a:spcPts val="0"/>
              </a:spcBef>
              <a:spcAft>
                <a:spcPts val="120"/>
              </a:spcAft>
              <a:buNone/>
            </a:pPr>
            <a:r>
              <a:rPr lang="en-US" sz="800" b="1" dirty="0">
                <a:solidFill>
                  <a:srgbClr val="F2EDD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CONFIDENCE</a:t>
            </a:r>
            <a:endParaRPr lang="en-US" sz="800" dirty="0"/>
          </a:p>
        </p:txBody>
      </p:sp>
      <p:sp>
        <p:nvSpPr>
          <p:cNvPr id="41" name="Text 37"/>
          <p:cNvSpPr/>
          <p:nvPr/>
        </p:nvSpPr>
        <p:spPr>
          <a:xfrm>
            <a:off x="9930384" y="4453128"/>
            <a:ext cx="969264" cy="749808"/>
          </a:xfrm>
          <a:prstGeom prst="rect">
            <a:avLst/>
          </a:prstGeom>
          <a:noFill/>
          <a:ln/>
        </p:spPr>
        <p:txBody>
          <a:bodyPr wrap="square" lIns="27432" tIns="18288" rIns="27432" bIns="18288" rtlCol="0" anchor="ctr">
            <a:normAutofit/>
          </a:bodyPr>
          <a:lstStyle/>
          <a:p>
            <a:pPr marL="0" indent="0" algn="ctr">
              <a:spcBef>
                <a:spcPts val="0"/>
              </a:spcBef>
              <a:spcAft>
                <a:spcPts val="120"/>
              </a:spcAft>
              <a:buNone/>
            </a:pPr>
            <a:r>
              <a:rPr lang="en-US" sz="1800" b="1" dirty="0">
                <a:solidFill>
                  <a:srgbClr val="F2EDD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HIGH</a:t>
            </a:r>
            <a:endParaRPr lang="en-US" sz="1800" dirty="0"/>
          </a:p>
          <a:p>
            <a:pPr marL="0" indent="0" algn="ctr">
              <a:spcBef>
                <a:spcPts val="0"/>
              </a:spcBef>
              <a:spcAft>
                <a:spcPts val="120"/>
              </a:spcAft>
              <a:buNone/>
            </a:pPr>
            <a:endParaRPr lang="en-US" sz="1800" dirty="0"/>
          </a:p>
          <a:p>
            <a:pPr marL="0" indent="0" algn="ctr">
              <a:spcBef>
                <a:spcPts val="0"/>
              </a:spcBef>
              <a:spcAft>
                <a:spcPts val="120"/>
              </a:spcAft>
              <a:buNone/>
            </a:pPr>
            <a:r>
              <a:rPr lang="en-US" sz="1800" b="1" dirty="0">
                <a:solidFill>
                  <a:srgbClr val="F2EDD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82%</a:t>
            </a:r>
            <a:endParaRPr lang="en-US" sz="1800" dirty="0"/>
          </a:p>
        </p:txBody>
      </p:sp>
      <p:sp>
        <p:nvSpPr>
          <p:cNvPr id="42" name="Text 38"/>
          <p:cNvSpPr/>
          <p:nvPr/>
        </p:nvSpPr>
        <p:spPr>
          <a:xfrm>
            <a:off x="347472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27432" tIns="18288" rIns="27432" bIns="18288" rtlCol="0" anchor="ctr">
            <a:normAutofit/>
          </a:bodyPr>
          <a:lstStyle/>
          <a:p>
            <a:pPr marL="0" indent="0">
              <a:spcBef>
                <a:spcPts val="0"/>
              </a:spcBef>
              <a:spcAft>
                <a:spcPts val="120"/>
              </a:spcAft>
              <a:buNone/>
            </a:pPr>
            <a:r>
              <a:rPr lang="en-US" sz="700" b="1" dirty="0">
                <a:solidFill>
                  <a:srgbClr val="2F49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MONEYMATCH.AI</a:t>
            </a:r>
            <a:endParaRPr lang="en-US" sz="700" dirty="0"/>
          </a:p>
        </p:txBody>
      </p:sp>
      <p:sp>
        <p:nvSpPr>
          <p:cNvPr id="43" name="Text 39"/>
          <p:cNvSpPr/>
          <p:nvPr/>
        </p:nvSpPr>
        <p:spPr>
          <a:xfrm>
            <a:off x="9144000" y="6473952"/>
            <a:ext cx="2560320" cy="228600"/>
          </a:xfrm>
          <a:prstGeom prst="rect">
            <a:avLst/>
          </a:prstGeom>
          <a:noFill/>
          <a:ln/>
        </p:spPr>
        <p:txBody>
          <a:bodyPr wrap="square" lIns="27432" tIns="18288" rIns="27432" bIns="18288" rtlCol="0" anchor="ctr">
            <a:normAutofit/>
          </a:bodyPr>
          <a:lstStyle/>
          <a:p>
            <a:pPr marL="0" indent="0">
              <a:spcBef>
                <a:spcPts val="0"/>
              </a:spcBef>
              <a:spcAft>
                <a:spcPts val="120"/>
              </a:spcAft>
              <a:buNone/>
            </a:pPr>
            <a:r>
              <a:rPr lang="en-US" sz="700" b="1" dirty="0">
                <a:solidFill>
                  <a:srgbClr val="2F49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Trace. Diagnose. Explain. Resolve.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ED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>
            <a:alphaModFix amt="90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35240" y="-73152"/>
            <a:ext cx="4754880" cy="25146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>
            <a:alphaModFix amt="82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-685800" y="4983480"/>
            <a:ext cx="4297680" cy="224028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188720" y="384048"/>
            <a:ext cx="9509760" cy="502920"/>
          </a:xfrm>
          <a:prstGeom prst="rect">
            <a:avLst/>
          </a:prstGeom>
          <a:noFill/>
          <a:ln/>
        </p:spPr>
        <p:txBody>
          <a:bodyPr wrap="square" lIns="27432" tIns="18288" rIns="27432" bIns="18288" rtlCol="0" anchor="ctr">
            <a:normAutofit/>
          </a:bodyPr>
          <a:lstStyle/>
          <a:p>
            <a:pPr marL="0" indent="0">
              <a:spcBef>
                <a:spcPts val="0"/>
              </a:spcBef>
              <a:spcAft>
                <a:spcPts val="120"/>
              </a:spcAft>
              <a:buNone/>
            </a:pPr>
            <a:r>
              <a:rPr lang="en-US" sz="3400" b="1" dirty="0">
                <a:solidFill>
                  <a:srgbClr val="2F492A"/>
                </a:solidFill>
                <a:latin typeface="Cooper Black" pitchFamily="34" charset="0"/>
                <a:ea typeface="Cooper Black" pitchFamily="34" charset="-122"/>
                <a:cs typeface="Cooper Black" pitchFamily="34" charset="-120"/>
              </a:rPr>
              <a:t>AI that knows when NOT to guess.</a:t>
            </a:r>
            <a:endParaRPr lang="en-US" sz="3400" dirty="0"/>
          </a:p>
        </p:txBody>
      </p:sp>
      <p:sp>
        <p:nvSpPr>
          <p:cNvPr id="5" name="Shape 1"/>
          <p:cNvSpPr/>
          <p:nvPr/>
        </p:nvSpPr>
        <p:spPr>
          <a:xfrm>
            <a:off x="731520" y="1298448"/>
            <a:ext cx="5257800" cy="3886200"/>
          </a:xfrm>
          <a:prstGeom prst="roundRect">
            <a:avLst>
              <a:gd name="adj" fmla="val 2824"/>
            </a:avLst>
          </a:prstGeom>
          <a:solidFill>
            <a:srgbClr val="FBF8E8"/>
          </a:solidFill>
          <a:ln w="15240">
            <a:solidFill>
              <a:srgbClr val="CBDABF"/>
            </a:solidFill>
            <a:prstDash val="solid"/>
          </a:ln>
        </p:spPr>
        <p:txBody>
          <a:bodyPr lIns="27432" tIns="18288" rIns="27432" bIns="18288"/>
          <a:lstStyle/>
          <a:p>
            <a:pPr>
              <a:spcBef>
                <a:spcPts val="0"/>
              </a:spcBef>
              <a:spcAft>
                <a:spcPts val="120"/>
              </a:spcAft>
            </a:pPr>
            <a:endParaRPr/>
          </a:p>
        </p:txBody>
      </p:sp>
      <p:sp>
        <p:nvSpPr>
          <p:cNvPr id="6" name="Text 2"/>
          <p:cNvSpPr/>
          <p:nvPr/>
        </p:nvSpPr>
        <p:spPr>
          <a:xfrm>
            <a:off x="960120" y="1627632"/>
            <a:ext cx="329184" cy="329184"/>
          </a:xfrm>
          <a:prstGeom prst="rect">
            <a:avLst/>
          </a:prstGeom>
          <a:noFill/>
          <a:ln/>
        </p:spPr>
        <p:txBody>
          <a:bodyPr wrap="square" lIns="27432" tIns="18288" rIns="27432" bIns="18288" rtlCol="0" anchor="ctr">
            <a:normAutofit/>
          </a:bodyPr>
          <a:lstStyle/>
          <a:p>
            <a:pPr marL="0" indent="0" algn="ctr">
              <a:spcBef>
                <a:spcPts val="0"/>
              </a:spcBef>
              <a:spcAft>
                <a:spcPts val="120"/>
              </a:spcAft>
              <a:buNone/>
            </a:pPr>
            <a:r>
              <a:rPr lang="en-US" sz="1500" b="1" dirty="0">
                <a:solidFill>
                  <a:srgbClr val="2F49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</a:t>
            </a:r>
            <a:endParaRPr lang="en-US" sz="1500" dirty="0"/>
          </a:p>
        </p:txBody>
      </p:sp>
      <p:sp>
        <p:nvSpPr>
          <p:cNvPr id="7" name="Text 3"/>
          <p:cNvSpPr/>
          <p:nvPr/>
        </p:nvSpPr>
        <p:spPr>
          <a:xfrm>
            <a:off x="987552" y="2450592"/>
            <a:ext cx="329184" cy="329184"/>
          </a:xfrm>
          <a:prstGeom prst="rect">
            <a:avLst/>
          </a:prstGeom>
          <a:noFill/>
          <a:ln/>
        </p:spPr>
        <p:txBody>
          <a:bodyPr wrap="square" lIns="27432" tIns="18288" rIns="27432" bIns="18288" rtlCol="0" anchor="ctr">
            <a:normAutofit/>
          </a:bodyPr>
          <a:lstStyle/>
          <a:p>
            <a:pPr marL="0" indent="0" algn="ctr">
              <a:spcBef>
                <a:spcPts val="0"/>
              </a:spcBef>
              <a:spcAft>
                <a:spcPts val="120"/>
              </a:spcAft>
              <a:buNone/>
            </a:pPr>
            <a:r>
              <a:rPr lang="en-US" sz="1500" dirty="0">
                <a:solidFill>
                  <a:srgbClr val="2F49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960120" y="3364992"/>
            <a:ext cx="329184" cy="329184"/>
          </a:xfrm>
          <a:prstGeom prst="rect">
            <a:avLst/>
          </a:prstGeom>
          <a:noFill/>
          <a:ln/>
        </p:spPr>
        <p:txBody>
          <a:bodyPr wrap="square" lIns="27432" tIns="18288" rIns="27432" bIns="18288" rtlCol="0" anchor="ctr">
            <a:normAutofit/>
          </a:bodyPr>
          <a:lstStyle/>
          <a:p>
            <a:pPr marL="0" indent="0" algn="ctr">
              <a:spcBef>
                <a:spcPts val="0"/>
              </a:spcBef>
              <a:spcAft>
                <a:spcPts val="120"/>
              </a:spcAft>
              <a:buNone/>
            </a:pPr>
            <a:r>
              <a:rPr lang="en-US" sz="1500" b="1" dirty="0">
                <a:solidFill>
                  <a:srgbClr val="2F49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987552" y="4187952"/>
            <a:ext cx="329184" cy="329184"/>
          </a:xfrm>
          <a:prstGeom prst="rect">
            <a:avLst/>
          </a:prstGeom>
          <a:noFill/>
          <a:ln/>
        </p:spPr>
        <p:txBody>
          <a:bodyPr wrap="square" lIns="27432" tIns="18288" rIns="27432" bIns="18288" rtlCol="0" anchor="ctr">
            <a:normAutofit/>
          </a:bodyPr>
          <a:lstStyle/>
          <a:p>
            <a:pPr marL="0" indent="0" algn="ctr">
              <a:spcBef>
                <a:spcPts val="0"/>
              </a:spcBef>
              <a:spcAft>
                <a:spcPts val="120"/>
              </a:spcAft>
              <a:buNone/>
            </a:pPr>
            <a:r>
              <a:rPr lang="en-US" sz="1500" dirty="0">
                <a:solidFill>
                  <a:srgbClr val="2F49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1828800" y="1572768"/>
            <a:ext cx="2194560" cy="228600"/>
          </a:xfrm>
          <a:prstGeom prst="rect">
            <a:avLst/>
          </a:prstGeom>
          <a:noFill/>
          <a:ln/>
        </p:spPr>
        <p:txBody>
          <a:bodyPr wrap="square" lIns="27432" tIns="18288" rIns="27432" bIns="18288" rtlCol="0" anchor="t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120"/>
              </a:spcAft>
              <a:buNone/>
            </a:pPr>
            <a:r>
              <a:rPr lang="en-US" sz="850" b="1" dirty="0">
                <a:solidFill>
                  <a:srgbClr val="253B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Why is TXN-1042 delayed?</a:t>
            </a:r>
            <a:endParaRPr lang="en-US" sz="850" dirty="0"/>
          </a:p>
        </p:txBody>
      </p:sp>
      <p:sp>
        <p:nvSpPr>
          <p:cNvPr id="11" name="Shape 7"/>
          <p:cNvSpPr/>
          <p:nvPr/>
        </p:nvSpPr>
        <p:spPr>
          <a:xfrm>
            <a:off x="1783080" y="2148840"/>
            <a:ext cx="3474720" cy="658368"/>
          </a:xfrm>
          <a:prstGeom prst="roundRect">
            <a:avLst>
              <a:gd name="adj" fmla="val 16667"/>
            </a:avLst>
          </a:prstGeom>
          <a:solidFill>
            <a:srgbClr val="F2EDD2"/>
          </a:solidFill>
          <a:ln w="15240">
            <a:solidFill>
              <a:srgbClr val="CBDABF">
                <a:alpha val="0"/>
              </a:srgbClr>
            </a:solidFill>
            <a:prstDash val="solid"/>
          </a:ln>
        </p:spPr>
        <p:txBody>
          <a:bodyPr lIns="27432" tIns="18288" rIns="27432" bIns="18288"/>
          <a:lstStyle/>
          <a:p>
            <a:pPr>
              <a:spcBef>
                <a:spcPts val="0"/>
              </a:spcBef>
              <a:spcAft>
                <a:spcPts val="120"/>
              </a:spcAft>
            </a:pPr>
            <a:endParaRPr/>
          </a:p>
        </p:txBody>
      </p:sp>
      <p:sp>
        <p:nvSpPr>
          <p:cNvPr id="12" name="Text 8"/>
          <p:cNvSpPr/>
          <p:nvPr/>
        </p:nvSpPr>
        <p:spPr>
          <a:xfrm>
            <a:off x="1920240" y="2276856"/>
            <a:ext cx="3154680" cy="365760"/>
          </a:xfrm>
          <a:prstGeom prst="rect">
            <a:avLst/>
          </a:prstGeom>
          <a:noFill/>
          <a:ln/>
        </p:spPr>
        <p:txBody>
          <a:bodyPr wrap="square" lIns="27432" tIns="18288" rIns="27432" bIns="18288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120"/>
              </a:spcAft>
              <a:buNone/>
            </a:pPr>
            <a:r>
              <a:rPr lang="en-US" sz="1030" b="1" dirty="0">
                <a:solidFill>
                  <a:srgbClr val="253B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gateway successfully processed</a:t>
            </a:r>
            <a:endParaRPr lang="en-US" sz="1030" dirty="0"/>
          </a:p>
          <a:p>
            <a:pPr marL="0" indent="0" algn="l">
              <a:spcBef>
                <a:spcPts val="0"/>
              </a:spcBef>
              <a:spcAft>
                <a:spcPts val="120"/>
              </a:spcAft>
              <a:buNone/>
            </a:pPr>
            <a:r>
              <a:rPr lang="en-US" sz="1030" b="1" dirty="0">
                <a:solidFill>
                  <a:srgbClr val="253B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payment, but the bank</a:t>
            </a:r>
            <a:endParaRPr lang="en-US" sz="1030" dirty="0"/>
          </a:p>
          <a:p>
            <a:pPr marL="0" indent="0" algn="l">
              <a:spcBef>
                <a:spcPts val="0"/>
              </a:spcBef>
              <a:spcAft>
                <a:spcPts val="120"/>
              </a:spcAft>
              <a:buNone/>
            </a:pPr>
            <a:r>
              <a:rPr lang="en-US" sz="1030" b="1" dirty="0">
                <a:solidFill>
                  <a:srgbClr val="253B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settlement is still pending.</a:t>
            </a:r>
            <a:endParaRPr lang="en-US" sz="1030" dirty="0"/>
          </a:p>
        </p:txBody>
      </p:sp>
      <p:sp>
        <p:nvSpPr>
          <p:cNvPr id="13" name="Text 9"/>
          <p:cNvSpPr/>
          <p:nvPr/>
        </p:nvSpPr>
        <p:spPr>
          <a:xfrm>
            <a:off x="1828800" y="3310128"/>
            <a:ext cx="2194560" cy="228600"/>
          </a:xfrm>
          <a:prstGeom prst="rect">
            <a:avLst/>
          </a:prstGeom>
          <a:noFill/>
          <a:ln/>
        </p:spPr>
        <p:txBody>
          <a:bodyPr wrap="square" lIns="27432" tIns="18288" rIns="27432" bIns="18288" rtlCol="0" anchor="t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120"/>
              </a:spcAft>
              <a:buNone/>
            </a:pPr>
            <a:r>
              <a:rPr lang="en-US" sz="850" b="1" dirty="0">
                <a:solidFill>
                  <a:srgbClr val="253B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Is the payment lost?</a:t>
            </a:r>
            <a:endParaRPr lang="en-US" sz="850" dirty="0"/>
          </a:p>
        </p:txBody>
      </p:sp>
      <p:sp>
        <p:nvSpPr>
          <p:cNvPr id="14" name="Shape 10"/>
          <p:cNvSpPr/>
          <p:nvPr/>
        </p:nvSpPr>
        <p:spPr>
          <a:xfrm>
            <a:off x="1783080" y="3886200"/>
            <a:ext cx="3474720" cy="658368"/>
          </a:xfrm>
          <a:prstGeom prst="roundRect">
            <a:avLst>
              <a:gd name="adj" fmla="val 16667"/>
            </a:avLst>
          </a:prstGeom>
          <a:solidFill>
            <a:srgbClr val="F2EDD2"/>
          </a:solidFill>
          <a:ln w="15240">
            <a:solidFill>
              <a:srgbClr val="CBDABF">
                <a:alpha val="0"/>
              </a:srgbClr>
            </a:solidFill>
            <a:prstDash val="solid"/>
          </a:ln>
        </p:spPr>
        <p:txBody>
          <a:bodyPr lIns="27432" tIns="18288" rIns="27432" bIns="18288"/>
          <a:lstStyle/>
          <a:p>
            <a:pPr>
              <a:spcBef>
                <a:spcPts val="0"/>
              </a:spcBef>
              <a:spcAft>
                <a:spcPts val="120"/>
              </a:spcAft>
            </a:pPr>
            <a:endParaRPr/>
          </a:p>
        </p:txBody>
      </p:sp>
      <p:sp>
        <p:nvSpPr>
          <p:cNvPr id="15" name="Text 11"/>
          <p:cNvSpPr/>
          <p:nvPr/>
        </p:nvSpPr>
        <p:spPr>
          <a:xfrm>
            <a:off x="1920240" y="4014216"/>
            <a:ext cx="3154680" cy="365760"/>
          </a:xfrm>
          <a:prstGeom prst="rect">
            <a:avLst/>
          </a:prstGeom>
          <a:noFill/>
          <a:ln/>
        </p:spPr>
        <p:txBody>
          <a:bodyPr wrap="square" lIns="27432" tIns="18288" rIns="27432" bIns="18288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120"/>
              </a:spcAft>
              <a:buNone/>
            </a:pPr>
            <a:r>
              <a:rPr lang="en-US" sz="1030" b="1" dirty="0">
                <a:solidFill>
                  <a:srgbClr val="253B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No. The available records indicate</a:t>
            </a:r>
            <a:endParaRPr lang="en-US" sz="1030" dirty="0"/>
          </a:p>
          <a:p>
            <a:pPr marL="0" indent="0" algn="l">
              <a:spcBef>
                <a:spcPts val="0"/>
              </a:spcBef>
              <a:spcAft>
                <a:spcPts val="120"/>
              </a:spcAft>
              <a:buNone/>
            </a:pPr>
            <a:r>
              <a:rPr lang="en-US" sz="1030" b="1" dirty="0">
                <a:solidFill>
                  <a:srgbClr val="253B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settlement delay rather than a</a:t>
            </a:r>
            <a:endParaRPr lang="en-US" sz="1030" dirty="0"/>
          </a:p>
          <a:p>
            <a:pPr marL="0" indent="0" algn="l">
              <a:spcBef>
                <a:spcPts val="0"/>
              </a:spcBef>
              <a:spcAft>
                <a:spcPts val="120"/>
              </a:spcAft>
              <a:buNone/>
            </a:pPr>
            <a:r>
              <a:rPr lang="en-US" sz="1030" b="1" dirty="0">
                <a:solidFill>
                  <a:srgbClr val="253B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failed payment.</a:t>
            </a:r>
            <a:endParaRPr lang="en-US" sz="1030" dirty="0"/>
          </a:p>
        </p:txBody>
      </p:sp>
      <p:sp>
        <p:nvSpPr>
          <p:cNvPr id="16" name="Shape 12"/>
          <p:cNvSpPr/>
          <p:nvPr/>
        </p:nvSpPr>
        <p:spPr>
          <a:xfrm>
            <a:off x="6400800" y="1298448"/>
            <a:ext cx="4800600" cy="3886200"/>
          </a:xfrm>
          <a:prstGeom prst="roundRect">
            <a:avLst>
              <a:gd name="adj" fmla="val 2824"/>
            </a:avLst>
          </a:prstGeom>
          <a:solidFill>
            <a:srgbClr val="FBF8E8"/>
          </a:solidFill>
          <a:ln w="15240">
            <a:solidFill>
              <a:srgbClr val="CBDABF"/>
            </a:solidFill>
            <a:prstDash val="solid"/>
          </a:ln>
        </p:spPr>
        <p:txBody>
          <a:bodyPr lIns="27432" tIns="18288" rIns="27432" bIns="18288"/>
          <a:lstStyle/>
          <a:p>
            <a:pPr>
              <a:spcBef>
                <a:spcPts val="0"/>
              </a:spcBef>
              <a:spcAft>
                <a:spcPts val="120"/>
              </a:spcAft>
            </a:pPr>
            <a:endParaRPr/>
          </a:p>
        </p:txBody>
      </p:sp>
      <p:sp>
        <p:nvSpPr>
          <p:cNvPr id="17" name="Shape 13"/>
          <p:cNvSpPr/>
          <p:nvPr/>
        </p:nvSpPr>
        <p:spPr>
          <a:xfrm>
            <a:off x="6720840" y="1627632"/>
            <a:ext cx="4160520" cy="411480"/>
          </a:xfrm>
          <a:prstGeom prst="roundRect">
            <a:avLst>
              <a:gd name="adj" fmla="val 24444"/>
            </a:avLst>
          </a:prstGeom>
          <a:solidFill>
            <a:srgbClr val="5E7F4E"/>
          </a:solidFill>
          <a:ln w="12700">
            <a:solidFill>
              <a:srgbClr val="5E7F4E">
                <a:alpha val="0"/>
              </a:srgbClr>
            </a:solidFill>
            <a:prstDash val="solid"/>
          </a:ln>
        </p:spPr>
        <p:txBody>
          <a:bodyPr lIns="27432" tIns="18288" rIns="27432" bIns="18288"/>
          <a:lstStyle/>
          <a:p>
            <a:pPr>
              <a:spcBef>
                <a:spcPts val="0"/>
              </a:spcBef>
              <a:spcAft>
                <a:spcPts val="120"/>
              </a:spcAft>
            </a:pPr>
            <a:endParaRPr/>
          </a:p>
        </p:txBody>
      </p:sp>
      <p:sp>
        <p:nvSpPr>
          <p:cNvPr id="18" name="Text 14"/>
          <p:cNvSpPr/>
          <p:nvPr/>
        </p:nvSpPr>
        <p:spPr>
          <a:xfrm>
            <a:off x="6720840" y="1645920"/>
            <a:ext cx="4160520" cy="374904"/>
          </a:xfrm>
          <a:prstGeom prst="rect">
            <a:avLst/>
          </a:prstGeom>
          <a:noFill/>
          <a:ln/>
        </p:spPr>
        <p:txBody>
          <a:bodyPr wrap="square" lIns="27432" tIns="18288" rIns="27432" bIns="18288" rtlCol="0" anchor="ctr">
            <a:normAutofit/>
          </a:bodyPr>
          <a:lstStyle/>
          <a:p>
            <a:pPr marL="0" indent="0" algn="ctr">
              <a:spcBef>
                <a:spcPts val="0"/>
              </a:spcBef>
              <a:spcAft>
                <a:spcPts val="120"/>
              </a:spcAft>
              <a:buNone/>
            </a:pPr>
            <a:r>
              <a:rPr lang="en-US" sz="1200" b="1" dirty="0">
                <a:solidFill>
                  <a:srgbClr val="F6F0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UNKNOWN / LOW CONFIDENCE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7132320" y="2450592"/>
            <a:ext cx="594360" cy="594360"/>
          </a:xfrm>
          <a:prstGeom prst="rect">
            <a:avLst/>
          </a:prstGeom>
          <a:noFill/>
          <a:ln/>
        </p:spPr>
        <p:txBody>
          <a:bodyPr wrap="square" lIns="27432" tIns="18288" rIns="27432" bIns="18288" rtlCol="0" anchor="ctr">
            <a:normAutofit/>
          </a:bodyPr>
          <a:lstStyle/>
          <a:p>
            <a:pPr marL="0" indent="0" algn="ctr">
              <a:spcBef>
                <a:spcPts val="0"/>
              </a:spcBef>
              <a:spcAft>
                <a:spcPts val="120"/>
              </a:spcAft>
              <a:buNone/>
            </a:pPr>
            <a:r>
              <a:rPr lang="en-US" sz="3400" b="1" dirty="0">
                <a:solidFill>
                  <a:srgbClr val="1C6A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?</a:t>
            </a:r>
            <a:endParaRPr lang="en-US" sz="3400" dirty="0"/>
          </a:p>
        </p:txBody>
      </p:sp>
      <p:sp>
        <p:nvSpPr>
          <p:cNvPr id="20" name="Text 16"/>
          <p:cNvSpPr/>
          <p:nvPr/>
        </p:nvSpPr>
        <p:spPr>
          <a:xfrm>
            <a:off x="8001000" y="2331720"/>
            <a:ext cx="2331720" cy="822960"/>
          </a:xfrm>
          <a:prstGeom prst="rect">
            <a:avLst/>
          </a:prstGeom>
          <a:noFill/>
          <a:ln/>
        </p:spPr>
        <p:txBody>
          <a:bodyPr wrap="square" lIns="27432" tIns="18288" rIns="27432" bIns="18288" rtlCol="0" anchor="t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120"/>
              </a:spcAft>
              <a:buNone/>
            </a:pPr>
            <a:r>
              <a:rPr lang="en-US" sz="1400" b="1" dirty="0">
                <a:solidFill>
                  <a:srgbClr val="253B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If evidence is incomplete or</a:t>
            </a:r>
            <a:endParaRPr lang="en-US" sz="1400" dirty="0"/>
          </a:p>
          <a:p>
            <a:pPr marL="0" indent="0" algn="l">
              <a:spcBef>
                <a:spcPts val="0"/>
              </a:spcBef>
              <a:spcAft>
                <a:spcPts val="120"/>
              </a:spcAft>
              <a:buNone/>
            </a:pPr>
            <a:r>
              <a:rPr lang="en-US" sz="1400" b="1" dirty="0">
                <a:solidFill>
                  <a:srgbClr val="253B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contradictory, the system</a:t>
            </a:r>
            <a:endParaRPr lang="en-US" sz="1400" dirty="0"/>
          </a:p>
          <a:p>
            <a:pPr marL="0" indent="0" algn="l">
              <a:spcBef>
                <a:spcPts val="0"/>
              </a:spcBef>
              <a:spcAft>
                <a:spcPts val="120"/>
              </a:spcAft>
              <a:buNone/>
            </a:pPr>
            <a:r>
              <a:rPr lang="en-US" sz="1400" b="1" dirty="0">
                <a:solidFill>
                  <a:srgbClr val="253B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does NOT invent an answer.</a:t>
            </a:r>
            <a:endParaRPr lang="en-US" sz="1400" dirty="0"/>
          </a:p>
        </p:txBody>
      </p:sp>
      <p:sp>
        <p:nvSpPr>
          <p:cNvPr id="21" name="Shape 17"/>
          <p:cNvSpPr/>
          <p:nvPr/>
        </p:nvSpPr>
        <p:spPr>
          <a:xfrm>
            <a:off x="8855877" y="3611880"/>
            <a:ext cx="0" cy="365760"/>
          </a:xfrm>
          <a:prstGeom prst="line">
            <a:avLst/>
          </a:prstGeom>
          <a:noFill/>
          <a:ln w="22860">
            <a:solidFill>
              <a:srgbClr val="5DA5AA"/>
            </a:solidFill>
            <a:prstDash val="solid"/>
            <a:headEnd type="none"/>
            <a:tailEnd type="triangle"/>
          </a:ln>
        </p:spPr>
        <p:txBody>
          <a:bodyPr lIns="27432" tIns="18288" rIns="27432" bIns="18288"/>
          <a:lstStyle/>
          <a:p>
            <a:pPr>
              <a:spcBef>
                <a:spcPts val="0"/>
              </a:spcBef>
              <a:spcAft>
                <a:spcPts val="120"/>
              </a:spcAft>
            </a:pPr>
            <a:endParaRPr/>
          </a:p>
        </p:txBody>
      </p:sp>
      <p:sp>
        <p:nvSpPr>
          <p:cNvPr id="22" name="Shape 18"/>
          <p:cNvSpPr/>
          <p:nvPr/>
        </p:nvSpPr>
        <p:spPr>
          <a:xfrm>
            <a:off x="7406640" y="3977640"/>
            <a:ext cx="2743200" cy="594360"/>
          </a:xfrm>
          <a:prstGeom prst="roundRect">
            <a:avLst>
              <a:gd name="adj" fmla="val 16923"/>
            </a:avLst>
          </a:prstGeom>
          <a:solidFill>
            <a:srgbClr val="E8E1BD"/>
          </a:solidFill>
          <a:ln w="12700">
            <a:solidFill>
              <a:srgbClr val="E8E1BD">
                <a:alpha val="0"/>
              </a:srgbClr>
            </a:solidFill>
            <a:prstDash val="solid"/>
          </a:ln>
        </p:spPr>
        <p:txBody>
          <a:bodyPr lIns="27432" tIns="18288" rIns="27432" bIns="18288"/>
          <a:lstStyle/>
          <a:p>
            <a:pPr>
              <a:spcBef>
                <a:spcPts val="0"/>
              </a:spcBef>
              <a:spcAft>
                <a:spcPts val="120"/>
              </a:spcAft>
            </a:pPr>
            <a:endParaRPr/>
          </a:p>
        </p:txBody>
      </p:sp>
      <p:sp>
        <p:nvSpPr>
          <p:cNvPr id="23" name="Text 19"/>
          <p:cNvSpPr/>
          <p:nvPr/>
        </p:nvSpPr>
        <p:spPr>
          <a:xfrm>
            <a:off x="7406640" y="3995928"/>
            <a:ext cx="2743200" cy="557784"/>
          </a:xfrm>
          <a:prstGeom prst="rect">
            <a:avLst/>
          </a:prstGeom>
          <a:noFill/>
          <a:ln/>
        </p:spPr>
        <p:txBody>
          <a:bodyPr wrap="square" lIns="27432" tIns="18288" rIns="27432" bIns="18288" rtlCol="0" anchor="ctr">
            <a:normAutofit/>
          </a:bodyPr>
          <a:lstStyle/>
          <a:p>
            <a:pPr marL="0" indent="0" algn="ctr">
              <a:spcBef>
                <a:spcPts val="0"/>
              </a:spcBef>
              <a:spcAft>
                <a:spcPts val="120"/>
              </a:spcAft>
              <a:buNone/>
            </a:pPr>
            <a:r>
              <a:rPr lang="en-US" sz="1600" b="1" dirty="0">
                <a:solidFill>
                  <a:srgbClr val="253B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MANUAL REVIEW</a:t>
            </a:r>
            <a:endParaRPr lang="en-US" sz="1600" dirty="0"/>
          </a:p>
        </p:txBody>
      </p:sp>
      <p:sp>
        <p:nvSpPr>
          <p:cNvPr id="24" name="Shape 20"/>
          <p:cNvSpPr/>
          <p:nvPr/>
        </p:nvSpPr>
        <p:spPr>
          <a:xfrm>
            <a:off x="731520" y="5504688"/>
            <a:ext cx="10469880" cy="502920"/>
          </a:xfrm>
          <a:prstGeom prst="roundRect">
            <a:avLst>
              <a:gd name="adj" fmla="val 21818"/>
            </a:avLst>
          </a:prstGeom>
          <a:solidFill>
            <a:srgbClr val="FBF8E8"/>
          </a:solidFill>
          <a:ln w="15240">
            <a:solidFill>
              <a:srgbClr val="CBDABF"/>
            </a:solidFill>
            <a:prstDash val="solid"/>
          </a:ln>
        </p:spPr>
        <p:txBody>
          <a:bodyPr lIns="27432" tIns="18288" rIns="27432" bIns="18288"/>
          <a:lstStyle/>
          <a:p>
            <a:pPr>
              <a:spcBef>
                <a:spcPts val="0"/>
              </a:spcBef>
              <a:spcAft>
                <a:spcPts val="120"/>
              </a:spcAft>
            </a:pPr>
            <a:endParaRPr/>
          </a:p>
        </p:txBody>
      </p:sp>
      <p:sp>
        <p:nvSpPr>
          <p:cNvPr id="25" name="Text 21"/>
          <p:cNvSpPr/>
          <p:nvPr/>
        </p:nvSpPr>
        <p:spPr>
          <a:xfrm>
            <a:off x="932688" y="5596128"/>
            <a:ext cx="2148840" cy="164592"/>
          </a:xfrm>
          <a:prstGeom prst="rect">
            <a:avLst/>
          </a:prstGeom>
          <a:noFill/>
          <a:ln/>
        </p:spPr>
        <p:txBody>
          <a:bodyPr wrap="square" lIns="27432" tIns="18288" rIns="27432" bIns="18288" rtlCol="0" anchor="t">
            <a:normAutofit/>
          </a:bodyPr>
          <a:lstStyle/>
          <a:p>
            <a:pPr marL="0" indent="0" algn="ctr">
              <a:spcBef>
                <a:spcPts val="0"/>
              </a:spcBef>
              <a:spcAft>
                <a:spcPts val="120"/>
              </a:spcAft>
              <a:buNone/>
            </a:pPr>
            <a:r>
              <a:rPr lang="en-US" sz="820" b="1" dirty="0">
                <a:solidFill>
                  <a:srgbClr val="253B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Human escalation</a:t>
            </a:r>
            <a:endParaRPr lang="en-US" sz="820" dirty="0"/>
          </a:p>
        </p:txBody>
      </p:sp>
      <p:sp>
        <p:nvSpPr>
          <p:cNvPr id="26" name="Text 22"/>
          <p:cNvSpPr/>
          <p:nvPr/>
        </p:nvSpPr>
        <p:spPr>
          <a:xfrm>
            <a:off x="932688" y="5779008"/>
            <a:ext cx="2148840" cy="164592"/>
          </a:xfrm>
          <a:prstGeom prst="rect">
            <a:avLst/>
          </a:prstGeom>
          <a:noFill/>
          <a:ln/>
        </p:spPr>
        <p:txBody>
          <a:bodyPr wrap="square" lIns="27432" tIns="18288" rIns="27432" bIns="18288" rtlCol="0" anchor="t">
            <a:normAutofit/>
          </a:bodyPr>
          <a:lstStyle/>
          <a:p>
            <a:pPr marL="0" indent="0" algn="ctr">
              <a:spcBef>
                <a:spcPts val="0"/>
              </a:spcBef>
              <a:spcAft>
                <a:spcPts val="120"/>
              </a:spcAft>
              <a:buNone/>
            </a:pPr>
            <a:r>
              <a:rPr lang="en-US" sz="700" dirty="0">
                <a:solidFill>
                  <a:srgbClr val="253B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when clarity is low</a:t>
            </a:r>
            <a:endParaRPr lang="en-US" sz="700" dirty="0"/>
          </a:p>
        </p:txBody>
      </p:sp>
      <p:sp>
        <p:nvSpPr>
          <p:cNvPr id="27" name="Text 23"/>
          <p:cNvSpPr/>
          <p:nvPr/>
        </p:nvSpPr>
        <p:spPr>
          <a:xfrm>
            <a:off x="3447288" y="5596128"/>
            <a:ext cx="2148840" cy="164592"/>
          </a:xfrm>
          <a:prstGeom prst="rect">
            <a:avLst/>
          </a:prstGeom>
          <a:noFill/>
          <a:ln/>
        </p:spPr>
        <p:txBody>
          <a:bodyPr wrap="square" lIns="27432" tIns="18288" rIns="27432" bIns="18288" rtlCol="0" anchor="t">
            <a:normAutofit/>
          </a:bodyPr>
          <a:lstStyle/>
          <a:p>
            <a:pPr marL="0" indent="0" algn="ctr">
              <a:spcBef>
                <a:spcPts val="0"/>
              </a:spcBef>
              <a:spcAft>
                <a:spcPts val="120"/>
              </a:spcAft>
              <a:buNone/>
            </a:pPr>
            <a:r>
              <a:rPr lang="en-US" sz="820" b="1" dirty="0">
                <a:solidFill>
                  <a:srgbClr val="253B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Unknown classification</a:t>
            </a:r>
            <a:endParaRPr lang="en-US" sz="820" dirty="0"/>
          </a:p>
        </p:txBody>
      </p:sp>
      <p:sp>
        <p:nvSpPr>
          <p:cNvPr id="28" name="Text 24"/>
          <p:cNvSpPr/>
          <p:nvPr/>
        </p:nvSpPr>
        <p:spPr>
          <a:xfrm>
            <a:off x="3447288" y="5779008"/>
            <a:ext cx="2148840" cy="164592"/>
          </a:xfrm>
          <a:prstGeom prst="rect">
            <a:avLst/>
          </a:prstGeom>
          <a:noFill/>
          <a:ln/>
        </p:spPr>
        <p:txBody>
          <a:bodyPr wrap="square" lIns="27432" tIns="18288" rIns="27432" bIns="18288" rtlCol="0" anchor="t">
            <a:normAutofit/>
          </a:bodyPr>
          <a:lstStyle/>
          <a:p>
            <a:pPr marL="0" indent="0" algn="ctr">
              <a:spcBef>
                <a:spcPts val="0"/>
              </a:spcBef>
              <a:spcAft>
                <a:spcPts val="120"/>
              </a:spcAft>
              <a:buNone/>
            </a:pPr>
            <a:r>
              <a:rPr lang="en-US" sz="700" dirty="0">
                <a:solidFill>
                  <a:srgbClr val="253B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when confidence is low</a:t>
            </a:r>
            <a:endParaRPr lang="en-US" sz="700" dirty="0"/>
          </a:p>
        </p:txBody>
      </p:sp>
      <p:sp>
        <p:nvSpPr>
          <p:cNvPr id="29" name="Text 25"/>
          <p:cNvSpPr/>
          <p:nvPr/>
        </p:nvSpPr>
        <p:spPr>
          <a:xfrm>
            <a:off x="5961888" y="5596128"/>
            <a:ext cx="2148840" cy="164592"/>
          </a:xfrm>
          <a:prstGeom prst="rect">
            <a:avLst/>
          </a:prstGeom>
          <a:noFill/>
          <a:ln/>
        </p:spPr>
        <p:txBody>
          <a:bodyPr wrap="square" lIns="27432" tIns="18288" rIns="27432" bIns="18288" rtlCol="0" anchor="t">
            <a:normAutofit/>
          </a:bodyPr>
          <a:lstStyle/>
          <a:p>
            <a:pPr marL="0" indent="0" algn="ctr">
              <a:spcBef>
                <a:spcPts val="0"/>
              </a:spcBef>
              <a:spcAft>
                <a:spcPts val="120"/>
              </a:spcAft>
              <a:buNone/>
            </a:pPr>
            <a:r>
              <a:rPr lang="en-US" sz="820" b="1" dirty="0">
                <a:solidFill>
                  <a:srgbClr val="253B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Evidence-based response</a:t>
            </a:r>
            <a:endParaRPr lang="en-US" sz="820" dirty="0"/>
          </a:p>
        </p:txBody>
      </p:sp>
      <p:sp>
        <p:nvSpPr>
          <p:cNvPr id="30" name="Text 26"/>
          <p:cNvSpPr/>
          <p:nvPr/>
        </p:nvSpPr>
        <p:spPr>
          <a:xfrm>
            <a:off x="5961888" y="5779008"/>
            <a:ext cx="2148840" cy="164592"/>
          </a:xfrm>
          <a:prstGeom prst="rect">
            <a:avLst/>
          </a:prstGeom>
          <a:noFill/>
          <a:ln/>
        </p:spPr>
        <p:txBody>
          <a:bodyPr wrap="square" lIns="27432" tIns="18288" rIns="27432" bIns="18288" rtlCol="0" anchor="t">
            <a:normAutofit/>
          </a:bodyPr>
          <a:lstStyle/>
          <a:p>
            <a:pPr marL="0" indent="0" algn="ctr">
              <a:spcBef>
                <a:spcPts val="0"/>
              </a:spcBef>
              <a:spcAft>
                <a:spcPts val="120"/>
              </a:spcAft>
              <a:buNone/>
            </a:pPr>
            <a:r>
              <a:rPr lang="en-US" sz="700" dirty="0">
                <a:solidFill>
                  <a:srgbClr val="253B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driven by available records</a:t>
            </a:r>
            <a:endParaRPr lang="en-US" sz="700" dirty="0"/>
          </a:p>
        </p:txBody>
      </p:sp>
      <p:sp>
        <p:nvSpPr>
          <p:cNvPr id="31" name="Text 27"/>
          <p:cNvSpPr/>
          <p:nvPr/>
        </p:nvSpPr>
        <p:spPr>
          <a:xfrm>
            <a:off x="8476488" y="5596128"/>
            <a:ext cx="2148840" cy="164592"/>
          </a:xfrm>
          <a:prstGeom prst="rect">
            <a:avLst/>
          </a:prstGeom>
          <a:noFill/>
          <a:ln/>
        </p:spPr>
        <p:txBody>
          <a:bodyPr wrap="square" lIns="27432" tIns="18288" rIns="27432" bIns="18288" rtlCol="0" anchor="t">
            <a:normAutofit/>
          </a:bodyPr>
          <a:lstStyle/>
          <a:p>
            <a:pPr marL="0" indent="0" algn="ctr">
              <a:spcBef>
                <a:spcPts val="0"/>
              </a:spcBef>
              <a:spcAft>
                <a:spcPts val="120"/>
              </a:spcAft>
              <a:buNone/>
            </a:pPr>
            <a:r>
              <a:rPr lang="en-US" sz="820" b="1" dirty="0">
                <a:solidFill>
                  <a:srgbClr val="253B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Confidence-aware</a:t>
            </a:r>
            <a:endParaRPr lang="en-US" sz="820" dirty="0"/>
          </a:p>
        </p:txBody>
      </p:sp>
      <p:sp>
        <p:nvSpPr>
          <p:cNvPr id="32" name="Text 28"/>
          <p:cNvSpPr/>
          <p:nvPr/>
        </p:nvSpPr>
        <p:spPr>
          <a:xfrm>
            <a:off x="8476488" y="5779008"/>
            <a:ext cx="2148840" cy="164592"/>
          </a:xfrm>
          <a:prstGeom prst="rect">
            <a:avLst/>
          </a:prstGeom>
          <a:noFill/>
          <a:ln/>
        </p:spPr>
        <p:txBody>
          <a:bodyPr wrap="square" lIns="27432" tIns="18288" rIns="27432" bIns="18288" rtlCol="0" anchor="t">
            <a:normAutofit/>
          </a:bodyPr>
          <a:lstStyle/>
          <a:p>
            <a:pPr marL="0" indent="0" algn="ctr">
              <a:spcBef>
                <a:spcPts val="0"/>
              </a:spcBef>
              <a:spcAft>
                <a:spcPts val="120"/>
              </a:spcAft>
              <a:buNone/>
            </a:pPr>
            <a:r>
              <a:rPr lang="en-US" sz="700" dirty="0">
                <a:solidFill>
                  <a:srgbClr val="253B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investigation at every step</a:t>
            </a:r>
            <a:endParaRPr lang="en-US" sz="700" dirty="0"/>
          </a:p>
        </p:txBody>
      </p:sp>
      <p:sp>
        <p:nvSpPr>
          <p:cNvPr id="33" name="Shape 29"/>
          <p:cNvSpPr/>
          <p:nvPr/>
        </p:nvSpPr>
        <p:spPr>
          <a:xfrm>
            <a:off x="1371600" y="6199632"/>
            <a:ext cx="9418320" cy="393192"/>
          </a:xfrm>
          <a:prstGeom prst="roundRect">
            <a:avLst>
              <a:gd name="adj" fmla="val 25581"/>
            </a:avLst>
          </a:prstGeom>
          <a:solidFill>
            <a:srgbClr val="5E7F4E"/>
          </a:solidFill>
          <a:ln w="12700">
            <a:solidFill>
              <a:srgbClr val="5E7F4E">
                <a:alpha val="0"/>
              </a:srgbClr>
            </a:solidFill>
            <a:prstDash val="solid"/>
          </a:ln>
        </p:spPr>
        <p:txBody>
          <a:bodyPr lIns="27432" tIns="18288" rIns="27432" bIns="18288"/>
          <a:lstStyle/>
          <a:p>
            <a:pPr>
              <a:spcBef>
                <a:spcPts val="0"/>
              </a:spcBef>
              <a:spcAft>
                <a:spcPts val="120"/>
              </a:spcAft>
            </a:pPr>
            <a:endParaRPr/>
          </a:p>
        </p:txBody>
      </p:sp>
      <p:sp>
        <p:nvSpPr>
          <p:cNvPr id="34" name="Text 30"/>
          <p:cNvSpPr/>
          <p:nvPr/>
        </p:nvSpPr>
        <p:spPr>
          <a:xfrm>
            <a:off x="1371600" y="6217920"/>
            <a:ext cx="9418320" cy="356616"/>
          </a:xfrm>
          <a:prstGeom prst="rect">
            <a:avLst/>
          </a:prstGeom>
          <a:noFill/>
          <a:ln/>
        </p:spPr>
        <p:txBody>
          <a:bodyPr wrap="square" lIns="27432" tIns="18288" rIns="27432" bIns="18288" rtlCol="0" anchor="ctr">
            <a:normAutofit/>
          </a:bodyPr>
          <a:lstStyle/>
          <a:p>
            <a:pPr marL="0" indent="0" algn="ctr">
              <a:spcBef>
                <a:spcPts val="0"/>
              </a:spcBef>
              <a:spcAft>
                <a:spcPts val="120"/>
              </a:spcAft>
              <a:buNone/>
            </a:pPr>
            <a:r>
              <a:rPr lang="en-US" sz="1500" b="1" dirty="0">
                <a:solidFill>
                  <a:srgbClr val="F6F0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Responsible AI means knowing when to stop.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ED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>
            <a:alphaModFix amt="90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35240" y="-73152"/>
            <a:ext cx="4754880" cy="25146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>
            <a:alphaModFix amt="82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-685800" y="4983480"/>
            <a:ext cx="4297680" cy="224028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04672" y="347472"/>
            <a:ext cx="4572000" cy="914400"/>
          </a:xfrm>
          <a:prstGeom prst="rect">
            <a:avLst/>
          </a:prstGeom>
          <a:noFill/>
          <a:ln/>
        </p:spPr>
        <p:txBody>
          <a:bodyPr wrap="square" lIns="27432" tIns="18288" rIns="27432" bIns="18288" rtlCol="0" anchor="ctr">
            <a:normAutofit/>
          </a:bodyPr>
          <a:lstStyle/>
          <a:p>
            <a:pPr marL="0" indent="0">
              <a:spcBef>
                <a:spcPts val="0"/>
              </a:spcBef>
              <a:spcAft>
                <a:spcPts val="120"/>
              </a:spcAft>
              <a:buNone/>
            </a:pPr>
            <a:r>
              <a:rPr lang="en-US" sz="3400" b="1" dirty="0">
                <a:solidFill>
                  <a:srgbClr val="2F492A"/>
                </a:solidFill>
                <a:latin typeface="Cooper Black" pitchFamily="34" charset="0"/>
                <a:ea typeface="Cooper Black" pitchFamily="34" charset="-122"/>
                <a:cs typeface="Cooper Black" pitchFamily="34" charset="-120"/>
              </a:rPr>
              <a:t>Built for sensitive</a:t>
            </a:r>
            <a:endParaRPr lang="en-US" sz="3400" dirty="0"/>
          </a:p>
          <a:p>
            <a:pPr marL="0" indent="0">
              <a:spcBef>
                <a:spcPts val="0"/>
              </a:spcBef>
              <a:spcAft>
                <a:spcPts val="120"/>
              </a:spcAft>
              <a:buNone/>
            </a:pPr>
            <a:r>
              <a:rPr lang="en-US" sz="3400" b="1" dirty="0">
                <a:solidFill>
                  <a:srgbClr val="2F492A"/>
                </a:solidFill>
                <a:latin typeface="Cooper Black" pitchFamily="34" charset="0"/>
                <a:ea typeface="Cooper Black" pitchFamily="34" charset="-122"/>
                <a:cs typeface="Cooper Black" pitchFamily="34" charset="-120"/>
              </a:rPr>
              <a:t>financial data.</a:t>
            </a:r>
            <a:endParaRPr lang="en-US" sz="3400" dirty="0"/>
          </a:p>
        </p:txBody>
      </p:sp>
      <p:sp>
        <p:nvSpPr>
          <p:cNvPr id="5" name="Shape 1"/>
          <p:cNvSpPr/>
          <p:nvPr/>
        </p:nvSpPr>
        <p:spPr>
          <a:xfrm>
            <a:off x="685800" y="1874520"/>
            <a:ext cx="2148840" cy="1965960"/>
          </a:xfrm>
          <a:prstGeom prst="roundRect">
            <a:avLst>
              <a:gd name="adj" fmla="val 5581"/>
            </a:avLst>
          </a:prstGeom>
          <a:solidFill>
            <a:srgbClr val="FBF8E8"/>
          </a:solidFill>
          <a:ln w="15240">
            <a:solidFill>
              <a:srgbClr val="CBDABF"/>
            </a:solidFill>
            <a:prstDash val="solid"/>
          </a:ln>
        </p:spPr>
        <p:txBody>
          <a:bodyPr lIns="27432" tIns="18288" rIns="27432" bIns="18288"/>
          <a:lstStyle/>
          <a:p>
            <a:pPr>
              <a:spcBef>
                <a:spcPts val="0"/>
              </a:spcBef>
              <a:spcAft>
                <a:spcPts val="120"/>
              </a:spcAft>
            </a:pPr>
            <a:endParaRPr/>
          </a:p>
        </p:txBody>
      </p:sp>
      <p:sp>
        <p:nvSpPr>
          <p:cNvPr id="6" name="Text 2"/>
          <p:cNvSpPr/>
          <p:nvPr/>
        </p:nvSpPr>
        <p:spPr>
          <a:xfrm>
            <a:off x="1490472" y="2121408"/>
            <a:ext cx="502920" cy="420624"/>
          </a:xfrm>
          <a:prstGeom prst="rect">
            <a:avLst/>
          </a:prstGeom>
          <a:noFill/>
          <a:ln/>
        </p:spPr>
        <p:txBody>
          <a:bodyPr wrap="square" lIns="27432" tIns="18288" rIns="27432" bIns="18288" rtlCol="0" anchor="ctr">
            <a:normAutofit/>
          </a:bodyPr>
          <a:lstStyle/>
          <a:p>
            <a:pPr marL="0" indent="0" algn="ctr">
              <a:spcBef>
                <a:spcPts val="0"/>
              </a:spcBef>
              <a:spcAft>
                <a:spcPts val="120"/>
              </a:spcAft>
              <a:buNone/>
            </a:pPr>
            <a:r>
              <a:rPr lang="en-US" sz="2500" b="1" dirty="0">
                <a:solidFill>
                  <a:srgbClr val="2F49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▣</a:t>
            </a:r>
            <a:endParaRPr lang="en-US" sz="2500" dirty="0"/>
          </a:p>
        </p:txBody>
      </p:sp>
      <p:sp>
        <p:nvSpPr>
          <p:cNvPr id="7" name="Text 3"/>
          <p:cNvSpPr/>
          <p:nvPr/>
        </p:nvSpPr>
        <p:spPr>
          <a:xfrm>
            <a:off x="914400" y="2788920"/>
            <a:ext cx="1691640" cy="329184"/>
          </a:xfrm>
          <a:prstGeom prst="rect">
            <a:avLst/>
          </a:prstGeom>
          <a:noFill/>
          <a:ln/>
        </p:spPr>
        <p:txBody>
          <a:bodyPr wrap="square" lIns="27432" tIns="18288" rIns="27432" bIns="18288" rtlCol="0" anchor="ctr">
            <a:normAutofit/>
          </a:bodyPr>
          <a:lstStyle/>
          <a:p>
            <a:pPr marL="0" indent="0" algn="ctr">
              <a:spcBef>
                <a:spcPts val="0"/>
              </a:spcBef>
              <a:spcAft>
                <a:spcPts val="120"/>
              </a:spcAft>
              <a:buNone/>
            </a:pPr>
            <a:r>
              <a:rPr lang="en-US" sz="1100" b="1" dirty="0">
                <a:solidFill>
                  <a:srgbClr val="2F49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Input Validation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886968" y="3246120"/>
            <a:ext cx="1737360" cy="384048"/>
          </a:xfrm>
          <a:prstGeom prst="rect">
            <a:avLst/>
          </a:prstGeom>
          <a:noFill/>
          <a:ln/>
        </p:spPr>
        <p:txBody>
          <a:bodyPr wrap="square" lIns="27432" tIns="18288" rIns="27432" bIns="18288" rtlCol="0" anchor="ctr">
            <a:normAutofit/>
          </a:bodyPr>
          <a:lstStyle/>
          <a:p>
            <a:pPr marL="0" indent="0" algn="ctr">
              <a:spcBef>
                <a:spcPts val="0"/>
              </a:spcBef>
              <a:spcAft>
                <a:spcPts val="120"/>
              </a:spcAft>
              <a:buNone/>
            </a:pPr>
            <a:r>
              <a:rPr lang="en-US" sz="860" dirty="0">
                <a:solidFill>
                  <a:srgbClr val="253B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Validate transaction</a:t>
            </a:r>
            <a:endParaRPr lang="en-US" sz="860" dirty="0"/>
          </a:p>
          <a:p>
            <a:pPr marL="0" indent="0" algn="ctr">
              <a:spcBef>
                <a:spcPts val="0"/>
              </a:spcBef>
              <a:spcAft>
                <a:spcPts val="120"/>
              </a:spcAft>
              <a:buNone/>
            </a:pPr>
            <a:r>
              <a:rPr lang="en-US" sz="860" dirty="0">
                <a:solidFill>
                  <a:srgbClr val="253B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identifiers and API</a:t>
            </a:r>
            <a:endParaRPr lang="en-US" sz="860" dirty="0"/>
          </a:p>
          <a:p>
            <a:pPr marL="0" indent="0" algn="ctr">
              <a:spcBef>
                <a:spcPts val="0"/>
              </a:spcBef>
              <a:spcAft>
                <a:spcPts val="120"/>
              </a:spcAft>
              <a:buNone/>
            </a:pPr>
            <a:r>
              <a:rPr lang="en-US" sz="860" dirty="0">
                <a:solidFill>
                  <a:srgbClr val="253B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requests.</a:t>
            </a:r>
            <a:endParaRPr lang="en-US" sz="860" dirty="0"/>
          </a:p>
        </p:txBody>
      </p:sp>
      <p:sp>
        <p:nvSpPr>
          <p:cNvPr id="9" name="Shape 5"/>
          <p:cNvSpPr/>
          <p:nvPr/>
        </p:nvSpPr>
        <p:spPr>
          <a:xfrm>
            <a:off x="2898648" y="2788920"/>
            <a:ext cx="365760" cy="0"/>
          </a:xfrm>
          <a:prstGeom prst="line">
            <a:avLst/>
          </a:prstGeom>
          <a:noFill/>
          <a:ln w="20320">
            <a:solidFill>
              <a:srgbClr val="6E8F5D"/>
            </a:solidFill>
            <a:prstDash val="solid"/>
            <a:headEnd type="none"/>
            <a:tailEnd type="triangle"/>
          </a:ln>
        </p:spPr>
        <p:txBody>
          <a:bodyPr lIns="27432" tIns="18288" rIns="27432" bIns="18288"/>
          <a:lstStyle/>
          <a:p>
            <a:pPr>
              <a:spcBef>
                <a:spcPts val="0"/>
              </a:spcBef>
              <a:spcAft>
                <a:spcPts val="120"/>
              </a:spcAft>
            </a:pPr>
            <a:endParaRPr/>
          </a:p>
        </p:txBody>
      </p:sp>
      <p:sp>
        <p:nvSpPr>
          <p:cNvPr id="10" name="Shape 6"/>
          <p:cNvSpPr/>
          <p:nvPr/>
        </p:nvSpPr>
        <p:spPr>
          <a:xfrm>
            <a:off x="3474720" y="1874520"/>
            <a:ext cx="2148840" cy="1965960"/>
          </a:xfrm>
          <a:prstGeom prst="roundRect">
            <a:avLst>
              <a:gd name="adj" fmla="val 5581"/>
            </a:avLst>
          </a:prstGeom>
          <a:solidFill>
            <a:srgbClr val="FBF8E8"/>
          </a:solidFill>
          <a:ln w="15240">
            <a:solidFill>
              <a:srgbClr val="CBDABF"/>
            </a:solidFill>
            <a:prstDash val="solid"/>
          </a:ln>
        </p:spPr>
        <p:txBody>
          <a:bodyPr lIns="27432" tIns="18288" rIns="27432" bIns="18288"/>
          <a:lstStyle/>
          <a:p>
            <a:pPr>
              <a:spcBef>
                <a:spcPts val="0"/>
              </a:spcBef>
              <a:spcAft>
                <a:spcPts val="120"/>
              </a:spcAft>
            </a:pPr>
            <a:endParaRPr/>
          </a:p>
        </p:txBody>
      </p:sp>
      <p:sp>
        <p:nvSpPr>
          <p:cNvPr id="11" name="Text 7"/>
          <p:cNvSpPr/>
          <p:nvPr/>
        </p:nvSpPr>
        <p:spPr>
          <a:xfrm>
            <a:off x="4279392" y="2121408"/>
            <a:ext cx="502920" cy="420624"/>
          </a:xfrm>
          <a:prstGeom prst="rect">
            <a:avLst/>
          </a:prstGeom>
          <a:noFill/>
          <a:ln/>
        </p:spPr>
        <p:txBody>
          <a:bodyPr wrap="square" lIns="27432" tIns="18288" rIns="27432" bIns="18288" rtlCol="0" anchor="ctr">
            <a:normAutofit/>
          </a:bodyPr>
          <a:lstStyle/>
          <a:p>
            <a:pPr marL="0" indent="0" algn="ctr">
              <a:spcBef>
                <a:spcPts val="0"/>
              </a:spcBef>
              <a:spcAft>
                <a:spcPts val="120"/>
              </a:spcAft>
              <a:buNone/>
            </a:pPr>
            <a:r>
              <a:rPr lang="en-US" sz="2500" b="1" dirty="0">
                <a:solidFill>
                  <a:srgbClr val="2F49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⬡</a:t>
            </a:r>
            <a:endParaRPr lang="en-US" sz="2500" dirty="0"/>
          </a:p>
        </p:txBody>
      </p:sp>
      <p:sp>
        <p:nvSpPr>
          <p:cNvPr id="12" name="Text 8"/>
          <p:cNvSpPr/>
          <p:nvPr/>
        </p:nvSpPr>
        <p:spPr>
          <a:xfrm>
            <a:off x="3703320" y="2788920"/>
            <a:ext cx="1691640" cy="329184"/>
          </a:xfrm>
          <a:prstGeom prst="rect">
            <a:avLst/>
          </a:prstGeom>
          <a:noFill/>
          <a:ln/>
        </p:spPr>
        <p:txBody>
          <a:bodyPr wrap="square" lIns="27432" tIns="18288" rIns="27432" bIns="18288" rtlCol="0" anchor="ctr">
            <a:normAutofit/>
          </a:bodyPr>
          <a:lstStyle/>
          <a:p>
            <a:pPr marL="0" indent="0" algn="ctr">
              <a:spcBef>
                <a:spcPts val="0"/>
              </a:spcBef>
              <a:spcAft>
                <a:spcPts val="120"/>
              </a:spcAft>
              <a:buNone/>
            </a:pPr>
            <a:r>
              <a:rPr lang="en-US" sz="1100" b="1" dirty="0">
                <a:solidFill>
                  <a:srgbClr val="2F49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 Masking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3675888" y="3246120"/>
            <a:ext cx="1737360" cy="384048"/>
          </a:xfrm>
          <a:prstGeom prst="rect">
            <a:avLst/>
          </a:prstGeom>
          <a:noFill/>
          <a:ln/>
        </p:spPr>
        <p:txBody>
          <a:bodyPr wrap="square" lIns="27432" tIns="18288" rIns="27432" bIns="18288" rtlCol="0" anchor="ctr">
            <a:normAutofit/>
          </a:bodyPr>
          <a:lstStyle/>
          <a:p>
            <a:pPr marL="0" indent="0" algn="ctr">
              <a:spcBef>
                <a:spcPts val="0"/>
              </a:spcBef>
              <a:spcAft>
                <a:spcPts val="120"/>
              </a:spcAft>
              <a:buNone/>
            </a:pPr>
            <a:r>
              <a:rPr lang="en-US" sz="860" dirty="0">
                <a:solidFill>
                  <a:srgbClr val="253B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Sensitive information</a:t>
            </a:r>
            <a:endParaRPr lang="en-US" sz="860" dirty="0"/>
          </a:p>
          <a:p>
            <a:pPr marL="0" indent="0" algn="ctr">
              <a:spcBef>
                <a:spcPts val="0"/>
              </a:spcBef>
              <a:spcAft>
                <a:spcPts val="120"/>
              </a:spcAft>
              <a:buNone/>
            </a:pPr>
            <a:r>
              <a:rPr lang="en-US" sz="860" dirty="0">
                <a:solidFill>
                  <a:srgbClr val="253B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masked before</a:t>
            </a:r>
            <a:endParaRPr lang="en-US" sz="860" dirty="0"/>
          </a:p>
          <a:p>
            <a:pPr marL="0" indent="0" algn="ctr">
              <a:spcBef>
                <a:spcPts val="0"/>
              </a:spcBef>
              <a:spcAft>
                <a:spcPts val="120"/>
              </a:spcAft>
              <a:buNone/>
            </a:pPr>
            <a:r>
              <a:rPr lang="en-US" sz="860" dirty="0">
                <a:solidFill>
                  <a:srgbClr val="253B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processing.</a:t>
            </a:r>
            <a:endParaRPr lang="en-US" sz="860" dirty="0"/>
          </a:p>
        </p:txBody>
      </p:sp>
      <p:sp>
        <p:nvSpPr>
          <p:cNvPr id="14" name="Shape 10"/>
          <p:cNvSpPr/>
          <p:nvPr/>
        </p:nvSpPr>
        <p:spPr>
          <a:xfrm>
            <a:off x="5687568" y="2788920"/>
            <a:ext cx="365760" cy="0"/>
          </a:xfrm>
          <a:prstGeom prst="line">
            <a:avLst/>
          </a:prstGeom>
          <a:noFill/>
          <a:ln w="20320">
            <a:solidFill>
              <a:srgbClr val="5DA5AA"/>
            </a:solidFill>
            <a:prstDash val="solid"/>
            <a:headEnd type="none"/>
            <a:tailEnd type="triangle"/>
          </a:ln>
        </p:spPr>
        <p:txBody>
          <a:bodyPr lIns="27432" tIns="18288" rIns="27432" bIns="18288"/>
          <a:lstStyle/>
          <a:p>
            <a:pPr>
              <a:spcBef>
                <a:spcPts val="0"/>
              </a:spcBef>
              <a:spcAft>
                <a:spcPts val="120"/>
              </a:spcAft>
            </a:pPr>
            <a:endParaRPr/>
          </a:p>
        </p:txBody>
      </p:sp>
      <p:sp>
        <p:nvSpPr>
          <p:cNvPr id="15" name="Shape 11"/>
          <p:cNvSpPr/>
          <p:nvPr/>
        </p:nvSpPr>
        <p:spPr>
          <a:xfrm>
            <a:off x="6263640" y="1874520"/>
            <a:ext cx="2148840" cy="1965960"/>
          </a:xfrm>
          <a:prstGeom prst="roundRect">
            <a:avLst>
              <a:gd name="adj" fmla="val 5581"/>
            </a:avLst>
          </a:prstGeom>
          <a:solidFill>
            <a:srgbClr val="FBF8E8"/>
          </a:solidFill>
          <a:ln w="15240">
            <a:solidFill>
              <a:srgbClr val="CBDABF"/>
            </a:solidFill>
            <a:prstDash val="solid"/>
          </a:ln>
        </p:spPr>
        <p:txBody>
          <a:bodyPr lIns="27432" tIns="18288" rIns="27432" bIns="18288"/>
          <a:lstStyle/>
          <a:p>
            <a:pPr>
              <a:spcBef>
                <a:spcPts val="0"/>
              </a:spcBef>
              <a:spcAft>
                <a:spcPts val="120"/>
              </a:spcAft>
            </a:pPr>
            <a:endParaRPr/>
          </a:p>
        </p:txBody>
      </p:sp>
      <p:sp>
        <p:nvSpPr>
          <p:cNvPr id="16" name="Text 12"/>
          <p:cNvSpPr/>
          <p:nvPr/>
        </p:nvSpPr>
        <p:spPr>
          <a:xfrm>
            <a:off x="7068312" y="2121408"/>
            <a:ext cx="502920" cy="420624"/>
          </a:xfrm>
          <a:prstGeom prst="rect">
            <a:avLst/>
          </a:prstGeom>
          <a:noFill/>
          <a:ln/>
        </p:spPr>
        <p:txBody>
          <a:bodyPr wrap="square" lIns="27432" tIns="18288" rIns="27432" bIns="18288" rtlCol="0" anchor="ctr">
            <a:normAutofit/>
          </a:bodyPr>
          <a:lstStyle/>
          <a:p>
            <a:pPr marL="0" indent="0" algn="ctr">
              <a:spcBef>
                <a:spcPts val="0"/>
              </a:spcBef>
              <a:spcAft>
                <a:spcPts val="120"/>
              </a:spcAft>
              <a:buNone/>
            </a:pPr>
            <a:r>
              <a:rPr lang="en-US" sz="2500" b="1" dirty="0">
                <a:solidFill>
                  <a:srgbClr val="1C6A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☻</a:t>
            </a:r>
            <a:endParaRPr lang="en-US" sz="2500" dirty="0"/>
          </a:p>
        </p:txBody>
      </p:sp>
      <p:sp>
        <p:nvSpPr>
          <p:cNvPr id="17" name="Text 13"/>
          <p:cNvSpPr/>
          <p:nvPr/>
        </p:nvSpPr>
        <p:spPr>
          <a:xfrm>
            <a:off x="6492240" y="2788920"/>
            <a:ext cx="1691640" cy="329184"/>
          </a:xfrm>
          <a:prstGeom prst="rect">
            <a:avLst/>
          </a:prstGeom>
          <a:noFill/>
          <a:ln/>
        </p:spPr>
        <p:txBody>
          <a:bodyPr wrap="square" lIns="27432" tIns="18288" rIns="27432" bIns="18288" rtlCol="0" anchor="ctr">
            <a:normAutofit/>
          </a:bodyPr>
          <a:lstStyle/>
          <a:p>
            <a:pPr marL="0" indent="0" algn="ctr">
              <a:spcBef>
                <a:spcPts val="0"/>
              </a:spcBef>
              <a:spcAft>
                <a:spcPts val="120"/>
              </a:spcAft>
              <a:buNone/>
            </a:pPr>
            <a:r>
              <a:rPr lang="en-US" sz="1100" b="1" dirty="0">
                <a:solidFill>
                  <a:srgbClr val="1C6A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Restricted AI Context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6464808" y="3246120"/>
            <a:ext cx="1737360" cy="384048"/>
          </a:xfrm>
          <a:prstGeom prst="rect">
            <a:avLst/>
          </a:prstGeom>
          <a:noFill/>
          <a:ln/>
        </p:spPr>
        <p:txBody>
          <a:bodyPr wrap="square" lIns="27432" tIns="18288" rIns="27432" bIns="18288" rtlCol="0" anchor="ctr">
            <a:normAutofit/>
          </a:bodyPr>
          <a:lstStyle/>
          <a:p>
            <a:pPr marL="0" indent="0" algn="ctr">
              <a:spcBef>
                <a:spcPts val="0"/>
              </a:spcBef>
              <a:spcAft>
                <a:spcPts val="120"/>
              </a:spcAft>
              <a:buNone/>
            </a:pPr>
            <a:r>
              <a:rPr lang="en-US" sz="860" dirty="0">
                <a:solidFill>
                  <a:srgbClr val="253B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LLM receives only required</a:t>
            </a:r>
            <a:endParaRPr lang="en-US" sz="860" dirty="0"/>
          </a:p>
          <a:p>
            <a:pPr marL="0" indent="0" algn="ctr">
              <a:spcBef>
                <a:spcPts val="0"/>
              </a:spcBef>
              <a:spcAft>
                <a:spcPts val="120"/>
              </a:spcAft>
              <a:buNone/>
            </a:pPr>
            <a:r>
              <a:rPr lang="en-US" sz="860" dirty="0">
                <a:solidFill>
                  <a:srgbClr val="253B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transaction context, not</a:t>
            </a:r>
            <a:endParaRPr lang="en-US" sz="860" dirty="0"/>
          </a:p>
          <a:p>
            <a:pPr marL="0" indent="0" algn="ctr">
              <a:spcBef>
                <a:spcPts val="0"/>
              </a:spcBef>
              <a:spcAft>
                <a:spcPts val="120"/>
              </a:spcAft>
              <a:buNone/>
            </a:pPr>
            <a:r>
              <a:rPr lang="en-US" sz="860" dirty="0">
                <a:solidFill>
                  <a:srgbClr val="253B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unrestricted financial data.</a:t>
            </a:r>
            <a:endParaRPr lang="en-US" sz="860" dirty="0"/>
          </a:p>
        </p:txBody>
      </p:sp>
      <p:sp>
        <p:nvSpPr>
          <p:cNvPr id="19" name="Shape 15"/>
          <p:cNvSpPr/>
          <p:nvPr/>
        </p:nvSpPr>
        <p:spPr>
          <a:xfrm>
            <a:off x="8476488" y="2788920"/>
            <a:ext cx="365760" cy="0"/>
          </a:xfrm>
          <a:prstGeom prst="line">
            <a:avLst/>
          </a:prstGeom>
          <a:noFill/>
          <a:ln w="20320">
            <a:solidFill>
              <a:srgbClr val="5DA5AA"/>
            </a:solidFill>
            <a:prstDash val="solid"/>
            <a:headEnd type="none"/>
            <a:tailEnd type="triangle"/>
          </a:ln>
        </p:spPr>
        <p:txBody>
          <a:bodyPr lIns="27432" tIns="18288" rIns="27432" bIns="18288"/>
          <a:lstStyle/>
          <a:p>
            <a:pPr>
              <a:spcBef>
                <a:spcPts val="0"/>
              </a:spcBef>
              <a:spcAft>
                <a:spcPts val="120"/>
              </a:spcAft>
            </a:pPr>
            <a:endParaRPr/>
          </a:p>
        </p:txBody>
      </p:sp>
      <p:sp>
        <p:nvSpPr>
          <p:cNvPr id="20" name="Shape 16"/>
          <p:cNvSpPr/>
          <p:nvPr/>
        </p:nvSpPr>
        <p:spPr>
          <a:xfrm>
            <a:off x="9052560" y="1874520"/>
            <a:ext cx="2148840" cy="1965960"/>
          </a:xfrm>
          <a:prstGeom prst="roundRect">
            <a:avLst>
              <a:gd name="adj" fmla="val 5581"/>
            </a:avLst>
          </a:prstGeom>
          <a:solidFill>
            <a:srgbClr val="FBF8E8"/>
          </a:solidFill>
          <a:ln w="15240">
            <a:solidFill>
              <a:srgbClr val="CBDABF"/>
            </a:solidFill>
            <a:prstDash val="solid"/>
          </a:ln>
        </p:spPr>
        <p:txBody>
          <a:bodyPr lIns="27432" tIns="18288" rIns="27432" bIns="18288"/>
          <a:lstStyle/>
          <a:p>
            <a:pPr>
              <a:spcBef>
                <a:spcPts val="0"/>
              </a:spcBef>
              <a:spcAft>
                <a:spcPts val="120"/>
              </a:spcAft>
            </a:pPr>
            <a:endParaRPr/>
          </a:p>
        </p:txBody>
      </p:sp>
      <p:sp>
        <p:nvSpPr>
          <p:cNvPr id="21" name="Text 17"/>
          <p:cNvSpPr/>
          <p:nvPr/>
        </p:nvSpPr>
        <p:spPr>
          <a:xfrm>
            <a:off x="9857232" y="2121408"/>
            <a:ext cx="502920" cy="420624"/>
          </a:xfrm>
          <a:prstGeom prst="rect">
            <a:avLst/>
          </a:prstGeom>
          <a:noFill/>
          <a:ln/>
        </p:spPr>
        <p:txBody>
          <a:bodyPr wrap="square" lIns="27432" tIns="18288" rIns="27432" bIns="18288" rtlCol="0" anchor="ctr">
            <a:normAutofit/>
          </a:bodyPr>
          <a:lstStyle/>
          <a:p>
            <a:pPr marL="0" indent="0" algn="ctr">
              <a:spcBef>
                <a:spcPts val="0"/>
              </a:spcBef>
              <a:spcAft>
                <a:spcPts val="120"/>
              </a:spcAft>
              <a:buNone/>
            </a:pPr>
            <a:r>
              <a:rPr lang="en-US" sz="2500" b="1" dirty="0">
                <a:solidFill>
                  <a:srgbClr val="1C6A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☷</a:t>
            </a:r>
            <a:endParaRPr lang="en-US" sz="2500" dirty="0"/>
          </a:p>
        </p:txBody>
      </p:sp>
      <p:sp>
        <p:nvSpPr>
          <p:cNvPr id="22" name="Text 18"/>
          <p:cNvSpPr/>
          <p:nvPr/>
        </p:nvSpPr>
        <p:spPr>
          <a:xfrm>
            <a:off x="9281160" y="2788920"/>
            <a:ext cx="1691640" cy="329184"/>
          </a:xfrm>
          <a:prstGeom prst="rect">
            <a:avLst/>
          </a:prstGeom>
          <a:noFill/>
          <a:ln/>
        </p:spPr>
        <p:txBody>
          <a:bodyPr wrap="square" lIns="27432" tIns="18288" rIns="27432" bIns="18288" rtlCol="0" anchor="ctr">
            <a:normAutofit/>
          </a:bodyPr>
          <a:lstStyle/>
          <a:p>
            <a:pPr marL="0" indent="0" algn="ctr">
              <a:spcBef>
                <a:spcPts val="0"/>
              </a:spcBef>
              <a:spcAft>
                <a:spcPts val="120"/>
              </a:spcAft>
              <a:buNone/>
            </a:pPr>
            <a:r>
              <a:rPr lang="en-US" sz="1100" b="1" dirty="0">
                <a:solidFill>
                  <a:srgbClr val="1C6A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Audit + Rate</a:t>
            </a:r>
            <a:endParaRPr lang="en-US" sz="1100" dirty="0"/>
          </a:p>
          <a:p>
            <a:pPr marL="0" indent="0" algn="ctr">
              <a:spcBef>
                <a:spcPts val="0"/>
              </a:spcBef>
              <a:spcAft>
                <a:spcPts val="120"/>
              </a:spcAft>
              <a:buNone/>
            </a:pPr>
            <a:r>
              <a:rPr lang="en-US" sz="1100" b="1" dirty="0">
                <a:solidFill>
                  <a:srgbClr val="1C6A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Limiting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9253728" y="3246120"/>
            <a:ext cx="1737360" cy="384048"/>
          </a:xfrm>
          <a:prstGeom prst="rect">
            <a:avLst/>
          </a:prstGeom>
          <a:noFill/>
          <a:ln/>
        </p:spPr>
        <p:txBody>
          <a:bodyPr wrap="square" lIns="27432" tIns="18288" rIns="27432" bIns="18288" rtlCol="0" anchor="ctr">
            <a:normAutofit/>
          </a:bodyPr>
          <a:lstStyle/>
          <a:p>
            <a:pPr marL="0" indent="0" algn="ctr">
              <a:spcBef>
                <a:spcPts val="0"/>
              </a:spcBef>
              <a:spcAft>
                <a:spcPts val="120"/>
              </a:spcAft>
              <a:buNone/>
            </a:pPr>
            <a:r>
              <a:rPr lang="en-US" sz="860" dirty="0">
                <a:solidFill>
                  <a:srgbClr val="253B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Investigation actions</a:t>
            </a:r>
            <a:endParaRPr lang="en-US" sz="860" dirty="0"/>
          </a:p>
          <a:p>
            <a:pPr marL="0" indent="0" algn="ctr">
              <a:spcBef>
                <a:spcPts val="0"/>
              </a:spcBef>
              <a:spcAft>
                <a:spcPts val="120"/>
              </a:spcAft>
              <a:buNone/>
            </a:pPr>
            <a:r>
              <a:rPr lang="en-US" sz="860" dirty="0">
                <a:solidFill>
                  <a:srgbClr val="253B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logged; APIs protected</a:t>
            </a:r>
            <a:endParaRPr lang="en-US" sz="860" dirty="0"/>
          </a:p>
          <a:p>
            <a:pPr marL="0" indent="0" algn="ctr">
              <a:spcBef>
                <a:spcPts val="0"/>
              </a:spcBef>
              <a:spcAft>
                <a:spcPts val="120"/>
              </a:spcAft>
              <a:buNone/>
            </a:pPr>
            <a:r>
              <a:rPr lang="en-US" sz="860" dirty="0">
                <a:solidFill>
                  <a:srgbClr val="253B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against abuse.</a:t>
            </a:r>
            <a:endParaRPr lang="en-US" sz="860" dirty="0"/>
          </a:p>
        </p:txBody>
      </p:sp>
      <p:sp>
        <p:nvSpPr>
          <p:cNvPr id="24" name="Shape 20"/>
          <p:cNvSpPr/>
          <p:nvPr/>
        </p:nvSpPr>
        <p:spPr>
          <a:xfrm>
            <a:off x="685800" y="4315968"/>
            <a:ext cx="10835640" cy="960120"/>
          </a:xfrm>
          <a:prstGeom prst="roundRect">
            <a:avLst>
              <a:gd name="adj" fmla="val 11429"/>
            </a:avLst>
          </a:prstGeom>
          <a:solidFill>
            <a:srgbClr val="3D5734"/>
          </a:solidFill>
          <a:ln w="15240">
            <a:solidFill>
              <a:srgbClr val="E8E1BD"/>
            </a:solidFill>
            <a:prstDash val="solid"/>
          </a:ln>
        </p:spPr>
        <p:txBody>
          <a:bodyPr lIns="27432" tIns="18288" rIns="27432" bIns="18288"/>
          <a:lstStyle/>
          <a:p>
            <a:pPr>
              <a:spcBef>
                <a:spcPts val="0"/>
              </a:spcBef>
              <a:spcAft>
                <a:spcPts val="120"/>
              </a:spcAft>
            </a:pPr>
            <a:endParaRPr/>
          </a:p>
        </p:txBody>
      </p:sp>
      <p:sp>
        <p:nvSpPr>
          <p:cNvPr id="25" name="Text 21"/>
          <p:cNvSpPr/>
          <p:nvPr/>
        </p:nvSpPr>
        <p:spPr>
          <a:xfrm>
            <a:off x="914400" y="4526280"/>
            <a:ext cx="256032" cy="411480"/>
          </a:xfrm>
          <a:prstGeom prst="rect">
            <a:avLst/>
          </a:prstGeom>
          <a:noFill/>
          <a:ln/>
        </p:spPr>
        <p:txBody>
          <a:bodyPr wrap="square" lIns="27432" tIns="18288" rIns="27432" bIns="18288" rtlCol="0" anchor="ctr">
            <a:normAutofit/>
          </a:bodyPr>
          <a:lstStyle/>
          <a:p>
            <a:pPr marL="0" indent="0" algn="ctr">
              <a:spcBef>
                <a:spcPts val="0"/>
              </a:spcBef>
              <a:spcAft>
                <a:spcPts val="120"/>
              </a:spcAft>
              <a:buNone/>
            </a:pPr>
            <a:r>
              <a:rPr lang="en-US" sz="2800" b="1" dirty="0">
                <a:solidFill>
                  <a:srgbClr val="F6F0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↓</a:t>
            </a:r>
            <a:endParaRPr lang="en-US" sz="2800" dirty="0"/>
          </a:p>
        </p:txBody>
      </p:sp>
      <p:sp>
        <p:nvSpPr>
          <p:cNvPr id="26" name="Text 22"/>
          <p:cNvSpPr/>
          <p:nvPr/>
        </p:nvSpPr>
        <p:spPr>
          <a:xfrm>
            <a:off x="1325880" y="4572000"/>
            <a:ext cx="1691640" cy="347472"/>
          </a:xfrm>
          <a:prstGeom prst="rect">
            <a:avLst/>
          </a:prstGeom>
          <a:noFill/>
          <a:ln/>
        </p:spPr>
        <p:txBody>
          <a:bodyPr wrap="square" lIns="27432" tIns="18288" rIns="27432" bIns="18288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120"/>
              </a:spcAft>
              <a:buNone/>
            </a:pPr>
            <a:r>
              <a:rPr lang="en-US" sz="1600" b="1" dirty="0">
                <a:solidFill>
                  <a:srgbClr val="F6F0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Investigation</a:t>
            </a:r>
            <a:endParaRPr lang="en-US" sz="1600" dirty="0"/>
          </a:p>
          <a:p>
            <a:pPr marL="0" indent="0" algn="l">
              <a:spcBef>
                <a:spcPts val="0"/>
              </a:spcBef>
              <a:spcAft>
                <a:spcPts val="120"/>
              </a:spcAft>
              <a:buNone/>
            </a:pPr>
            <a:r>
              <a:rPr lang="en-US" sz="1600" b="1" dirty="0">
                <a:solidFill>
                  <a:srgbClr val="F6F0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Time</a:t>
            </a:r>
            <a:endParaRPr lang="en-US" sz="1600" dirty="0"/>
          </a:p>
        </p:txBody>
      </p:sp>
      <p:sp>
        <p:nvSpPr>
          <p:cNvPr id="27" name="Text 23"/>
          <p:cNvSpPr/>
          <p:nvPr/>
        </p:nvSpPr>
        <p:spPr>
          <a:xfrm>
            <a:off x="3520440" y="4526280"/>
            <a:ext cx="256032" cy="411480"/>
          </a:xfrm>
          <a:prstGeom prst="rect">
            <a:avLst/>
          </a:prstGeom>
          <a:noFill/>
          <a:ln/>
        </p:spPr>
        <p:txBody>
          <a:bodyPr wrap="square" lIns="27432" tIns="18288" rIns="27432" bIns="18288" rtlCol="0" anchor="ctr">
            <a:normAutofit/>
          </a:bodyPr>
          <a:lstStyle/>
          <a:p>
            <a:pPr marL="0" indent="0" algn="ctr">
              <a:spcBef>
                <a:spcPts val="0"/>
              </a:spcBef>
              <a:spcAft>
                <a:spcPts val="120"/>
              </a:spcAft>
              <a:buNone/>
            </a:pPr>
            <a:r>
              <a:rPr lang="en-US" sz="2800" b="1" dirty="0">
                <a:solidFill>
                  <a:srgbClr val="F6F0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↓</a:t>
            </a:r>
            <a:endParaRPr lang="en-US" sz="2800" dirty="0"/>
          </a:p>
        </p:txBody>
      </p:sp>
      <p:sp>
        <p:nvSpPr>
          <p:cNvPr id="28" name="Text 24"/>
          <p:cNvSpPr/>
          <p:nvPr/>
        </p:nvSpPr>
        <p:spPr>
          <a:xfrm>
            <a:off x="3931920" y="4572000"/>
            <a:ext cx="1691640" cy="347472"/>
          </a:xfrm>
          <a:prstGeom prst="rect">
            <a:avLst/>
          </a:prstGeom>
          <a:noFill/>
          <a:ln/>
        </p:spPr>
        <p:txBody>
          <a:bodyPr wrap="square" lIns="27432" tIns="18288" rIns="27432" bIns="18288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120"/>
              </a:spcAft>
              <a:buNone/>
            </a:pPr>
            <a:r>
              <a:rPr lang="en-US" sz="1600" b="1" dirty="0">
                <a:solidFill>
                  <a:srgbClr val="F6F0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Manual</a:t>
            </a:r>
            <a:endParaRPr lang="en-US" sz="1600" dirty="0"/>
          </a:p>
          <a:p>
            <a:pPr marL="0" indent="0" algn="l">
              <a:spcBef>
                <a:spcPts val="0"/>
              </a:spcBef>
              <a:spcAft>
                <a:spcPts val="120"/>
              </a:spcAft>
              <a:buNone/>
            </a:pPr>
            <a:r>
              <a:rPr lang="en-US" sz="1600" b="1" dirty="0">
                <a:solidFill>
                  <a:srgbClr val="F6F0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Support Effort</a:t>
            </a:r>
            <a:endParaRPr lang="en-US" sz="1600" dirty="0"/>
          </a:p>
        </p:txBody>
      </p:sp>
      <p:sp>
        <p:nvSpPr>
          <p:cNvPr id="29" name="Text 25"/>
          <p:cNvSpPr/>
          <p:nvPr/>
        </p:nvSpPr>
        <p:spPr>
          <a:xfrm>
            <a:off x="6126480" y="4526280"/>
            <a:ext cx="256032" cy="411480"/>
          </a:xfrm>
          <a:prstGeom prst="rect">
            <a:avLst/>
          </a:prstGeom>
          <a:noFill/>
          <a:ln/>
        </p:spPr>
        <p:txBody>
          <a:bodyPr wrap="square" lIns="27432" tIns="18288" rIns="27432" bIns="18288" rtlCol="0" anchor="ctr">
            <a:normAutofit/>
          </a:bodyPr>
          <a:lstStyle/>
          <a:p>
            <a:pPr marL="0" indent="0" algn="ctr">
              <a:spcBef>
                <a:spcPts val="0"/>
              </a:spcBef>
              <a:spcAft>
                <a:spcPts val="120"/>
              </a:spcAft>
              <a:buNone/>
            </a:pPr>
            <a:r>
              <a:rPr lang="en-US" sz="2800" b="1" dirty="0">
                <a:solidFill>
                  <a:srgbClr val="F6F0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↑</a:t>
            </a:r>
            <a:endParaRPr lang="en-US" sz="2800" dirty="0"/>
          </a:p>
        </p:txBody>
      </p:sp>
      <p:sp>
        <p:nvSpPr>
          <p:cNvPr id="30" name="Text 26"/>
          <p:cNvSpPr/>
          <p:nvPr/>
        </p:nvSpPr>
        <p:spPr>
          <a:xfrm>
            <a:off x="6537960" y="4572000"/>
            <a:ext cx="1691640" cy="347472"/>
          </a:xfrm>
          <a:prstGeom prst="rect">
            <a:avLst/>
          </a:prstGeom>
          <a:noFill/>
          <a:ln/>
        </p:spPr>
        <p:txBody>
          <a:bodyPr wrap="square" lIns="27432" tIns="18288" rIns="27432" bIns="18288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120"/>
              </a:spcAft>
              <a:buNone/>
            </a:pPr>
            <a:r>
              <a:rPr lang="en-US" sz="1600" b="1" dirty="0">
                <a:solidFill>
                  <a:srgbClr val="F6F0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Response</a:t>
            </a:r>
            <a:endParaRPr lang="en-US" sz="1600" dirty="0"/>
          </a:p>
          <a:p>
            <a:pPr marL="0" indent="0" algn="l">
              <a:spcBef>
                <a:spcPts val="0"/>
              </a:spcBef>
              <a:spcAft>
                <a:spcPts val="120"/>
              </a:spcAft>
              <a:buNone/>
            </a:pPr>
            <a:r>
              <a:rPr lang="en-US" sz="1600" b="1" dirty="0">
                <a:solidFill>
                  <a:srgbClr val="F6F0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Consistency</a:t>
            </a:r>
            <a:endParaRPr lang="en-US" sz="1600" dirty="0"/>
          </a:p>
        </p:txBody>
      </p:sp>
      <p:sp>
        <p:nvSpPr>
          <p:cNvPr id="31" name="Text 27"/>
          <p:cNvSpPr/>
          <p:nvPr/>
        </p:nvSpPr>
        <p:spPr>
          <a:xfrm>
            <a:off x="8732520" y="4526280"/>
            <a:ext cx="256032" cy="411480"/>
          </a:xfrm>
          <a:prstGeom prst="rect">
            <a:avLst/>
          </a:prstGeom>
          <a:noFill/>
          <a:ln/>
        </p:spPr>
        <p:txBody>
          <a:bodyPr wrap="square" lIns="27432" tIns="18288" rIns="27432" bIns="18288" rtlCol="0" anchor="ctr">
            <a:normAutofit/>
          </a:bodyPr>
          <a:lstStyle/>
          <a:p>
            <a:pPr marL="0" indent="0" algn="ctr">
              <a:spcBef>
                <a:spcPts val="0"/>
              </a:spcBef>
              <a:spcAft>
                <a:spcPts val="120"/>
              </a:spcAft>
              <a:buNone/>
            </a:pPr>
            <a:r>
              <a:rPr lang="en-US" sz="2800" b="1" dirty="0">
                <a:solidFill>
                  <a:srgbClr val="F6F0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↑</a:t>
            </a:r>
            <a:endParaRPr lang="en-US" sz="2800" dirty="0"/>
          </a:p>
        </p:txBody>
      </p:sp>
      <p:sp>
        <p:nvSpPr>
          <p:cNvPr id="32" name="Text 28"/>
          <p:cNvSpPr/>
          <p:nvPr/>
        </p:nvSpPr>
        <p:spPr>
          <a:xfrm>
            <a:off x="9144000" y="4572000"/>
            <a:ext cx="1691640" cy="347472"/>
          </a:xfrm>
          <a:prstGeom prst="rect">
            <a:avLst/>
          </a:prstGeom>
          <a:noFill/>
          <a:ln/>
        </p:spPr>
        <p:txBody>
          <a:bodyPr wrap="square" lIns="27432" tIns="18288" rIns="27432" bIns="18288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120"/>
              </a:spcAft>
              <a:buNone/>
            </a:pPr>
            <a:r>
              <a:rPr lang="en-US" sz="1600" b="1" dirty="0">
                <a:solidFill>
                  <a:srgbClr val="F6F0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Explainability</a:t>
            </a:r>
            <a:endParaRPr lang="en-US" sz="1600" dirty="0"/>
          </a:p>
        </p:txBody>
      </p:sp>
      <p:sp>
        <p:nvSpPr>
          <p:cNvPr id="33" name="Shape 29"/>
          <p:cNvSpPr/>
          <p:nvPr/>
        </p:nvSpPr>
        <p:spPr>
          <a:xfrm>
            <a:off x="685800" y="5596128"/>
            <a:ext cx="10835640" cy="548640"/>
          </a:xfrm>
          <a:prstGeom prst="roundRect">
            <a:avLst>
              <a:gd name="adj" fmla="val 20000"/>
            </a:avLst>
          </a:prstGeom>
          <a:solidFill>
            <a:srgbClr val="FBF8E8"/>
          </a:solidFill>
          <a:ln w="15240">
            <a:solidFill>
              <a:srgbClr val="CBDABF"/>
            </a:solidFill>
            <a:prstDash val="solid"/>
          </a:ln>
        </p:spPr>
        <p:txBody>
          <a:bodyPr lIns="27432" tIns="18288" rIns="27432" bIns="18288"/>
          <a:lstStyle/>
          <a:p>
            <a:pPr>
              <a:spcBef>
                <a:spcPts val="0"/>
              </a:spcBef>
              <a:spcAft>
                <a:spcPts val="120"/>
              </a:spcAft>
            </a:pPr>
            <a:endParaRPr/>
          </a:p>
        </p:txBody>
      </p:sp>
      <p:sp>
        <p:nvSpPr>
          <p:cNvPr id="34" name="Text 30"/>
          <p:cNvSpPr/>
          <p:nvPr/>
        </p:nvSpPr>
        <p:spPr>
          <a:xfrm>
            <a:off x="1115568" y="5742432"/>
            <a:ext cx="9875520" cy="219456"/>
          </a:xfrm>
          <a:prstGeom prst="rect">
            <a:avLst/>
          </a:prstGeom>
          <a:noFill/>
          <a:ln/>
        </p:spPr>
        <p:txBody>
          <a:bodyPr wrap="square" lIns="27432" tIns="18288" rIns="27432" bIns="18288" rtlCol="0" anchor="ctr">
            <a:normAutofit/>
          </a:bodyPr>
          <a:lstStyle/>
          <a:p>
            <a:pPr marL="0" indent="0" algn="ctr">
              <a:spcBef>
                <a:spcPts val="0"/>
              </a:spcBef>
              <a:spcAft>
                <a:spcPts val="120"/>
              </a:spcAft>
              <a:buNone/>
            </a:pPr>
            <a:r>
              <a:rPr lang="en-US" sz="1700" b="1" dirty="0">
                <a:solidFill>
                  <a:srgbClr val="2F49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Privacy-by-design + deterministic investigation + human escalation</a:t>
            </a:r>
            <a:endParaRPr lang="en-US" sz="1700" dirty="0"/>
          </a:p>
        </p:txBody>
      </p:sp>
      <p:sp>
        <p:nvSpPr>
          <p:cNvPr id="35" name="Text 31"/>
          <p:cNvSpPr/>
          <p:nvPr/>
        </p:nvSpPr>
        <p:spPr>
          <a:xfrm>
            <a:off x="347472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27432" tIns="18288" rIns="27432" bIns="18288" rtlCol="0" anchor="ctr">
            <a:normAutofit/>
          </a:bodyPr>
          <a:lstStyle/>
          <a:p>
            <a:pPr marL="0" indent="0">
              <a:spcBef>
                <a:spcPts val="0"/>
              </a:spcBef>
              <a:spcAft>
                <a:spcPts val="120"/>
              </a:spcAft>
              <a:buNone/>
            </a:pPr>
            <a:r>
              <a:rPr lang="en-US" sz="700" b="1" dirty="0">
                <a:solidFill>
                  <a:srgbClr val="2F49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MONEYMATCH.AI</a:t>
            </a:r>
            <a:endParaRPr lang="en-US" sz="700" dirty="0"/>
          </a:p>
        </p:txBody>
      </p:sp>
      <p:sp>
        <p:nvSpPr>
          <p:cNvPr id="36" name="Text 32"/>
          <p:cNvSpPr/>
          <p:nvPr/>
        </p:nvSpPr>
        <p:spPr>
          <a:xfrm>
            <a:off x="9144000" y="6473952"/>
            <a:ext cx="2560320" cy="228600"/>
          </a:xfrm>
          <a:prstGeom prst="rect">
            <a:avLst/>
          </a:prstGeom>
          <a:noFill/>
          <a:ln/>
        </p:spPr>
        <p:txBody>
          <a:bodyPr wrap="square" lIns="27432" tIns="18288" rIns="27432" bIns="18288" rtlCol="0" anchor="ctr">
            <a:normAutofit/>
          </a:bodyPr>
          <a:lstStyle/>
          <a:p>
            <a:pPr marL="0" indent="0">
              <a:spcBef>
                <a:spcPts val="0"/>
              </a:spcBef>
              <a:spcAft>
                <a:spcPts val="120"/>
              </a:spcAft>
              <a:buNone/>
            </a:pPr>
            <a:r>
              <a:rPr lang="en-US" sz="700" b="1" dirty="0">
                <a:solidFill>
                  <a:srgbClr val="2F49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Trace. Diagnose. Explain. Resolve.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ED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>
            <a:alphaModFix amt="90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35240" y="-73152"/>
            <a:ext cx="4754880" cy="25146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>
            <a:alphaModFix amt="82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-685800" y="4983480"/>
            <a:ext cx="4297680" cy="224028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320040"/>
            <a:ext cx="6949440" cy="914400"/>
          </a:xfrm>
          <a:prstGeom prst="rect">
            <a:avLst/>
          </a:prstGeom>
          <a:noFill/>
          <a:ln/>
        </p:spPr>
        <p:txBody>
          <a:bodyPr wrap="square" lIns="27432" tIns="18288" rIns="27432" bIns="18288" rtlCol="0" anchor="ctr">
            <a:normAutofit/>
          </a:bodyPr>
          <a:lstStyle/>
          <a:p>
            <a:pPr marL="0" indent="0">
              <a:spcBef>
                <a:spcPts val="0"/>
              </a:spcBef>
              <a:spcAft>
                <a:spcPts val="120"/>
              </a:spcAft>
              <a:buNone/>
            </a:pPr>
            <a:r>
              <a:rPr lang="en-US" sz="3200" b="1" dirty="0">
                <a:solidFill>
                  <a:srgbClr val="2F492A"/>
                </a:solidFill>
                <a:latin typeface="Cooper Black" pitchFamily="34" charset="0"/>
                <a:ea typeface="Cooper Black" pitchFamily="34" charset="-122"/>
                <a:cs typeface="Cooper Black" pitchFamily="34" charset="-120"/>
              </a:rPr>
              <a:t>From manual reconciliation</a:t>
            </a:r>
            <a:endParaRPr lang="en-US" sz="3200" dirty="0"/>
          </a:p>
          <a:p>
            <a:pPr marL="0" indent="0">
              <a:spcBef>
                <a:spcPts val="0"/>
              </a:spcBef>
              <a:spcAft>
                <a:spcPts val="120"/>
              </a:spcAft>
              <a:buNone/>
            </a:pPr>
            <a:r>
              <a:rPr lang="en-US" sz="3200" b="1" dirty="0">
                <a:solidFill>
                  <a:srgbClr val="2F492A"/>
                </a:solidFill>
                <a:latin typeface="Cooper Black" pitchFamily="34" charset="0"/>
                <a:ea typeface="Cooper Black" pitchFamily="34" charset="-122"/>
                <a:cs typeface="Cooper Black" pitchFamily="34" charset="-120"/>
              </a:rPr>
              <a:t>to intelligent investigation.</a:t>
            </a:r>
            <a:endParaRPr lang="en-US" sz="3200" dirty="0"/>
          </a:p>
        </p:txBody>
      </p:sp>
      <p:sp>
        <p:nvSpPr>
          <p:cNvPr id="5" name="Shape 1"/>
          <p:cNvSpPr/>
          <p:nvPr/>
        </p:nvSpPr>
        <p:spPr>
          <a:xfrm>
            <a:off x="502920" y="1874520"/>
            <a:ext cx="2148840" cy="2788920"/>
          </a:xfrm>
          <a:prstGeom prst="roundRect">
            <a:avLst>
              <a:gd name="adj" fmla="val 5106"/>
            </a:avLst>
          </a:prstGeom>
          <a:solidFill>
            <a:srgbClr val="FBF8E8"/>
          </a:solidFill>
          <a:ln w="15240">
            <a:solidFill>
              <a:srgbClr val="CBDABF"/>
            </a:solidFill>
            <a:prstDash val="solid"/>
          </a:ln>
        </p:spPr>
        <p:txBody>
          <a:bodyPr lIns="27432" tIns="18288" rIns="27432" bIns="18288"/>
          <a:lstStyle/>
          <a:p>
            <a:pPr>
              <a:spcBef>
                <a:spcPts val="0"/>
              </a:spcBef>
              <a:spcAft>
                <a:spcPts val="120"/>
              </a:spcAft>
            </a:pPr>
            <a:endParaRPr/>
          </a:p>
        </p:txBody>
      </p:sp>
      <p:sp>
        <p:nvSpPr>
          <p:cNvPr id="6" name="Text 2"/>
          <p:cNvSpPr/>
          <p:nvPr/>
        </p:nvSpPr>
        <p:spPr>
          <a:xfrm>
            <a:off x="804672" y="2148840"/>
            <a:ext cx="1097280" cy="228600"/>
          </a:xfrm>
          <a:prstGeom prst="rect">
            <a:avLst/>
          </a:prstGeom>
          <a:noFill/>
          <a:ln/>
        </p:spPr>
        <p:txBody>
          <a:bodyPr wrap="square" lIns="27432" tIns="18288" rIns="27432" bIns="18288" rtlCol="0" anchor="ctr">
            <a:normAutofit/>
          </a:bodyPr>
          <a:lstStyle/>
          <a:p>
            <a:pPr marL="0" indent="0">
              <a:spcBef>
                <a:spcPts val="0"/>
              </a:spcBef>
              <a:spcAft>
                <a:spcPts val="120"/>
              </a:spcAft>
              <a:buNone/>
            </a:pPr>
            <a:r>
              <a:rPr lang="en-US" sz="1200" b="1" dirty="0">
                <a:solidFill>
                  <a:srgbClr val="2F49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TODAY</a:t>
            </a:r>
            <a:endParaRPr lang="en-US" sz="1200" dirty="0"/>
          </a:p>
        </p:txBody>
      </p:sp>
      <p:sp>
        <p:nvSpPr>
          <p:cNvPr id="7" name="Shape 3"/>
          <p:cNvSpPr/>
          <p:nvPr/>
        </p:nvSpPr>
        <p:spPr>
          <a:xfrm>
            <a:off x="804672" y="2542032"/>
            <a:ext cx="1463040" cy="0"/>
          </a:xfrm>
          <a:prstGeom prst="line">
            <a:avLst/>
          </a:prstGeom>
          <a:noFill/>
          <a:ln w="16510">
            <a:solidFill>
              <a:srgbClr val="CBDABF"/>
            </a:solidFill>
            <a:prstDash val="solid"/>
          </a:ln>
        </p:spPr>
        <p:txBody>
          <a:bodyPr lIns="27432" tIns="18288" rIns="27432" bIns="18288"/>
          <a:lstStyle/>
          <a:p>
            <a:pPr>
              <a:spcBef>
                <a:spcPts val="0"/>
              </a:spcBef>
              <a:spcAft>
                <a:spcPts val="120"/>
              </a:spcAft>
            </a:pPr>
            <a:endParaRPr/>
          </a:p>
        </p:txBody>
      </p:sp>
      <p:sp>
        <p:nvSpPr>
          <p:cNvPr id="8" name="Text 4"/>
          <p:cNvSpPr/>
          <p:nvPr/>
        </p:nvSpPr>
        <p:spPr>
          <a:xfrm>
            <a:off x="822960" y="2788920"/>
            <a:ext cx="1508760" cy="1417320"/>
          </a:xfrm>
          <a:prstGeom prst="rect">
            <a:avLst/>
          </a:prstGeom>
          <a:noFill/>
          <a:ln/>
        </p:spPr>
        <p:txBody>
          <a:bodyPr wrap="square" lIns="27432" tIns="18288" rIns="27432" bIns="18288" rtlCol="0" anchor="t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120"/>
              </a:spcAft>
              <a:buNone/>
            </a:pPr>
            <a:r>
              <a:rPr lang="en-US" sz="850" b="1" dirty="0">
                <a:solidFill>
                  <a:srgbClr val="253B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Transaction tracing</a:t>
            </a:r>
            <a:endParaRPr lang="en-US" sz="850" dirty="0"/>
          </a:p>
          <a:p>
            <a:pPr marL="0" indent="0" algn="l">
              <a:spcBef>
                <a:spcPts val="0"/>
              </a:spcBef>
              <a:spcAft>
                <a:spcPts val="120"/>
              </a:spcAft>
              <a:buNone/>
            </a:pPr>
            <a:endParaRPr lang="en-US" sz="850" dirty="0"/>
          </a:p>
          <a:p>
            <a:pPr marL="0" indent="0" algn="l">
              <a:spcBef>
                <a:spcPts val="0"/>
              </a:spcBef>
              <a:spcAft>
                <a:spcPts val="120"/>
              </a:spcAft>
              <a:buNone/>
            </a:pPr>
            <a:r>
              <a:rPr lang="en-US" sz="850" b="1" dirty="0">
                <a:solidFill>
                  <a:srgbClr val="253B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Root-caused detection</a:t>
            </a:r>
            <a:endParaRPr lang="en-US" sz="850" dirty="0"/>
          </a:p>
          <a:p>
            <a:pPr marL="0" indent="0" algn="l">
              <a:spcBef>
                <a:spcPts val="0"/>
              </a:spcBef>
              <a:spcAft>
                <a:spcPts val="120"/>
              </a:spcAft>
              <a:buNone/>
            </a:pPr>
            <a:endParaRPr lang="en-US" sz="850" dirty="0"/>
          </a:p>
          <a:p>
            <a:pPr marL="0" indent="0" algn="l">
              <a:spcBef>
                <a:spcPts val="0"/>
              </a:spcBef>
              <a:spcAft>
                <a:spcPts val="120"/>
              </a:spcAft>
              <a:buNone/>
            </a:pPr>
            <a:r>
              <a:rPr lang="en-US" sz="850" b="1" dirty="0">
                <a:solidFill>
                  <a:srgbClr val="253B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explanations</a:t>
            </a:r>
            <a:endParaRPr lang="en-US" sz="850" dirty="0"/>
          </a:p>
          <a:p>
            <a:pPr marL="0" indent="0" algn="l">
              <a:spcBef>
                <a:spcPts val="0"/>
              </a:spcBef>
              <a:spcAft>
                <a:spcPts val="120"/>
              </a:spcAft>
              <a:buNone/>
            </a:pPr>
            <a:endParaRPr lang="en-US" sz="850" dirty="0"/>
          </a:p>
          <a:p>
            <a:pPr marL="0" indent="0" algn="l">
              <a:spcBef>
                <a:spcPts val="0"/>
              </a:spcBef>
              <a:spcAft>
                <a:spcPts val="120"/>
              </a:spcAft>
              <a:buNone/>
            </a:pPr>
            <a:r>
              <a:rPr lang="en-US" sz="850" b="1" dirty="0">
                <a:solidFill>
                  <a:srgbClr val="253B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Support Q&amp;A</a:t>
            </a:r>
            <a:endParaRPr lang="en-US" sz="850" dirty="0"/>
          </a:p>
          <a:p>
            <a:pPr marL="0" indent="0" algn="l">
              <a:spcBef>
                <a:spcPts val="0"/>
              </a:spcBef>
              <a:spcAft>
                <a:spcPts val="120"/>
              </a:spcAft>
              <a:buNone/>
            </a:pPr>
            <a:endParaRPr lang="en-US" sz="850" dirty="0"/>
          </a:p>
          <a:p>
            <a:pPr marL="0" indent="0" algn="l">
              <a:spcBef>
                <a:spcPts val="0"/>
              </a:spcBef>
              <a:spcAft>
                <a:spcPts val="120"/>
              </a:spcAft>
              <a:buNone/>
            </a:pPr>
            <a:r>
              <a:rPr lang="en-US" sz="850" b="1" dirty="0">
                <a:solidFill>
                  <a:srgbClr val="253B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Exception handling</a:t>
            </a:r>
            <a:endParaRPr lang="en-US" sz="850" dirty="0"/>
          </a:p>
        </p:txBody>
      </p:sp>
      <p:sp>
        <p:nvSpPr>
          <p:cNvPr id="9" name="Shape 5"/>
          <p:cNvSpPr/>
          <p:nvPr/>
        </p:nvSpPr>
        <p:spPr>
          <a:xfrm>
            <a:off x="2971800" y="3154680"/>
            <a:ext cx="429768" cy="0"/>
          </a:xfrm>
          <a:prstGeom prst="line">
            <a:avLst/>
          </a:prstGeom>
          <a:noFill/>
          <a:ln w="25400">
            <a:solidFill>
              <a:srgbClr val="6E8F5D"/>
            </a:solidFill>
            <a:prstDash val="solid"/>
            <a:headEnd type="none"/>
            <a:tailEnd type="triangle"/>
          </a:ln>
        </p:spPr>
        <p:txBody>
          <a:bodyPr lIns="27432" tIns="18288" rIns="27432" bIns="18288"/>
          <a:lstStyle/>
          <a:p>
            <a:pPr>
              <a:spcBef>
                <a:spcPts val="0"/>
              </a:spcBef>
              <a:spcAft>
                <a:spcPts val="120"/>
              </a:spcAft>
            </a:pPr>
            <a:endParaRPr/>
          </a:p>
        </p:txBody>
      </p:sp>
      <p:sp>
        <p:nvSpPr>
          <p:cNvPr id="10" name="Shape 6"/>
          <p:cNvSpPr/>
          <p:nvPr/>
        </p:nvSpPr>
        <p:spPr>
          <a:xfrm>
            <a:off x="3703320" y="1874520"/>
            <a:ext cx="2148840" cy="2788920"/>
          </a:xfrm>
          <a:prstGeom prst="roundRect">
            <a:avLst>
              <a:gd name="adj" fmla="val 5106"/>
            </a:avLst>
          </a:prstGeom>
          <a:solidFill>
            <a:srgbClr val="FBF8E8"/>
          </a:solidFill>
          <a:ln w="15240">
            <a:solidFill>
              <a:srgbClr val="CBDABF"/>
            </a:solidFill>
            <a:prstDash val="solid"/>
          </a:ln>
        </p:spPr>
        <p:txBody>
          <a:bodyPr lIns="27432" tIns="18288" rIns="27432" bIns="18288"/>
          <a:lstStyle/>
          <a:p>
            <a:pPr>
              <a:spcBef>
                <a:spcPts val="0"/>
              </a:spcBef>
              <a:spcAft>
                <a:spcPts val="120"/>
              </a:spcAft>
            </a:pPr>
            <a:endParaRPr/>
          </a:p>
        </p:txBody>
      </p:sp>
      <p:sp>
        <p:nvSpPr>
          <p:cNvPr id="11" name="Text 7"/>
          <p:cNvSpPr/>
          <p:nvPr/>
        </p:nvSpPr>
        <p:spPr>
          <a:xfrm>
            <a:off x="4005072" y="2148840"/>
            <a:ext cx="1097280" cy="228600"/>
          </a:xfrm>
          <a:prstGeom prst="rect">
            <a:avLst/>
          </a:prstGeom>
          <a:noFill/>
          <a:ln/>
        </p:spPr>
        <p:txBody>
          <a:bodyPr wrap="square" lIns="27432" tIns="18288" rIns="27432" bIns="18288" rtlCol="0" anchor="ctr">
            <a:normAutofit/>
          </a:bodyPr>
          <a:lstStyle/>
          <a:p>
            <a:pPr marL="0" indent="0">
              <a:spcBef>
                <a:spcPts val="0"/>
              </a:spcBef>
              <a:spcAft>
                <a:spcPts val="120"/>
              </a:spcAft>
              <a:buNone/>
            </a:pPr>
            <a:r>
              <a:rPr lang="en-US" sz="1200" b="1" dirty="0">
                <a:solidFill>
                  <a:srgbClr val="2F49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FUTURE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4005072" y="2542032"/>
            <a:ext cx="1463040" cy="0"/>
          </a:xfrm>
          <a:prstGeom prst="line">
            <a:avLst/>
          </a:prstGeom>
          <a:noFill/>
          <a:ln w="16510">
            <a:solidFill>
              <a:srgbClr val="CBDABF"/>
            </a:solidFill>
            <a:prstDash val="solid"/>
          </a:ln>
        </p:spPr>
        <p:txBody>
          <a:bodyPr lIns="27432" tIns="18288" rIns="27432" bIns="18288"/>
          <a:lstStyle/>
          <a:p>
            <a:pPr>
              <a:spcBef>
                <a:spcPts val="0"/>
              </a:spcBef>
              <a:spcAft>
                <a:spcPts val="120"/>
              </a:spcAft>
            </a:pPr>
            <a:endParaRPr/>
          </a:p>
        </p:txBody>
      </p:sp>
      <p:sp>
        <p:nvSpPr>
          <p:cNvPr id="13" name="Text 9"/>
          <p:cNvSpPr/>
          <p:nvPr/>
        </p:nvSpPr>
        <p:spPr>
          <a:xfrm>
            <a:off x="4023360" y="2788920"/>
            <a:ext cx="1554480" cy="1417320"/>
          </a:xfrm>
          <a:prstGeom prst="rect">
            <a:avLst/>
          </a:prstGeom>
          <a:noFill/>
          <a:ln/>
        </p:spPr>
        <p:txBody>
          <a:bodyPr wrap="square" lIns="27432" tIns="18288" rIns="27432" bIns="18288" rtlCol="0" anchor="t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120"/>
              </a:spcAft>
              <a:buNone/>
            </a:pPr>
            <a:r>
              <a:rPr lang="en-US" sz="850" b="1" dirty="0">
                <a:solidFill>
                  <a:srgbClr val="253B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Real-time payment providers</a:t>
            </a:r>
            <a:endParaRPr lang="en-US" sz="850" dirty="0"/>
          </a:p>
          <a:p>
            <a:pPr marL="0" indent="0" algn="l">
              <a:spcBef>
                <a:spcPts val="0"/>
              </a:spcBef>
              <a:spcAft>
                <a:spcPts val="120"/>
              </a:spcAft>
              <a:buNone/>
            </a:pPr>
            <a:endParaRPr lang="en-US" sz="850" dirty="0"/>
          </a:p>
          <a:p>
            <a:pPr marL="0" indent="0" algn="l">
              <a:spcBef>
                <a:spcPts val="0"/>
              </a:spcBef>
              <a:spcAft>
                <a:spcPts val="120"/>
              </a:spcAft>
              <a:buNone/>
            </a:pPr>
            <a:r>
              <a:rPr lang="en-US" sz="850" b="1" dirty="0">
                <a:solidFill>
                  <a:srgbClr val="253B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Real-time settlement monitoring</a:t>
            </a:r>
            <a:endParaRPr lang="en-US" sz="850" dirty="0"/>
          </a:p>
          <a:p>
            <a:pPr marL="0" indent="0" algn="l">
              <a:spcBef>
                <a:spcPts val="0"/>
              </a:spcBef>
              <a:spcAft>
                <a:spcPts val="120"/>
              </a:spcAft>
              <a:buNone/>
            </a:pPr>
            <a:endParaRPr lang="en-US" sz="850" dirty="0"/>
          </a:p>
          <a:p>
            <a:pPr marL="0" indent="0" algn="l">
              <a:spcBef>
                <a:spcPts val="0"/>
              </a:spcBef>
              <a:spcAft>
                <a:spcPts val="120"/>
              </a:spcAft>
              <a:buNone/>
            </a:pPr>
            <a:r>
              <a:rPr lang="en-US" sz="850" b="1" dirty="0">
                <a:solidFill>
                  <a:srgbClr val="253B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Proactive alerts</a:t>
            </a:r>
            <a:endParaRPr lang="en-US" sz="850" dirty="0"/>
          </a:p>
          <a:p>
            <a:pPr marL="0" indent="0" algn="l">
              <a:spcBef>
                <a:spcPts val="0"/>
              </a:spcBef>
              <a:spcAft>
                <a:spcPts val="120"/>
              </a:spcAft>
              <a:buNone/>
            </a:pPr>
            <a:endParaRPr lang="en-US" sz="850" dirty="0"/>
          </a:p>
          <a:p>
            <a:pPr marL="0" indent="0" algn="l">
              <a:spcBef>
                <a:spcPts val="0"/>
              </a:spcBef>
              <a:spcAft>
                <a:spcPts val="120"/>
              </a:spcAft>
              <a:buNone/>
            </a:pPr>
            <a:r>
              <a:rPr lang="en-US" sz="850" b="1" dirty="0">
                <a:solidFill>
                  <a:srgbClr val="253B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Anomaly detection</a:t>
            </a:r>
            <a:endParaRPr lang="en-US" sz="850" dirty="0"/>
          </a:p>
          <a:p>
            <a:pPr marL="0" indent="0" algn="l">
              <a:spcBef>
                <a:spcPts val="0"/>
              </a:spcBef>
              <a:spcAft>
                <a:spcPts val="120"/>
              </a:spcAft>
              <a:buNone/>
            </a:pPr>
            <a:endParaRPr lang="en-US" sz="850" dirty="0"/>
          </a:p>
          <a:p>
            <a:pPr marL="0" indent="0" algn="l">
              <a:spcBef>
                <a:spcPts val="0"/>
              </a:spcBef>
              <a:spcAft>
                <a:spcPts val="120"/>
              </a:spcAft>
              <a:buNone/>
            </a:pPr>
            <a:r>
              <a:rPr lang="en-US" sz="850" b="1" dirty="0">
                <a:solidFill>
                  <a:srgbClr val="253B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Automatic support tickets</a:t>
            </a:r>
            <a:endParaRPr lang="en-US" sz="850" dirty="0"/>
          </a:p>
        </p:txBody>
      </p:sp>
      <p:sp>
        <p:nvSpPr>
          <p:cNvPr id="14" name="Shape 10"/>
          <p:cNvSpPr/>
          <p:nvPr/>
        </p:nvSpPr>
        <p:spPr>
          <a:xfrm>
            <a:off x="6537960" y="1508760"/>
            <a:ext cx="4892040" cy="3611880"/>
          </a:xfrm>
          <a:prstGeom prst="roundRect">
            <a:avLst>
              <a:gd name="adj" fmla="val 3038"/>
            </a:avLst>
          </a:prstGeom>
          <a:solidFill>
            <a:srgbClr val="3D5734"/>
          </a:solidFill>
          <a:ln w="12700">
            <a:solidFill>
              <a:srgbClr val="F2EDD2"/>
            </a:solidFill>
            <a:prstDash val="solid"/>
          </a:ln>
        </p:spPr>
        <p:txBody>
          <a:bodyPr lIns="27432" tIns="18288" rIns="27432" bIns="18288"/>
          <a:lstStyle/>
          <a:p>
            <a:pPr>
              <a:spcBef>
                <a:spcPts val="0"/>
              </a:spcBef>
              <a:spcAft>
                <a:spcPts val="120"/>
              </a:spcAft>
            </a:pPr>
            <a:endParaRPr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>
            <a:alphaModFix amt="96000"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229600" y="1938528"/>
            <a:ext cx="1325880" cy="86868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909560" y="2743200"/>
            <a:ext cx="2011680" cy="594360"/>
          </a:xfrm>
          <a:prstGeom prst="rect">
            <a:avLst/>
          </a:prstGeom>
          <a:noFill/>
          <a:ln/>
        </p:spPr>
        <p:txBody>
          <a:bodyPr wrap="square" lIns="27432" tIns="18288" rIns="27432" bIns="18288" rtlCol="0" anchor="ctr">
            <a:normAutofit/>
          </a:bodyPr>
          <a:lstStyle/>
          <a:p>
            <a:pPr marL="0" indent="0" algn="ctr">
              <a:spcBef>
                <a:spcPts val="0"/>
              </a:spcBef>
              <a:spcAft>
                <a:spcPts val="120"/>
              </a:spcAft>
              <a:buNone/>
            </a:pPr>
            <a:r>
              <a:rPr lang="en-US" sz="2500" b="1" dirty="0">
                <a:solidFill>
                  <a:srgbClr val="F6F0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moneymatch</a:t>
            </a:r>
            <a:endParaRPr lang="en-US" sz="2500" dirty="0"/>
          </a:p>
          <a:p>
            <a:pPr marL="0" indent="0" algn="ctr">
              <a:spcBef>
                <a:spcPts val="0"/>
              </a:spcBef>
              <a:spcAft>
                <a:spcPts val="120"/>
              </a:spcAft>
              <a:buNone/>
            </a:pPr>
            <a:r>
              <a:rPr lang="en-US" sz="2500" b="1" dirty="0">
                <a:solidFill>
                  <a:srgbClr val="F6F0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.ai</a:t>
            </a:r>
            <a:endParaRPr lang="en-US" sz="2500" dirty="0"/>
          </a:p>
        </p:txBody>
      </p:sp>
      <p:sp>
        <p:nvSpPr>
          <p:cNvPr id="17" name="Text 12"/>
          <p:cNvSpPr/>
          <p:nvPr/>
        </p:nvSpPr>
        <p:spPr>
          <a:xfrm>
            <a:off x="7360920" y="3730752"/>
            <a:ext cx="2971800" cy="914400"/>
          </a:xfrm>
          <a:prstGeom prst="rect">
            <a:avLst/>
          </a:prstGeom>
          <a:noFill/>
          <a:ln/>
        </p:spPr>
        <p:txBody>
          <a:bodyPr wrap="square" lIns="27432" tIns="18288" rIns="27432" bIns="18288" rtlCol="0" anchor="ctr">
            <a:normAutofit/>
          </a:bodyPr>
          <a:lstStyle/>
          <a:p>
            <a:pPr marL="0" indent="0">
              <a:spcBef>
                <a:spcPts val="0"/>
              </a:spcBef>
              <a:spcAft>
                <a:spcPts val="120"/>
              </a:spcAft>
              <a:buNone/>
            </a:pPr>
            <a:r>
              <a:rPr lang="en-US" sz="2000" b="1" dirty="0">
                <a:solidFill>
                  <a:srgbClr val="F6F0D7"/>
                </a:solidFill>
                <a:latin typeface="Cooper Black" pitchFamily="34" charset="0"/>
                <a:ea typeface="Cooper Black" pitchFamily="34" charset="-122"/>
                <a:cs typeface="Cooper Black" pitchFamily="34" charset="-120"/>
              </a:rPr>
              <a:t>One transaction ID.</a:t>
            </a:r>
            <a:endParaRPr lang="en-US" sz="2000" dirty="0"/>
          </a:p>
          <a:p>
            <a:pPr marL="0" indent="0">
              <a:spcBef>
                <a:spcPts val="0"/>
              </a:spcBef>
              <a:spcAft>
                <a:spcPts val="120"/>
              </a:spcAft>
              <a:buNone/>
            </a:pPr>
            <a:r>
              <a:rPr lang="en-US" sz="2000" b="1" dirty="0">
                <a:solidFill>
                  <a:srgbClr val="F6F0D7"/>
                </a:solidFill>
                <a:latin typeface="Cooper Black" pitchFamily="34" charset="0"/>
                <a:ea typeface="Cooper Black" pitchFamily="34" charset="-122"/>
                <a:cs typeface="Cooper Black" pitchFamily="34" charset="-120"/>
              </a:rPr>
              <a:t>Three systems.</a:t>
            </a:r>
            <a:endParaRPr lang="en-US" sz="2000" dirty="0"/>
          </a:p>
          <a:p>
            <a:pPr marL="0" indent="0">
              <a:spcBef>
                <a:spcPts val="0"/>
              </a:spcBef>
              <a:spcAft>
                <a:spcPts val="120"/>
              </a:spcAft>
              <a:buNone/>
            </a:pPr>
            <a:r>
              <a:rPr lang="en-US" sz="2000" b="1" dirty="0">
                <a:solidFill>
                  <a:srgbClr val="F6F0D7"/>
                </a:solidFill>
                <a:latin typeface="Cooper Black" pitchFamily="34" charset="0"/>
                <a:ea typeface="Cooper Black" pitchFamily="34" charset="-122"/>
                <a:cs typeface="Cooper Black" pitchFamily="34" charset="-120"/>
              </a:rPr>
              <a:t>One intelligent explanation.</a:t>
            </a:r>
            <a:endParaRPr lang="en-US" sz="2000" dirty="0"/>
          </a:p>
        </p:txBody>
      </p:sp>
      <p:sp>
        <p:nvSpPr>
          <p:cNvPr id="18" name="Shape 13"/>
          <p:cNvSpPr/>
          <p:nvPr/>
        </p:nvSpPr>
        <p:spPr>
          <a:xfrm>
            <a:off x="502920" y="5623560"/>
            <a:ext cx="10972800" cy="640080"/>
          </a:xfrm>
          <a:prstGeom prst="roundRect">
            <a:avLst>
              <a:gd name="adj" fmla="val 17143"/>
            </a:avLst>
          </a:prstGeom>
          <a:solidFill>
            <a:srgbClr val="FBF8E8"/>
          </a:solidFill>
          <a:ln w="15240">
            <a:solidFill>
              <a:srgbClr val="CBDABF"/>
            </a:solidFill>
            <a:prstDash val="solid"/>
          </a:ln>
        </p:spPr>
        <p:txBody>
          <a:bodyPr lIns="27432" tIns="18288" rIns="27432" bIns="18288"/>
          <a:lstStyle/>
          <a:p>
            <a:pPr>
              <a:spcBef>
                <a:spcPts val="0"/>
              </a:spcBef>
              <a:spcAft>
                <a:spcPts val="120"/>
              </a:spcAft>
            </a:pPr>
            <a:endParaRPr/>
          </a:p>
        </p:txBody>
      </p:sp>
      <p:sp>
        <p:nvSpPr>
          <p:cNvPr id="19" name="Shape 14"/>
          <p:cNvSpPr/>
          <p:nvPr/>
        </p:nvSpPr>
        <p:spPr>
          <a:xfrm>
            <a:off x="804672" y="5797296"/>
            <a:ext cx="594360" cy="292608"/>
          </a:xfrm>
          <a:prstGeom prst="roundRect">
            <a:avLst>
              <a:gd name="adj" fmla="val 34375"/>
            </a:avLst>
          </a:prstGeom>
          <a:solidFill>
            <a:srgbClr val="5E7F4E"/>
          </a:solidFill>
          <a:ln w="12700">
            <a:solidFill>
              <a:srgbClr val="5E7F4E">
                <a:alpha val="0"/>
              </a:srgbClr>
            </a:solidFill>
            <a:prstDash val="solid"/>
          </a:ln>
        </p:spPr>
        <p:txBody>
          <a:bodyPr lIns="27432" tIns="18288" rIns="27432" bIns="18288"/>
          <a:lstStyle/>
          <a:p>
            <a:pPr>
              <a:spcBef>
                <a:spcPts val="0"/>
              </a:spcBef>
              <a:spcAft>
                <a:spcPts val="120"/>
              </a:spcAft>
            </a:pPr>
            <a:endParaRPr/>
          </a:p>
        </p:txBody>
      </p:sp>
      <p:sp>
        <p:nvSpPr>
          <p:cNvPr id="20" name="Text 15"/>
          <p:cNvSpPr/>
          <p:nvPr/>
        </p:nvSpPr>
        <p:spPr>
          <a:xfrm>
            <a:off x="804672" y="5815584"/>
            <a:ext cx="594360" cy="256032"/>
          </a:xfrm>
          <a:prstGeom prst="rect">
            <a:avLst/>
          </a:prstGeom>
          <a:noFill/>
          <a:ln/>
        </p:spPr>
        <p:txBody>
          <a:bodyPr wrap="square" lIns="27432" tIns="18288" rIns="27432" bIns="18288" rtlCol="0" anchor="ctr">
            <a:normAutofit/>
          </a:bodyPr>
          <a:lstStyle/>
          <a:p>
            <a:pPr marL="0" indent="0" algn="ctr">
              <a:spcBef>
                <a:spcPts val="0"/>
              </a:spcBef>
              <a:spcAft>
                <a:spcPts val="120"/>
              </a:spcAft>
              <a:buNone/>
            </a:pPr>
            <a:r>
              <a:rPr lang="en-US" sz="1000" b="1" dirty="0">
                <a:solidFill>
                  <a:srgbClr val="F6F0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PS-8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600200" y="5769864"/>
            <a:ext cx="1600200" cy="256032"/>
          </a:xfrm>
          <a:prstGeom prst="rect">
            <a:avLst/>
          </a:prstGeom>
          <a:noFill/>
          <a:ln/>
        </p:spPr>
        <p:txBody>
          <a:bodyPr wrap="square" lIns="27432" tIns="18288" rIns="27432" bIns="18288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120"/>
              </a:spcAft>
              <a:buNone/>
            </a:pPr>
            <a:r>
              <a:rPr lang="en-US" sz="1100" b="1" dirty="0">
                <a:solidFill>
                  <a:srgbClr val="253B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moneymatch.ai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5029200" y="5696712"/>
            <a:ext cx="4663440" cy="411480"/>
          </a:xfrm>
          <a:prstGeom prst="rect">
            <a:avLst/>
          </a:prstGeom>
          <a:noFill/>
          <a:ln/>
        </p:spPr>
        <p:txBody>
          <a:bodyPr wrap="square" lIns="27432" tIns="18288" rIns="27432" bIns="18288" rtlCol="0" anchor="ctr">
            <a:normAutofit/>
          </a:bodyPr>
          <a:lstStyle/>
          <a:p>
            <a:pPr marL="0" indent="0" algn="ctr">
              <a:spcBef>
                <a:spcPts val="0"/>
              </a:spcBef>
              <a:spcAft>
                <a:spcPts val="120"/>
              </a:spcAft>
              <a:buNone/>
            </a:pPr>
            <a:r>
              <a:rPr lang="en-US" sz="2100" b="1" dirty="0">
                <a:solidFill>
                  <a:srgbClr val="253B22"/>
                </a:solidFill>
                <a:latin typeface="Cooper Black" pitchFamily="34" charset="0"/>
                <a:ea typeface="Cooper Black" pitchFamily="34" charset="-122"/>
                <a:cs typeface="Cooper Black" pitchFamily="34" charset="-120"/>
              </a:rPr>
              <a:t>Trace. Diagnose. Explain. Resolve.</a:t>
            </a:r>
            <a:endParaRPr lang="en-US" sz="2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ooper Black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ontserrat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656</Words>
  <Application>Microsoft Office PowerPoint</Application>
  <PresentationFormat>Widescreen</PresentationFormat>
  <Paragraphs>290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Cooper Black</vt:lpstr>
      <vt:lpstr>Montserrat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Moneymatch.AI</dc:title>
  <dc:subject>Moneymatch.AI themed presentation</dc:subject>
  <dc:creator>OpenAI</dc:creator>
  <cp:lastModifiedBy>raghav mishra</cp:lastModifiedBy>
  <cp:revision>2</cp:revision>
  <dcterms:created xsi:type="dcterms:W3CDTF">2026-09-05T01:30:09Z</dcterms:created>
  <dcterms:modified xsi:type="dcterms:W3CDTF">2026-09-05T01:43:15Z</dcterms:modified>
</cp:coreProperties>
</file>